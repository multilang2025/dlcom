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Formulaire ES</c:v>
                </c:pt>
              </c:strCache>
            </c:strRef>
          </c:tx>
          <c:spPr>
            <a:solidFill>
              <a:srgbClr val="C9531A"/>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Sheet1!$B$2:$B$10</c:f>
              <c:numCache>
                <c:formatCode>General</c:formatCode>
                <c:ptCount val="9"/>
                <c:pt idx="0">
                  <c:v>5</c:v>
                </c:pt>
                <c:pt idx="1">
                  <c:v>18</c:v>
                </c:pt>
                <c:pt idx="2">
                  <c:v>23</c:v>
                </c:pt>
                <c:pt idx="3">
                  <c:v>35</c:v>
                </c:pt>
                <c:pt idx="4">
                  <c:v>33</c:v>
                </c:pt>
                <c:pt idx="5">
                  <c:v>32</c:v>
                </c:pt>
                <c:pt idx="6">
                  <c:v>42</c:v>
                </c:pt>
                <c:pt idx="7">
                  <c:v>51</c:v>
                </c:pt>
                <c:pt idx="8">
                  <c:v>5</c:v>
                </c:pt>
              </c:numCache>
            </c:numRef>
          </c:val>
        </c:ser>
        <c:ser>
          <c:idx val="1"/>
          <c:order val="1"/>
          <c:tx>
            <c:strRef>
              <c:f>Sheet1!$C$1</c:f>
              <c:strCache>
                <c:ptCount val="1"/>
                <c:pt idx="0">
                  <c:v>Formulaire FR</c:v>
                </c:pt>
              </c:strCache>
            </c:strRef>
          </c:tx>
          <c:spPr>
            <a:solidFill>
              <a:srgbClr val="1F63B5"/>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Sheet1!$C$2:$C$10</c:f>
              <c:numCache>
                <c:formatCode>General</c:formatCode>
                <c:ptCount val="9"/>
                <c:pt idx="0">
                  <c:v>33</c:v>
                </c:pt>
                <c:pt idx="1">
                  <c:v>82</c:v>
                </c:pt>
                <c:pt idx="2">
                  <c:v>71</c:v>
                </c:pt>
                <c:pt idx="3">
                  <c:v>65</c:v>
                </c:pt>
                <c:pt idx="4">
                  <c:v>47</c:v>
                </c:pt>
                <c:pt idx="5">
                  <c:v>69</c:v>
                </c:pt>
                <c:pt idx="6">
                  <c:v>53</c:v>
                </c:pt>
                <c:pt idx="7">
                  <c:v>62</c:v>
                </c:pt>
                <c:pt idx="8">
                  <c:v>2</c:v>
                </c:pt>
              </c:numCache>
            </c:numRef>
          </c:val>
        </c:ser>
        <c:ser>
          <c:idx val="2"/>
          <c:order val="2"/>
          <c:tx>
            <c:strRef>
              <c:f>Sheet1!$D$1</c:f>
              <c:strCache>
                <c:ptCount val="1"/>
                <c:pt idx="0">
                  <c:v>Formulaire EN</c:v>
                </c:pt>
              </c:strCache>
            </c:strRef>
          </c:tx>
          <c:spPr>
            <a:solidFill>
              <a:srgbClr val="0F8A67"/>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Sheet1!$D$2:$D$10</c:f>
              <c:numCache>
                <c:formatCode>General</c:formatCode>
                <c:ptCount val="9"/>
                <c:pt idx="0">
                  <c:v>16</c:v>
                </c:pt>
                <c:pt idx="1">
                  <c:v>47</c:v>
                </c:pt>
                <c:pt idx="2">
                  <c:v>51</c:v>
                </c:pt>
                <c:pt idx="3">
                  <c:v>25</c:v>
                </c:pt>
                <c:pt idx="4">
                  <c:v>21</c:v>
                </c:pt>
                <c:pt idx="5">
                  <c:v>62</c:v>
                </c:pt>
                <c:pt idx="6">
                  <c:v>60</c:v>
                </c:pt>
                <c:pt idx="7">
                  <c:v>89</c:v>
                </c:pt>
                <c:pt idx="8">
                  <c:v>5</c:v>
                </c:pt>
              </c:numCache>
            </c:numRef>
          </c:val>
        </c:ser>
        <c:ser>
          <c:idx val="3"/>
          <c:order val="3"/>
          <c:tx>
            <c:strRef>
              <c:f>Sheet1!$E$1</c:f>
              <c:strCache>
                <c:ptCount val="1"/>
                <c:pt idx="0">
                  <c:v>Formulaire RU</c:v>
                </c:pt>
              </c:strCache>
            </c:strRef>
          </c:tx>
          <c:spPr>
            <a:solidFill>
              <a:srgbClr val="9A4A8C"/>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Sheet1!$E$2:$E$10</c:f>
              <c:numCache>
                <c:formatCode>General</c:formatCode>
                <c:ptCount val="9"/>
                <c:pt idx="0">
                  <c:v>6</c:v>
                </c:pt>
                <c:pt idx="1">
                  <c:v>11</c:v>
                </c:pt>
                <c:pt idx="2">
                  <c:v>9</c:v>
                </c:pt>
                <c:pt idx="3">
                  <c:v>4</c:v>
                </c:pt>
                <c:pt idx="4">
                  <c:v>5</c:v>
                </c:pt>
                <c:pt idx="5">
                  <c:v>10</c:v>
                </c:pt>
                <c:pt idx="6">
                  <c:v>7</c:v>
                </c:pt>
                <c:pt idx="7">
                  <c:v>13</c:v>
                </c:pt>
                <c:pt idx="8">
                  <c:v>0</c:v>
                </c:pt>
              </c:numCache>
            </c:numRef>
          </c:val>
        </c:ser>
        <c:gapWidth val="45"/>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spPr>
            <a:ln>
              <a:solidFill>
                <a:srgbClr val="D7DEE5"/>
              </a:solidFill>
            </a:ln>
          </c:spPr>
        </c:majorGridlines>
        <c:majorTickMark val="out"/>
        <c:minorTickMark val="none"/>
        <c:tickLblPos val="nextTo"/>
        <c:spPr>
          <a:ln>
            <a:noFill/>
          </a:ln>
        </c:spPr>
        <c:crossAx val="-2068027336"/>
        <c:crosses val="autoZero"/>
      </c:valAx>
    </c:plotArea>
    <c:legend>
      <c:legendPos val="b"/>
      <c:overlay val="0"/>
      <c:txPr>
        <a:bodyPr/>
        <a:lstStyle/>
        <a:p>
          <a:pPr>
            <a:defRPr sz="1000"/>
          </a:pPr>
        </a:p>
      </c:txPr>
    </c:legend>
    <c:dispBlanksAs val="gap"/>
  </c:chart>
  <c:txPr>
    <a:bodyPr/>
    <a:lstStyle/>
    <a:p>
      <a:pPr>
        <a:defRPr sz="1000">
          <a:solidFill>
            <a:srgbClr val="14202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Intention du premier message</a:t>
            </a:r>
          </a:p>
        </c:rich>
      </c:tx>
      <c:layout/>
      <c:overlay val="0"/>
    </c:title>
    <c:autoTitleDeleted val="0"/>
    <c:plotArea>
      <c:barChart>
        <c:barDir val="bar"/>
        <c:grouping val="percentStacked"/>
        <c:ser>
          <c:idx val="0"/>
          <c:order val="0"/>
          <c:tx>
            <c:strRef>
              <c:f>Sheet1!$B$1</c:f>
              <c:strCache>
                <c:ptCount val="1"/>
                <c:pt idx="0">
                  <c:v>Urgent ou avec échéance</c:v>
                </c:pt>
              </c:strCache>
            </c:strRef>
          </c:tx>
          <c:spPr>
            <a:solidFill>
              <a:srgbClr val="A24A07"/>
            </a:solidFill>
          </c:spPr>
          <c:cat>
            <c:strRef>
              <c:f>Sheet1!$A$2:$A$4</c:f>
              <c:strCache>
                <c:ptCount val="3"/>
                <c:pt idx="0">
                  <c:v>Formulaire ES</c:v>
                </c:pt>
                <c:pt idx="1">
                  <c:v>Formulaire FR</c:v>
                </c:pt>
                <c:pt idx="2">
                  <c:v>Formulaire EN</c:v>
                </c:pt>
              </c:strCache>
            </c:strRef>
          </c:cat>
          <c:val>
            <c:numRef>
              <c:f>Sheet1!$B$2:$B$4</c:f>
              <c:numCache>
                <c:formatCode>General</c:formatCode>
                <c:ptCount val="3"/>
                <c:pt idx="0">
                  <c:v>19.6</c:v>
                </c:pt>
                <c:pt idx="1">
                  <c:v>11.1</c:v>
                </c:pt>
                <c:pt idx="2">
                  <c:v>30.3</c:v>
                </c:pt>
              </c:numCache>
            </c:numRef>
          </c:val>
        </c:ser>
        <c:ser>
          <c:idx val="1"/>
          <c:order val="1"/>
          <c:tx>
            <c:strRef>
              <c:f>Sheet1!$C$1</c:f>
              <c:strCache>
                <c:ptCount val="1"/>
                <c:pt idx="0">
                  <c:v>Demande un devis</c:v>
                </c:pt>
              </c:strCache>
            </c:strRef>
          </c:tx>
          <c:spPr>
            <a:solidFill>
              <a:srgbClr val="1F63B5"/>
            </a:solidFill>
          </c:spPr>
          <c:cat>
            <c:strRef>
              <c:f>Sheet1!$A$2:$A$4</c:f>
              <c:strCache>
                <c:ptCount val="3"/>
                <c:pt idx="0">
                  <c:v>Formulaire ES</c:v>
                </c:pt>
                <c:pt idx="1">
                  <c:v>Formulaire FR</c:v>
                </c:pt>
                <c:pt idx="2">
                  <c:v>Formulaire EN</c:v>
                </c:pt>
              </c:strCache>
            </c:strRef>
          </c:cat>
          <c:val>
            <c:numRef>
              <c:f>Sheet1!$C$2:$C$4</c:f>
              <c:numCache>
                <c:formatCode>General</c:formatCode>
                <c:ptCount val="3"/>
                <c:pt idx="0">
                  <c:v>20.4</c:v>
                </c:pt>
                <c:pt idx="1">
                  <c:v>18.1</c:v>
                </c:pt>
                <c:pt idx="2">
                  <c:v>15.2</c:v>
                </c:pt>
              </c:numCache>
            </c:numRef>
          </c:val>
        </c:ser>
        <c:ser>
          <c:idx val="2"/>
          <c:order val="2"/>
          <c:tx>
            <c:strRef>
              <c:f>Sheet1!$D$1</c:f>
              <c:strCache>
                <c:ptCount val="1"/>
                <c:pt idx="0">
                  <c:v>Demande un rendez-vous ou un appel</c:v>
                </c:pt>
              </c:strCache>
            </c:strRef>
          </c:tx>
          <c:spPr>
            <a:solidFill>
              <a:srgbClr val="0F8A67"/>
            </a:solidFill>
          </c:spPr>
          <c:cat>
            <c:strRef>
              <c:f>Sheet1!$A$2:$A$4</c:f>
              <c:strCache>
                <c:ptCount val="3"/>
                <c:pt idx="0">
                  <c:v>Formulaire ES</c:v>
                </c:pt>
                <c:pt idx="1">
                  <c:v>Formulaire FR</c:v>
                </c:pt>
                <c:pt idx="2">
                  <c:v>Formulaire EN</c:v>
                </c:pt>
              </c:strCache>
            </c:strRef>
          </c:cat>
          <c:val>
            <c:numRef>
              <c:f>Sheet1!$D$2:$D$4</c:f>
              <c:numCache>
                <c:formatCode>General</c:formatCode>
                <c:ptCount val="3"/>
                <c:pt idx="0">
                  <c:v>15.8</c:v>
                </c:pt>
                <c:pt idx="1">
                  <c:v>10.9</c:v>
                </c:pt>
                <c:pt idx="2">
                  <c:v>24.2</c:v>
                </c:pt>
              </c:numCache>
            </c:numRef>
          </c:val>
        </c:ser>
        <c:ser>
          <c:idx val="3"/>
          <c:order val="3"/>
          <c:tx>
            <c:strRef>
              <c:f>Sheet1!$E$1</c:f>
              <c:strCache>
                <c:ptCount val="1"/>
                <c:pt idx="0">
                  <c:v>Pose une question ou demande une information</c:v>
                </c:pt>
              </c:strCache>
            </c:strRef>
          </c:tx>
          <c:spPr>
            <a:solidFill>
              <a:srgbClr val="8AA5B8"/>
            </a:solidFill>
          </c:spPr>
          <c:cat>
            <c:strRef>
              <c:f>Sheet1!$A$2:$A$4</c:f>
              <c:strCache>
                <c:ptCount val="3"/>
                <c:pt idx="0">
                  <c:v>Formulaire ES</c:v>
                </c:pt>
                <c:pt idx="1">
                  <c:v>Formulaire FR</c:v>
                </c:pt>
                <c:pt idx="2">
                  <c:v>Formulaire EN</c:v>
                </c:pt>
              </c:strCache>
            </c:strRef>
          </c:cat>
          <c:val>
            <c:numRef>
              <c:f>Sheet1!$E$2:$E$4</c:f>
              <c:numCache>
                <c:formatCode>General</c:formatCode>
                <c:ptCount val="3"/>
                <c:pt idx="0">
                  <c:v>13.3</c:v>
                </c:pt>
                <c:pt idx="1">
                  <c:v>24.8</c:v>
                </c:pt>
                <c:pt idx="2">
                  <c:v>18.2</c:v>
                </c:pt>
              </c:numCache>
            </c:numRef>
          </c:val>
        </c:ser>
        <c:ser>
          <c:idx val="4"/>
          <c:order val="4"/>
          <c:tx>
            <c:strRef>
              <c:f>Sheet1!$F$1</c:f>
              <c:strCache>
                <c:ptCount val="1"/>
                <c:pt idx="0">
                  <c:v>Cas détaillé</c:v>
                </c:pt>
              </c:strCache>
            </c:strRef>
          </c:tx>
          <c:spPr>
            <a:solidFill>
              <a:srgbClr val="9A4A8C"/>
            </a:solidFill>
          </c:spPr>
          <c:cat>
            <c:strRef>
              <c:f>Sheet1!$A$2:$A$4</c:f>
              <c:strCache>
                <c:ptCount val="3"/>
                <c:pt idx="0">
                  <c:v>Formulaire ES</c:v>
                </c:pt>
                <c:pt idx="1">
                  <c:v>Formulaire FR</c:v>
                </c:pt>
                <c:pt idx="2">
                  <c:v>Formulaire EN</c:v>
                </c:pt>
              </c:strCache>
            </c:strRef>
          </c:cat>
          <c:val>
            <c:numRef>
              <c:f>Sheet1!$F$2:$F$4</c:f>
              <c:numCache>
                <c:formatCode>General</c:formatCode>
                <c:ptCount val="3"/>
                <c:pt idx="0">
                  <c:v>4.2</c:v>
                </c:pt>
                <c:pt idx="1">
                  <c:v>5.2</c:v>
                </c:pt>
                <c:pt idx="2">
                  <c:v>0.0</c:v>
                </c:pt>
              </c:numCache>
            </c:numRef>
          </c:val>
        </c:ser>
        <c:ser>
          <c:idx val="5"/>
          <c:order val="5"/>
          <c:tx>
            <c:strRef>
              <c:f>Sheet1!$G$1</c:f>
              <c:strCache>
                <c:ptCount val="1"/>
                <c:pt idx="0">
                  <c:v>Autres</c:v>
                </c:pt>
              </c:strCache>
            </c:strRef>
          </c:tx>
          <c:spPr>
            <a:solidFill>
              <a:srgbClr val="CBD9E3"/>
            </a:solidFill>
          </c:spPr>
          <c:cat>
            <c:strRef>
              <c:f>Sheet1!$A$2:$A$4</c:f>
              <c:strCache>
                <c:ptCount val="3"/>
                <c:pt idx="0">
                  <c:v>Formulaire ES</c:v>
                </c:pt>
                <c:pt idx="1">
                  <c:v>Formulaire FR</c:v>
                </c:pt>
                <c:pt idx="2">
                  <c:v>Formulaire EN</c:v>
                </c:pt>
              </c:strCache>
            </c:strRef>
          </c:cat>
          <c:val>
            <c:numRef>
              <c:f>Sheet1!$G$2:$G$4</c:f>
              <c:numCache>
                <c:formatCode>General</c:formatCode>
                <c:ptCount val="3"/>
                <c:pt idx="0">
                  <c:v>26.7</c:v>
                </c:pt>
                <c:pt idx="1">
                  <c:v>29.8</c:v>
                </c:pt>
                <c:pt idx="2">
                  <c:v>12.1</c:v>
                </c:pt>
              </c:numCache>
            </c:numRef>
          </c:val>
        </c:ser>
        <c:gapWidth val="40"/>
        <c:overlap val="100"/>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000">
          <a:solidFill>
            <a:srgbClr val="14202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C9531A"/>
                </a:solidFill>
              </a:rPr>
              <a:t>Formulaire ES</a:t>
            </a:r>
          </a:p>
        </c:rich>
      </c:tx>
      <c:layout/>
      <c:overlay val="0"/>
    </c:title>
    <c:autoTitleDeleted val="0"/>
    <c:plotArea>
      <c:barChart>
        <c:barDir val="bar"/>
        <c:grouping val="clustered"/>
        <c:ser>
          <c:idx val="0"/>
          <c:order val="0"/>
          <c:tx>
            <c:strRef>
              <c:f>Sheet1!$B$1</c:f>
              <c:strCache>
                <c:ptCount val="1"/>
                <c:pt idx="0">
                  <c:v>n</c:v>
                </c:pt>
              </c:strCache>
            </c:strRef>
          </c:tx>
          <c:spPr>
            <a:solidFill>
              <a:srgbClr val="C9531A"/>
            </a:solidFill>
          </c:spPr>
          <c:cat>
            <c:strRef>
              <c:f>Sheet1!$A$2:$A$8</c:f>
              <c:strCache>
                <c:ptCount val="7"/>
                <c:pt idx="0">
                  <c:v>Espagne</c:v>
                </c:pt>
                <c:pt idx="1">
                  <c:v>France</c:v>
                </c:pt>
                <c:pt idx="2">
                  <c:v>États-Unis / Canada (+1)</c:v>
                </c:pt>
                <c:pt idx="3">
                  <c:v>Belgique</c:v>
                </c:pt>
                <c:pt idx="4">
                  <c:v>États-Unis</c:v>
                </c:pt>
                <c:pt idx="5">
                  <c:v>Canada</c:v>
                </c:pt>
                <c:pt idx="6">
                  <c:v>Maroc</c:v>
                </c:pt>
              </c:strCache>
            </c:strRef>
          </c:cat>
          <c:val>
            <c:numRef>
              <c:f>Sheet1!$B$2:$B$8</c:f>
              <c:numCache>
                <c:formatCode>General</c:formatCode>
                <c:ptCount val="7"/>
                <c:pt idx="0">
                  <c:v>154</c:v>
                </c:pt>
                <c:pt idx="1">
                  <c:v>15</c:v>
                </c:pt>
                <c:pt idx="2">
                  <c:v>5</c:v>
                </c:pt>
                <c:pt idx="3">
                  <c:v>3</c:v>
                </c:pt>
                <c:pt idx="4">
                  <c:v>3</c:v>
                </c:pt>
                <c:pt idx="5">
                  <c:v>2</c:v>
                </c:pt>
                <c:pt idx="6">
                  <c:v>2</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192.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F63B5"/>
                </a:solidFill>
              </a:rPr>
              <a:t>Formulaire FR</a:t>
            </a:r>
          </a:p>
        </c:rich>
      </c:tx>
      <c:layout/>
      <c:overlay val="0"/>
    </c:title>
    <c:autoTitleDeleted val="0"/>
    <c:plotArea>
      <c:barChart>
        <c:barDir val="bar"/>
        <c:grouping val="clustered"/>
        <c:ser>
          <c:idx val="0"/>
          <c:order val="0"/>
          <c:tx>
            <c:strRef>
              <c:f>Sheet1!$B$1</c:f>
              <c:strCache>
                <c:ptCount val="1"/>
                <c:pt idx="0">
                  <c:v>n</c:v>
                </c:pt>
              </c:strCache>
            </c:strRef>
          </c:tx>
          <c:spPr>
            <a:solidFill>
              <a:srgbClr val="1F63B5"/>
            </a:solidFill>
          </c:spPr>
          <c:cat>
            <c:strRef>
              <c:f>Sheet1!$A$2:$A$8</c:f>
              <c:strCache>
                <c:ptCount val="7"/>
                <c:pt idx="0">
                  <c:v>France</c:v>
                </c:pt>
                <c:pt idx="1">
                  <c:v>Espagne</c:v>
                </c:pt>
                <c:pt idx="2">
                  <c:v>Belgique</c:v>
                </c:pt>
                <c:pt idx="3">
                  <c:v>Algérie</c:v>
                </c:pt>
                <c:pt idx="4">
                  <c:v>Maroc</c:v>
                </c:pt>
                <c:pt idx="5">
                  <c:v>Suisse</c:v>
                </c:pt>
                <c:pt idx="6">
                  <c:v>États-Unis / Canada (+1)</c:v>
                </c:pt>
              </c:strCache>
            </c:strRef>
          </c:cat>
          <c:val>
            <c:numRef>
              <c:f>Sheet1!$B$2:$B$8</c:f>
              <c:numCache>
                <c:formatCode>General</c:formatCode>
                <c:ptCount val="7"/>
                <c:pt idx="0">
                  <c:v>227</c:v>
                </c:pt>
                <c:pt idx="1">
                  <c:v>79</c:v>
                </c:pt>
                <c:pt idx="2">
                  <c:v>21</c:v>
                </c:pt>
                <c:pt idx="3">
                  <c:v>15</c:v>
                </c:pt>
                <c:pt idx="4">
                  <c:v>10</c:v>
                </c:pt>
                <c:pt idx="5">
                  <c:v>9</c:v>
                </c:pt>
                <c:pt idx="6">
                  <c:v>4</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283.7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F8A67"/>
                </a:solidFill>
              </a:rPr>
              <a:t>Formulaire EN</a:t>
            </a:r>
          </a:p>
        </c:rich>
      </c:tx>
      <c:layout/>
      <c:overlay val="0"/>
    </c:title>
    <c:autoTitleDeleted val="0"/>
    <c:plotArea>
      <c:barChart>
        <c:barDir val="bar"/>
        <c:grouping val="clustered"/>
        <c:ser>
          <c:idx val="0"/>
          <c:order val="0"/>
          <c:tx>
            <c:strRef>
              <c:f>Sheet1!$B$1</c:f>
              <c:strCache>
                <c:ptCount val="1"/>
                <c:pt idx="0">
                  <c:v>n</c:v>
                </c:pt>
              </c:strCache>
            </c:strRef>
          </c:tx>
          <c:spPr>
            <a:solidFill>
              <a:srgbClr val="0F8A67"/>
            </a:solidFill>
          </c:spPr>
          <c:cat>
            <c:strRef>
              <c:f>Sheet1!$A$2:$A$8</c:f>
              <c:strCache>
                <c:ptCount val="7"/>
                <c:pt idx="0">
                  <c:v>Espagne</c:v>
                </c:pt>
                <c:pt idx="1">
                  <c:v>États-Unis / Canada (+1)</c:v>
                </c:pt>
                <c:pt idx="2">
                  <c:v>Royaume-Uni</c:v>
                </c:pt>
                <c:pt idx="3">
                  <c:v>Pays-Bas</c:v>
                </c:pt>
                <c:pt idx="4">
                  <c:v>Allemagne</c:v>
                </c:pt>
                <c:pt idx="5">
                  <c:v>États-Unis</c:v>
                </c:pt>
                <c:pt idx="6">
                  <c:v>Belgique</c:v>
                </c:pt>
              </c:strCache>
            </c:strRef>
          </c:cat>
          <c:val>
            <c:numRef>
              <c:f>Sheet1!$B$2:$B$8</c:f>
              <c:numCache>
                <c:formatCode>General</c:formatCode>
                <c:ptCount val="7"/>
                <c:pt idx="0">
                  <c:v>172</c:v>
                </c:pt>
                <c:pt idx="1">
                  <c:v>34</c:v>
                </c:pt>
                <c:pt idx="2">
                  <c:v>22</c:v>
                </c:pt>
                <c:pt idx="3">
                  <c:v>10</c:v>
                </c:pt>
                <c:pt idx="4">
                  <c:v>8</c:v>
                </c:pt>
                <c:pt idx="5">
                  <c:v>5</c:v>
                </c:pt>
                <c:pt idx="6">
                  <c:v>3</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215.0"/>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F63B5"/>
                </a:solidFill>
              </a:rPr>
              <a:t>Formulaire FR</a:t>
            </a:r>
          </a:p>
        </c:rich>
      </c:tx>
      <c:layout/>
      <c:overlay val="0"/>
    </c:title>
    <c:autoTitleDeleted val="0"/>
    <c:plotArea>
      <c:barChart>
        <c:barDir val="bar"/>
        <c:grouping val="clustered"/>
        <c:ser>
          <c:idx val="0"/>
          <c:order val="0"/>
          <c:tx>
            <c:strRef>
              <c:f>Sheet1!$B$1</c:f>
              <c:strCache>
                <c:ptCount val="1"/>
                <c:pt idx="0">
                  <c:v>n</c:v>
                </c:pt>
              </c:strCache>
            </c:strRef>
          </c:tx>
          <c:spPr>
            <a:solidFill>
              <a:srgbClr val="1F63B5"/>
            </a:solidFill>
          </c:spPr>
          <c:cat>
            <c:strRef>
              <c:f>Sheet1!$A$2:$A$9</c:f>
              <c:strCache>
                <c:ptCount val="8"/>
                <c:pt idx="0">
                  <c:v>France</c:v>
                </c:pt>
                <c:pt idx="1">
                  <c:v>Espagne</c:v>
                </c:pt>
                <c:pt idx="2">
                  <c:v>Algérie</c:v>
                </c:pt>
                <c:pt idx="3">
                  <c:v>Belgique</c:v>
                </c:pt>
                <c:pt idx="4">
                  <c:v>Maroc</c:v>
                </c:pt>
                <c:pt idx="5">
                  <c:v>Suisse</c:v>
                </c:pt>
                <c:pt idx="6">
                  <c:v>Royaume-Uni</c:v>
                </c:pt>
                <c:pt idx="7">
                  <c:v>Tunisie</c:v>
                </c:pt>
              </c:strCache>
            </c:strRef>
          </c:cat>
          <c:val>
            <c:numRef>
              <c:f>Sheet1!$B$2:$B$9</c:f>
              <c:numCache>
                <c:formatCode>General</c:formatCode>
                <c:ptCount val="8"/>
                <c:pt idx="0">
                  <c:v>70</c:v>
                </c:pt>
                <c:pt idx="1">
                  <c:v>25</c:v>
                </c:pt>
                <c:pt idx="2">
                  <c:v>10</c:v>
                </c:pt>
                <c:pt idx="3">
                  <c:v>9</c:v>
                </c:pt>
                <c:pt idx="4">
                  <c:v>7</c:v>
                </c:pt>
                <c:pt idx="5">
                  <c:v>3</c:v>
                </c:pt>
                <c:pt idx="6">
                  <c:v>3</c:v>
                </c:pt>
                <c:pt idx="7">
                  <c:v>2</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87.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C9531A"/>
                </a:solidFill>
              </a:rPr>
              <a:t>Formulaire ES</a:t>
            </a:r>
          </a:p>
        </c:rich>
      </c:tx>
      <c:layout/>
      <c:overlay val="0"/>
    </c:title>
    <c:autoTitleDeleted val="0"/>
    <c:plotArea>
      <c:barChart>
        <c:barDir val="bar"/>
        <c:grouping val="clustered"/>
        <c:ser>
          <c:idx val="0"/>
          <c:order val="0"/>
          <c:tx>
            <c:strRef>
              <c:f>Sheet1!$B$1</c:f>
              <c:strCache>
                <c:ptCount val="1"/>
                <c:pt idx="0">
                  <c:v>n</c:v>
                </c:pt>
              </c:strCache>
            </c:strRef>
          </c:tx>
          <c:spPr>
            <a:solidFill>
              <a:srgbClr val="C9531A"/>
            </a:solidFill>
          </c:spPr>
          <c:cat>
            <c:strRef>
              <c:f>Sheet1!$A$2:$A$9</c:f>
              <c:strCache>
                <c:ptCount val="8"/>
                <c:pt idx="0">
                  <c:v>France</c:v>
                </c:pt>
                <c:pt idx="1">
                  <c:v>Espagne</c:v>
                </c:pt>
                <c:pt idx="2">
                  <c:v>Chine</c:v>
                </c:pt>
                <c:pt idx="3">
                  <c:v>Russie</c:v>
                </c:pt>
                <c:pt idx="4">
                  <c:v>Mexique</c:v>
                </c:pt>
                <c:pt idx="5">
                  <c:v>Italie</c:v>
                </c:pt>
                <c:pt idx="6">
                  <c:v>Venezuela</c:v>
                </c:pt>
                <c:pt idx="7">
                  <c:v>Allemagne</c:v>
                </c:pt>
              </c:strCache>
            </c:strRef>
          </c:cat>
          <c:val>
            <c:numRef>
              <c:f>Sheet1!$B$2:$B$9</c:f>
              <c:numCache>
                <c:formatCode>General</c:formatCode>
                <c:ptCount val="8"/>
                <c:pt idx="0">
                  <c:v>15</c:v>
                </c:pt>
                <c:pt idx="1">
                  <c:v>15</c:v>
                </c:pt>
                <c:pt idx="2">
                  <c:v>3</c:v>
                </c:pt>
                <c:pt idx="3">
                  <c:v>3</c:v>
                </c:pt>
                <c:pt idx="4">
                  <c:v>2</c:v>
                </c:pt>
                <c:pt idx="5">
                  <c:v>2</c:v>
                </c:pt>
                <c:pt idx="6">
                  <c:v>2</c:v>
                </c:pt>
                <c:pt idx="7">
                  <c:v>2</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18.7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F8A67"/>
                </a:solidFill>
              </a:rPr>
              <a:t>Formulaire EN</a:t>
            </a:r>
          </a:p>
        </c:rich>
      </c:tx>
      <c:layout/>
      <c:overlay val="0"/>
    </c:title>
    <c:autoTitleDeleted val="0"/>
    <c:plotArea>
      <c:barChart>
        <c:barDir val="bar"/>
        <c:grouping val="clustered"/>
        <c:ser>
          <c:idx val="0"/>
          <c:order val="0"/>
          <c:tx>
            <c:strRef>
              <c:f>Sheet1!$B$1</c:f>
              <c:strCache>
                <c:ptCount val="1"/>
                <c:pt idx="0">
                  <c:v>n</c:v>
                </c:pt>
              </c:strCache>
            </c:strRef>
          </c:tx>
          <c:spPr>
            <a:solidFill>
              <a:srgbClr val="0F8A67"/>
            </a:solidFill>
          </c:spPr>
          <c:cat>
            <c:strRef>
              <c:f>Sheet1!$A$2:$A$9</c:f>
              <c:strCache>
                <c:ptCount val="8"/>
                <c:pt idx="0">
                  <c:v>États-Unis</c:v>
                </c:pt>
                <c:pt idx="1">
                  <c:v>Royaume-Uni</c:v>
                </c:pt>
                <c:pt idx="2">
                  <c:v>Serbie</c:v>
                </c:pt>
                <c:pt idx="3">
                  <c:v>Canada</c:v>
                </c:pt>
                <c:pt idx="4">
                  <c:v>Nouvelle-Zélande</c:v>
                </c:pt>
                <c:pt idx="5">
                  <c:v>Venezuela</c:v>
                </c:pt>
                <c:pt idx="6">
                  <c:v>Pérou</c:v>
                </c:pt>
                <c:pt idx="7">
                  <c:v>Pays-Bas</c:v>
                </c:pt>
              </c:strCache>
            </c:strRef>
          </c:cat>
          <c:val>
            <c:numRef>
              <c:f>Sheet1!$B$2:$B$9</c:f>
              <c:numCache>
                <c:formatCode>General</c:formatCode>
                <c:ptCount val="8"/>
                <c:pt idx="0">
                  <c:v>4</c:v>
                </c:pt>
                <c:pt idx="1">
                  <c:v>2</c:v>
                </c:pt>
                <c:pt idx="2">
                  <c:v>1</c:v>
                </c:pt>
                <c:pt idx="3">
                  <c:v>1</c:v>
                </c:pt>
                <c:pt idx="4">
                  <c:v>1</c:v>
                </c:pt>
                <c:pt idx="5">
                  <c:v>1</c:v>
                </c:pt>
                <c:pt idx="6">
                  <c:v>1</c:v>
                </c:pt>
                <c:pt idx="7">
                  <c:v>1</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5.0"/>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c:v>
                </c:pt>
              </c:strCache>
            </c:strRef>
          </c:tx>
          <c:spPr>
            <a:solidFill>
              <a:srgbClr val="C9531A"/>
            </a:solidFill>
          </c:spPr>
          <c:cat>
            <c:strRef>
              <c:f>Sheet1!$A$2:$A$7</c:f>
              <c:strCache>
                <c:ptCount val="6"/>
                <c:pt idx="0">
                  <c:v>Acte notarié et registre foncier</c:v>
                </c:pt>
                <c:pt idx="1">
                  <c:v>Convention fiscale / résidence fiscale</c:v>
                </c:pt>
                <c:pt idx="2">
                  <c:v>Succession, testament et dévolution</c:v>
                </c:pt>
                <c:pt idx="3">
                  <c:v>Visa consulaire</c:v>
                </c:pt>
                <c:pt idx="4">
                  <c:v>Achat de bien immobilier</c:v>
                </c:pt>
                <c:pt idx="5">
                  <c:v>TVA, comptabilité, gestion et IS</c:v>
                </c:pt>
              </c:strCache>
            </c:strRef>
          </c:cat>
          <c:val>
            <c:numRef>
              <c:f>Sheet1!$B$2:$B$7</c:f>
              <c:numCache>
                <c:formatCode>General</c:formatCode>
                <c:ptCount val="6"/>
                <c:pt idx="0">
                  <c:v>11.5</c:v>
                </c:pt>
                <c:pt idx="1">
                  <c:v>10.2</c:v>
                </c:pt>
                <c:pt idx="2">
                  <c:v>9.8</c:v>
                </c:pt>
                <c:pt idx="3">
                  <c:v>8.6</c:v>
                </c:pt>
                <c:pt idx="4">
                  <c:v>8.6</c:v>
                </c:pt>
                <c:pt idx="5">
                  <c:v>8.2</c:v>
                </c:pt>
              </c:numCache>
            </c:numRef>
          </c:val>
        </c:ser>
        <c:dLbls>
          <c:numFmt formatCode="0&quot;%&quot;" sourceLinked="0"/>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800"/>
            </a:pPr>
          </a:p>
        </c:txPr>
        <c:crossAx val="-2113994440"/>
        <c:crosses val="autoZero"/>
        <c:auto val="1"/>
        <c:lblAlgn val="ctr"/>
        <c:lblOffset val="100"/>
        <c:noMultiLvlLbl val="0"/>
      </c:catAx>
      <c:valAx>
        <c:axId val="-2113994440"/>
        <c:scaling>
          <c:max val="14.375"/>
        </c:scaling>
        <c:delete/>
        <c:axPos val="b"/>
        <c:majorTickMark val="out"/>
        <c:minorTickMark val="none"/>
        <c:tickLblPos val="nextTo"/>
        <c:crossAx val="-2068027336"/>
        <c:crosses val="autoZero"/>
      </c:valAx>
    </c:plotArea>
    <c:dispBlanksAs val="gap"/>
  </c:chart>
  <c:txPr>
    <a:bodyPr/>
    <a:lstStyle/>
    <a:p>
      <a:pPr>
        <a:defRPr sz="800">
          <a:solidFill>
            <a:srgbClr val="14202E"/>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c:v>
                </c:pt>
              </c:strCache>
            </c:strRef>
          </c:tx>
          <c:spPr>
            <a:solidFill>
              <a:srgbClr val="1F63B5"/>
            </a:solidFill>
          </c:spPr>
          <c:cat>
            <c:strRef>
              <c:f>Sheet1!$A$2:$A$7</c:f>
              <c:strCache>
                <c:ptCount val="6"/>
                <c:pt idx="0">
                  <c:v>Achat de bien immobilier</c:v>
                </c:pt>
                <c:pt idx="1">
                  <c:v>NIE et TIE (carte)</c:v>
                </c:pt>
                <c:pt idx="2">
                  <c:v>Créer une société / ouvrir une activité</c:v>
                </c:pt>
                <c:pt idx="3">
                  <c:v>Succession, testament et dévolution</c:v>
                </c:pt>
                <c:pt idx="4">
                  <c:v>Convention fiscale / résidence fiscale</c:v>
                </c:pt>
                <c:pt idx="5">
                  <c:v>Déménagement et installation en Espagne</c:v>
                </c:pt>
              </c:strCache>
            </c:strRef>
          </c:cat>
          <c:val>
            <c:numRef>
              <c:f>Sheet1!$B$2:$B$7</c:f>
              <c:numCache>
                <c:formatCode>General</c:formatCode>
                <c:ptCount val="6"/>
                <c:pt idx="0">
                  <c:v>13.6</c:v>
                </c:pt>
                <c:pt idx="1">
                  <c:v>12.5</c:v>
                </c:pt>
                <c:pt idx="2">
                  <c:v>11.9</c:v>
                </c:pt>
                <c:pt idx="3">
                  <c:v>8.6</c:v>
                </c:pt>
                <c:pt idx="4">
                  <c:v>7.5</c:v>
                </c:pt>
                <c:pt idx="5">
                  <c:v>6.5</c:v>
                </c:pt>
              </c:numCache>
            </c:numRef>
          </c:val>
        </c:ser>
        <c:dLbls>
          <c:numFmt formatCode="0&quot;%&quot;" sourceLinked="0"/>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800"/>
            </a:pPr>
          </a:p>
        </c:txPr>
        <c:crossAx val="-2113994440"/>
        <c:crosses val="autoZero"/>
        <c:auto val="1"/>
        <c:lblAlgn val="ctr"/>
        <c:lblOffset val="100"/>
        <c:noMultiLvlLbl val="0"/>
      </c:catAx>
      <c:valAx>
        <c:axId val="-2113994440"/>
        <c:scaling>
          <c:max val="17.0"/>
        </c:scaling>
        <c:delete/>
        <c:axPos val="b"/>
        <c:majorTickMark val="out"/>
        <c:minorTickMark val="none"/>
        <c:tickLblPos val="nextTo"/>
        <c:crossAx val="-2068027336"/>
        <c:crosses val="autoZero"/>
      </c:valAx>
    </c:plotArea>
    <c:dispBlanksAs val="gap"/>
  </c:chart>
  <c:txPr>
    <a:bodyPr/>
    <a:lstStyle/>
    <a:p>
      <a:pPr>
        <a:defRPr sz="800">
          <a:solidFill>
            <a:srgbClr val="14202E"/>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5C7A"/>
        </a:solidFill>
        <a:effectLst/>
      </p:bgPr>
    </p:bg>
    <p:spTree>
      <p:nvGrpSpPr>
        <p:cNvPr id="1" name=""/>
        <p:cNvGrpSpPr/>
        <p:nvPr/>
      </p:nvGrpSpPr>
      <p:grpSpPr/>
      <p:sp>
        <p:nvSpPr>
          <p:cNvPr id="2" name="TextBox 1"/>
          <p:cNvSpPr txBox="1"/>
          <p:nvPr/>
        </p:nvSpPr>
        <p:spPr>
          <a:xfrm>
            <a:off x="731520" y="822960"/>
            <a:ext cx="10058400" cy="365760"/>
          </a:xfrm>
          <a:prstGeom prst="rect">
            <a:avLst/>
          </a:prstGeom>
          <a:noFill/>
        </p:spPr>
        <p:txBody>
          <a:bodyPr wrap="square" lIns="45720" rIns="45720" tIns="27432" bIns="27432">
            <a:spAutoFit/>
          </a:bodyPr>
          <a:lstStyle/>
          <a:p>
            <a:pPr>
              <a:spcAft>
                <a:spcPts val="400"/>
              </a:spcAft>
            </a:pPr>
            <a:r>
              <a:rPr sz="1200" b="1">
                <a:solidFill>
                  <a:srgbClr val="CFE6EF"/>
                </a:solidFill>
                <a:latin typeface="Calibri"/>
              </a:rPr>
              <a:t>DELAGUÍA Y LUZÓN · ANALYSE DES FORMULAIRES WEB</a:t>
            </a:r>
          </a:p>
        </p:txBody>
      </p:sp>
      <p:sp>
        <p:nvSpPr>
          <p:cNvPr id="3" name="TextBox 2"/>
          <p:cNvSpPr txBox="1"/>
          <p:nvPr/>
        </p:nvSpPr>
        <p:spPr>
          <a:xfrm>
            <a:off x="731520" y="1371600"/>
            <a:ext cx="10607040" cy="1554480"/>
          </a:xfrm>
          <a:prstGeom prst="rect">
            <a:avLst/>
          </a:prstGeom>
          <a:noFill/>
        </p:spPr>
        <p:txBody>
          <a:bodyPr wrap="square" lIns="45720" rIns="45720" tIns="27432" bIns="27432">
            <a:spAutoFit/>
          </a:bodyPr>
          <a:lstStyle/>
          <a:p>
            <a:pPr>
              <a:spcAft>
                <a:spcPts val="400"/>
              </a:spcAft>
            </a:pPr>
            <a:r>
              <a:rPr sz="4000" b="1">
                <a:solidFill>
                  <a:srgbClr val="FFFFFF"/>
                </a:solidFill>
                <a:latin typeface="Georgia"/>
              </a:rPr>
              <a:t>Ce que nos visiteurs demandent via le formulaire</a:t>
            </a:r>
          </a:p>
        </p:txBody>
      </p:sp>
      <p:sp>
        <p:nvSpPr>
          <p:cNvPr id="4" name="TextBox 3"/>
          <p:cNvSpPr txBox="1"/>
          <p:nvPr/>
        </p:nvSpPr>
        <p:spPr>
          <a:xfrm>
            <a:off x="731520" y="3017520"/>
            <a:ext cx="10241280" cy="1371600"/>
          </a:xfrm>
          <a:prstGeom prst="rect">
            <a:avLst/>
          </a:prstGeom>
          <a:noFill/>
        </p:spPr>
        <p:txBody>
          <a:bodyPr wrap="square" lIns="45720" rIns="45720" tIns="27432" bIns="27432">
            <a:spAutoFit/>
          </a:bodyPr>
          <a:lstStyle/>
          <a:p>
            <a:pPr>
              <a:spcAft>
                <a:spcPts val="400"/>
              </a:spcAft>
            </a:pPr>
            <a:r>
              <a:rPr sz="1600" b="0">
                <a:solidFill>
                  <a:srgbClr val="EAF4F8"/>
                </a:solidFill>
                <a:latin typeface="Calibri"/>
              </a:rPr>
              <a:t>1 169 demandes entre le 21 octobre 2024 et le 7 octobre 2026, via 9 formulaires et 4 langues. Le rapport les classe par spécialité, pays, nationalité et sous-thème afin de concevoir un formulaire en 4 étapes qui pose les bonnes questions et propose des articles du blog quand une personne cherche seulement de l'information.</a:t>
            </a:r>
          </a:p>
        </p:txBody>
      </p:sp>
      <p:sp>
        <p:nvSpPr>
          <p:cNvPr id="5" name="Rounded Rectangle 4"/>
          <p:cNvSpPr/>
          <p:nvPr/>
        </p:nvSpPr>
        <p:spPr>
          <a:xfrm>
            <a:off x="73152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1 169</a:t>
            </a:r>
          </a:p>
        </p:txBody>
      </p:sp>
      <p:sp>
        <p:nvSpPr>
          <p:cNvPr id="7" name="TextBox 6"/>
          <p:cNvSpPr txBox="1"/>
          <p:nvPr/>
        </p:nvSpPr>
        <p:spPr>
          <a:xfrm>
            <a:off x="82296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demandes reçues</a:t>
            </a:r>
          </a:p>
        </p:txBody>
      </p:sp>
      <p:sp>
        <p:nvSpPr>
          <p:cNvPr id="8" name="Rounded Rectangle 7"/>
          <p:cNvSpPr/>
          <p:nvPr/>
        </p:nvSpPr>
        <p:spPr>
          <a:xfrm>
            <a:off x="292608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741</a:t>
            </a:r>
          </a:p>
        </p:txBody>
      </p:sp>
      <p:sp>
        <p:nvSpPr>
          <p:cNvPr id="10" name="TextBox 9"/>
          <p:cNvSpPr txBox="1"/>
          <p:nvPr/>
        </p:nvSpPr>
        <p:spPr>
          <a:xfrm>
            <a:off x="301752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avec message analysé</a:t>
            </a:r>
          </a:p>
        </p:txBody>
      </p:sp>
      <p:sp>
        <p:nvSpPr>
          <p:cNvPr id="11" name="Rounded Rectangle 10"/>
          <p:cNvSpPr/>
          <p:nvPr/>
        </p:nvSpPr>
        <p:spPr>
          <a:xfrm>
            <a:off x="512064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79"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36 %</a:t>
            </a:r>
          </a:p>
        </p:txBody>
      </p:sp>
      <p:sp>
        <p:nvSpPr>
          <p:cNvPr id="13" name="TextBox 12"/>
          <p:cNvSpPr txBox="1"/>
          <p:nvPr/>
        </p:nvSpPr>
        <p:spPr>
          <a:xfrm>
            <a:off x="5212079"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touchent 2 sous-thèmes ou plus</a:t>
            </a:r>
          </a:p>
        </p:txBody>
      </p:sp>
      <p:sp>
        <p:nvSpPr>
          <p:cNvPr id="14" name="Rounded Rectangle 13"/>
          <p:cNvSpPr/>
          <p:nvPr/>
        </p:nvSpPr>
        <p:spPr>
          <a:xfrm>
            <a:off x="7315199"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34 %</a:t>
            </a:r>
          </a:p>
        </p:txBody>
      </p:sp>
      <p:sp>
        <p:nvSpPr>
          <p:cNvPr id="16" name="TextBox 15"/>
          <p:cNvSpPr txBox="1"/>
          <p:nvPr/>
        </p:nvSpPr>
        <p:spPr>
          <a:xfrm>
            <a:off x="740664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demandent seulement une information</a:t>
            </a:r>
          </a:p>
        </p:txBody>
      </p:sp>
      <p:sp>
        <p:nvSpPr>
          <p:cNvPr id="17" name="Rounded Rectangle 16"/>
          <p:cNvSpPr/>
          <p:nvPr/>
        </p:nvSpPr>
        <p:spPr>
          <a:xfrm>
            <a:off x="950976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16 %</a:t>
            </a:r>
          </a:p>
        </p:txBody>
      </p:sp>
      <p:sp>
        <p:nvSpPr>
          <p:cNvPr id="19" name="TextBox 18"/>
          <p:cNvSpPr txBox="1"/>
          <p:nvPr/>
        </p:nvSpPr>
        <p:spPr>
          <a:xfrm>
            <a:off x="960120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ont lu un article avant d'écrire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L'essentiel (1/2)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a:t>
            </a:r>
          </a:p>
        </p:txBody>
      </p:sp>
      <p:sp>
        <p:nvSpPr>
          <p:cNvPr id="7" name="Rounded Rectangle 6"/>
          <p:cNvSpPr/>
          <p:nvPr/>
        </p:nvSpPr>
        <p:spPr>
          <a:xfrm>
            <a:off x="548640" y="155448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36 % des demandes mélangent plusieurs thèmes</a:t>
            </a:r>
          </a:p>
        </p:txBody>
      </p:sp>
      <p:sp>
        <p:nvSpPr>
          <p:cNvPr id="9" name="TextBox 8"/>
          <p:cNvSpPr txBox="1"/>
          <p:nvPr/>
        </p:nvSpPr>
        <p:spPr>
          <a:xfrm>
            <a:off x="731520" y="1993391"/>
            <a:ext cx="10698480" cy="621792"/>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Ce sont des combinaisons comme NIE et création d'entreprise, déclaration de revenus et convention fiscale, ou succession et notaire. Avec une liste déroulante à choix unique, la personne en choisit un et les autres se perdent. Le formulaire doit accepter plusieurs étiquettes et les conserver.</a:t>
            </a:r>
          </a:p>
        </p:txBody>
      </p:sp>
      <p:sp>
        <p:nvSpPr>
          <p:cNvPr id="10" name="Rounded Rectangle 9"/>
          <p:cNvSpPr/>
          <p:nvPr/>
        </p:nvSpPr>
        <p:spPr>
          <a:xfrm>
            <a:off x="548640" y="274320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1635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 Autre(s) » cache une vraie demande</a:t>
            </a:r>
          </a:p>
        </p:txBody>
      </p:sp>
      <p:sp>
        <p:nvSpPr>
          <p:cNvPr id="12" name="TextBox 11"/>
          <p:cNvSpPr txBox="1"/>
          <p:nvPr/>
        </p:nvSpPr>
        <p:spPr>
          <a:xfrm>
            <a:off x="731520" y="3182112"/>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Sur 123 demandes cochées « Autre(s) » dans les formulaires généraux ES et FR, 86 % portent sur un thème juridique clair, surtout droit des étrangers, création d'entreprise et fiscalité.</a:t>
            </a:r>
          </a:p>
        </p:txBody>
      </p:sp>
      <p:sp>
        <p:nvSpPr>
          <p:cNvPr id="13" name="Rounded Rectangle 12"/>
          <p:cNvSpPr/>
          <p:nvPr/>
        </p:nvSpPr>
        <p:spPr>
          <a:xfrm>
            <a:off x="548640" y="393192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0507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Successions et testaments : thème n° 4, sans page dédiée</a:t>
            </a:r>
          </a:p>
        </p:txBody>
      </p:sp>
      <p:sp>
        <p:nvSpPr>
          <p:cNvPr id="15" name="TextBox 14"/>
          <p:cNvSpPr txBox="1"/>
          <p:nvPr/>
        </p:nvSpPr>
        <p:spPr>
          <a:xfrm>
            <a:off x="731520" y="4370831"/>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64 demandes (9 % de celles analysées) parlent de succession. Le site ne la couvre que dans « Successions et planification patrimoniale », sous Fiscalité. Divorce, garde et adoption (20) n'ont pas de place non plus dans l'arbre.</a:t>
            </a:r>
          </a:p>
        </p:txBody>
      </p:sp>
      <p:sp>
        <p:nvSpPr>
          <p:cNvPr id="16" name="Rounded Rectangle 15"/>
          <p:cNvSpPr/>
          <p:nvPr/>
        </p:nvSpPr>
        <p:spPr>
          <a:xfrm>
            <a:off x="548640" y="512064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19379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Le droit des étrangers pèse 41 % et sa page unique est trop large</a:t>
            </a:r>
          </a:p>
        </p:txBody>
      </p:sp>
      <p:sp>
        <p:nvSpPr>
          <p:cNvPr id="18" name="TextBox 17"/>
          <p:cNvSpPr txBox="1"/>
          <p:nvPr/>
        </p:nvSpPr>
        <p:spPr>
          <a:xfrm>
            <a:off x="731520" y="5559552"/>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 Résidence, nationalité, regroupement » réunit NIE et TIE, nomade numérique, non lucratif, travail, études, arraigo, recours et régularisation. Nous proposons cinq parcours de formulaire et de page (voir l'arbre).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L'essentiel (2/2)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3</a:t>
            </a:r>
          </a:p>
        </p:txBody>
      </p:sp>
      <p:sp>
        <p:nvSpPr>
          <p:cNvPr id="7" name="Rounded Rectangle 6"/>
          <p:cNvSpPr/>
          <p:nvPr/>
        </p:nvSpPr>
        <p:spPr>
          <a:xfrm>
            <a:off x="548640" y="1554480"/>
            <a:ext cx="11064240" cy="1417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Chaque langue a son public</a:t>
            </a:r>
          </a:p>
        </p:txBody>
      </p:sp>
      <p:sp>
        <p:nvSpPr>
          <p:cNvPr id="9" name="TextBox 8"/>
          <p:cNvSpPr txBox="1"/>
          <p:nvPr/>
        </p:nvSpPr>
        <p:spPr>
          <a:xfrm>
            <a:off x="731520" y="1993391"/>
            <a:ext cx="10698480" cy="94183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ES : des résidents avec des sujets du quotidien (immobilier, notaire, succession, licenciement, fisc) ; 74 % de ceux qui indiquent un pays vivent en Espagne. FR : 79 % vivent hors d'Espagne et préparent le départ (NIE, créer une société, acheter, entrepreneur). EN : visas de télétravail et de résidence, et fiscalité de l'arrivant. RU : peu de demandes, presque toutes droit des étrangers et impôts.</a:t>
            </a:r>
          </a:p>
        </p:txBody>
      </p:sp>
      <p:sp>
        <p:nvSpPr>
          <p:cNvPr id="10" name="Rounded Rectangle 9"/>
          <p:cNvSpPr/>
          <p:nvPr/>
        </p:nvSpPr>
        <p:spPr>
          <a:xfrm>
            <a:off x="548640" y="3063240"/>
            <a:ext cx="11064240" cy="1417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3639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Il y a de la place pour informer avant de vendre</a:t>
            </a:r>
          </a:p>
        </p:txBody>
      </p:sp>
      <p:sp>
        <p:nvSpPr>
          <p:cNvPr id="12" name="TextBox 11"/>
          <p:cNvSpPr txBox="1"/>
          <p:nvPr/>
        </p:nvSpPr>
        <p:spPr>
          <a:xfrm>
            <a:off x="731520" y="3502152"/>
            <a:ext cx="10698480" cy="94183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Seulement 37 % des demandes FR et 27 % des demandes ES réclament de l'information. 16 % des personnes dont le parcours est enregistré ont lu un article du blog avant d'écrire (22 % en FR). Sur les sous-thèmes les plus demandés, il y a très peu d'articles dans la langue de la personne (voir Blog).</a:t>
            </a:r>
          </a:p>
        </p:txBody>
      </p:sp>
      <p:sp>
        <p:nvSpPr>
          <p:cNvPr id="13" name="Rounded Rectangle 12"/>
          <p:cNvSpPr/>
          <p:nvPr/>
        </p:nvSpPr>
        <p:spPr>
          <a:xfrm>
            <a:off x="548640" y="4572000"/>
            <a:ext cx="11064240" cy="1417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64515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Délais et budget apparaissent dès le premier message</a:t>
            </a:r>
          </a:p>
        </p:txBody>
      </p:sp>
      <p:sp>
        <p:nvSpPr>
          <p:cNvPr id="15" name="TextBox 14"/>
          <p:cNvSpPr txBox="1"/>
          <p:nvPr/>
        </p:nvSpPr>
        <p:spPr>
          <a:xfrm>
            <a:off x="731520" y="5010912"/>
            <a:ext cx="10698480" cy="94183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Urgence ou échéance citées dans 20 % des demandes ES et 11 % des demandes FR ; honoraires demandés dans 29 % et 22 %. L'étape 4 doit recueillir la date limite.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Volume et évolution par langue</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4</a:t>
            </a:r>
          </a:p>
        </p:txBody>
      </p:sp>
      <p:graphicFrame>
        <p:nvGraphicFramePr>
          <p:cNvPr id="7" name="Chart 6"/>
          <p:cNvGraphicFramePr>
            <a:graphicFrameLocks noGrp="1"/>
          </p:cNvGraphicFramePr>
          <p:nvPr/>
        </p:nvGraphicFramePr>
        <p:xfrm>
          <a:off x="548640" y="1554480"/>
          <a:ext cx="7498079" cy="4754880"/>
        </p:xfrm>
        <a:graphic>
          <a:graphicData uri="http://schemas.openxmlformats.org/drawingml/2006/chart">
            <c:chart xmlns:c="http://schemas.openxmlformats.org/drawingml/2006/chart" r:id="rId2"/>
          </a:graphicData>
        </a:graphic>
      </p:graphicFrame>
      <p:sp>
        <p:nvSpPr>
          <p:cNvPr id="8" name="Rounded Rectangle 7"/>
          <p:cNvSpPr/>
          <p:nvPr/>
        </p:nvSpPr>
        <p:spPr>
          <a:xfrm>
            <a:off x="8229600" y="1554480"/>
            <a:ext cx="3429000" cy="47548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691640"/>
            <a:ext cx="3154680" cy="4480560"/>
          </a:xfrm>
          <a:prstGeom prst="rect">
            <a:avLst/>
          </a:prstGeom>
          <a:noFill/>
        </p:spPr>
        <p:txBody>
          <a:bodyPr wrap="square" lIns="45720" rIns="45720" tIns="27432" bIns="27432">
            <a:spAutoFit/>
          </a:bodyPr>
          <a:lstStyle/>
          <a:p>
            <a:pPr>
              <a:spcAft>
                <a:spcPts val="400"/>
              </a:spcAft>
            </a:pPr>
            <a:r>
              <a:rPr sz="1300" b="0">
                <a:solidFill>
                  <a:srgbClr val="14202E"/>
                </a:solidFill>
                <a:latin typeface="Calibri"/>
              </a:rPr>
              <a:t>Les demandes en espagnol progressent (de 18 au premier trimestre 2025 à 51 au troisième trimestre 2026) et les demandes en anglais presque doublent (de 47 à 89). Les demandes en français reculent depuis le pic du premier trimestre 2025 (82 ; 62 au troisième trimestre 2026). Le russe reste autour de 8 par trimestre. Le dernier trimestre 2026 est incomplet.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Type de lead</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5</a:t>
            </a:r>
          </a:p>
        </p:txBody>
      </p:sp>
      <p:graphicFrame>
        <p:nvGraphicFramePr>
          <p:cNvPr id="7" name="Chart 6"/>
          <p:cNvGraphicFramePr>
            <a:graphicFrameLocks noGrp="1"/>
          </p:cNvGraphicFramePr>
          <p:nvPr/>
        </p:nvGraphicFramePr>
        <p:xfrm>
          <a:off x="548640" y="1554480"/>
          <a:ext cx="6949440" cy="3108960"/>
        </p:xfrm>
        <a:graphic>
          <a:graphicData uri="http://schemas.openxmlformats.org/drawingml/2006/chart">
            <c:chart xmlns:c="http://schemas.openxmlformats.org/drawingml/2006/chart" r:id="rId2"/>
          </a:graphicData>
        </a:graphic>
      </p:graphicFrame>
      <p:sp>
        <p:nvSpPr>
          <p:cNvPr id="8" name="TextBox 7"/>
          <p:cNvSpPr txBox="1"/>
          <p:nvPr/>
        </p:nvSpPr>
        <p:spPr>
          <a:xfrm>
            <a:off x="548640" y="4754880"/>
            <a:ext cx="6949440" cy="274320"/>
          </a:xfrm>
          <a:prstGeom prst="rect">
            <a:avLst/>
          </a:prstGeom>
          <a:noFill/>
        </p:spPr>
        <p:txBody>
          <a:bodyPr wrap="square" lIns="45720" rIns="45720" tIns="27432" bIns="27432">
            <a:spAutoFit/>
          </a:bodyPr>
          <a:lstStyle/>
          <a:p>
            <a:pPr>
              <a:spcAft>
                <a:spcPts val="400"/>
              </a:spcAft>
            </a:pPr>
            <a:r>
              <a:rPr sz="1200" b="1">
                <a:solidFill>
                  <a:srgbClr val="0B5C7A"/>
                </a:solidFill>
                <a:latin typeface="Calibri"/>
              </a:rPr>
              <a:t>Mentionnent dans le texte</a:t>
            </a:r>
          </a:p>
        </p:txBody>
      </p:sp>
      <p:graphicFrame>
        <p:nvGraphicFramePr>
          <p:cNvPr id="9" name="Table 8"/>
          <p:cNvGraphicFramePr>
            <a:graphicFrameLocks noGrp="1"/>
          </p:cNvGraphicFramePr>
          <p:nvPr/>
        </p:nvGraphicFramePr>
        <p:xfrm>
          <a:off x="548640" y="5029200"/>
          <a:ext cx="6949438" cy="1234440"/>
        </p:xfrm>
        <a:graphic>
          <a:graphicData uri="http://schemas.openxmlformats.org/drawingml/2006/table">
            <a:tbl>
              <a:tblPr firstRow="1" bandRow="1">
                <a:tableStyleId>{5C22544A-7EE6-4342-B048-85BDC9FD1C3A}</a:tableStyleId>
              </a:tblPr>
              <a:tblGrid>
                <a:gridCol w="1339651"/>
                <a:gridCol w="1339651"/>
                <a:gridCol w="1004738"/>
                <a:gridCol w="1004738"/>
                <a:gridCol w="1004738"/>
                <a:gridCol w="1255922"/>
              </a:tblGrid>
              <a:tr h="246888">
                <a:tc>
                  <a:txBody>
                    <a:bodyPr wrap="square"/>
                    <a:lstStyle/>
                    <a:p>
                      <a:r>
                        <a:rPr sz="900" b="1">
                          <a:solidFill>
                            <a:srgbClr val="FFFFFF"/>
                          </a:solidFill>
                          <a:latin typeface="Calibri"/>
                        </a:rPr>
                        <a:t/>
                      </a:r>
                    </a:p>
                  </a:txBody>
                  <a:tcPr marL="54864" marR="54864" marT="22860" marB="22860" anchor="ctr">
                    <a:solidFill>
                      <a:srgbClr val="0B5C7A"/>
                    </a:solidFill>
                  </a:tcPr>
                </a:tc>
                <a:tc>
                  <a:txBody>
                    <a:bodyPr wrap="square"/>
                    <a:lstStyle/>
                    <a:p>
                      <a:pPr algn="r"/>
                      <a:r>
                        <a:rPr sz="900" b="1">
                          <a:solidFill>
                            <a:srgbClr val="FFFFFF"/>
                          </a:solidFill>
                          <a:latin typeface="Calibri"/>
                        </a:rPr>
                        <a:t>Particulier · Entreprise</a:t>
                      </a:r>
                    </a:p>
                  </a:txBody>
                  <a:tcPr marL="54864" marR="54864" marT="22860" marB="22860" anchor="ctr">
                    <a:solidFill>
                      <a:srgbClr val="0B5C7A"/>
                    </a:solidFill>
                  </a:tcPr>
                </a:tc>
                <a:tc>
                  <a:txBody>
                    <a:bodyPr wrap="square"/>
                    <a:lstStyle/>
                    <a:p>
                      <a:pPr algn="r"/>
                      <a:r>
                        <a:rPr sz="900" b="1">
                          <a:solidFill>
                            <a:srgbClr val="FFFFFF"/>
                          </a:solidFill>
                          <a:latin typeface="Calibri"/>
                        </a:rPr>
                        <a:t>honoraires ou devis</a:t>
                      </a:r>
                    </a:p>
                  </a:txBody>
                  <a:tcPr marL="54864" marR="54864" marT="22860" marB="22860" anchor="ctr">
                    <a:solidFill>
                      <a:srgbClr val="0B5C7A"/>
                    </a:solidFill>
                  </a:tcPr>
                </a:tc>
                <a:tc>
                  <a:txBody>
                    <a:bodyPr wrap="square"/>
                    <a:lstStyle/>
                    <a:p>
                      <a:pPr algn="r"/>
                      <a:r>
                        <a:rPr sz="900" b="1">
                          <a:solidFill>
                            <a:srgbClr val="FFFFFF"/>
                          </a:solidFill>
                          <a:latin typeface="Calibri"/>
                        </a:rPr>
                        <a:t>rendez-vous ou appel</a:t>
                      </a:r>
                    </a:p>
                  </a:txBody>
                  <a:tcPr marL="54864" marR="54864" marT="22860" marB="22860" anchor="ctr">
                    <a:solidFill>
                      <a:srgbClr val="0B5C7A"/>
                    </a:solidFill>
                  </a:tcPr>
                </a:tc>
                <a:tc>
                  <a:txBody>
                    <a:bodyPr wrap="square"/>
                    <a:lstStyle/>
                    <a:p>
                      <a:pPr algn="r"/>
                      <a:r>
                        <a:rPr sz="900" b="1">
                          <a:solidFill>
                            <a:srgbClr val="FFFFFF"/>
                          </a:solidFill>
                          <a:latin typeface="Calibri"/>
                        </a:rPr>
                        <a:t>urgence ou échéance</a:t>
                      </a:r>
                    </a:p>
                  </a:txBody>
                  <a:tcPr marL="54864" marR="54864" marT="22860" marB="22860" anchor="ctr">
                    <a:solidFill>
                      <a:srgbClr val="0B5C7A"/>
                    </a:solidFill>
                  </a:tcPr>
                </a:tc>
                <a:tc>
                  <a:txBody>
                    <a:bodyPr wrap="square"/>
                    <a:lstStyle/>
                    <a:p>
                      <a:pPr algn="r"/>
                      <a:r>
                        <a:rPr sz="900" b="1">
                          <a:solidFill>
                            <a:srgbClr val="FFFFFF"/>
                          </a:solidFill>
                          <a:latin typeface="Calibri"/>
                        </a:rPr>
                        <a:t>une question ou une demande d'information</a:t>
                      </a:r>
                    </a:p>
                  </a:txBody>
                  <a:tcPr marL="54864" marR="54864" marT="22860" marB="22860" anchor="ctr">
                    <a:solidFill>
                      <a:srgbClr val="0B5C7A"/>
                    </a:solidFill>
                  </a:tcPr>
                </a:tc>
              </a:tr>
              <a:tr h="246888">
                <a:tc>
                  <a:txBody>
                    <a:bodyPr wrap="square"/>
                    <a:lstStyle/>
                    <a:p>
                      <a:r>
                        <a:rPr sz="900" b="0">
                          <a:solidFill>
                            <a:srgbClr val="14202E"/>
                          </a:solidFill>
                          <a:latin typeface="Calibri"/>
                        </a:rPr>
                        <a:t>Formulaire ES</a:t>
                      </a:r>
                    </a:p>
                  </a:txBody>
                  <a:tcPr marL="54864" marR="54864" marT="22860" marB="22860" anchor="ctr">
                    <a:solidFill>
                      <a:srgbClr val="FFFFFF"/>
                    </a:solidFill>
                  </a:tcPr>
                </a:tc>
                <a:tc>
                  <a:txBody>
                    <a:bodyPr wrap="square"/>
                    <a:lstStyle/>
                    <a:p>
                      <a:pPr algn="r"/>
                      <a:r>
                        <a:rPr sz="900" b="0">
                          <a:solidFill>
                            <a:srgbClr val="14202E"/>
                          </a:solidFill>
                          <a:latin typeface="Calibri"/>
                        </a:rPr>
                        <a:t>82 · 18 %</a:t>
                      </a:r>
                    </a:p>
                  </a:txBody>
                  <a:tcPr marL="54864" marR="54864" marT="22860" marB="22860" anchor="ctr">
                    <a:solidFill>
                      <a:srgbClr val="FFFFFF"/>
                    </a:solidFill>
                  </a:tcPr>
                </a:tc>
                <a:tc>
                  <a:txBody>
                    <a:bodyPr wrap="square"/>
                    <a:lstStyle/>
                    <a:p>
                      <a:pPr algn="r"/>
                      <a:r>
                        <a:rPr sz="900" b="0">
                          <a:solidFill>
                            <a:srgbClr val="14202E"/>
                          </a:solidFill>
                          <a:latin typeface="Calibri"/>
                        </a:rPr>
                        <a:t>29 %</a:t>
                      </a:r>
                    </a:p>
                  </a:txBody>
                  <a:tcPr marL="54864" marR="54864" marT="22860" marB="22860" anchor="ctr">
                    <a:solidFill>
                      <a:srgbClr val="FFFFFF"/>
                    </a:solidFill>
                  </a:tcPr>
                </a:tc>
                <a:tc>
                  <a:txBody>
                    <a:bodyPr wrap="square"/>
                    <a:lstStyle/>
                    <a:p>
                      <a:pPr algn="r"/>
                      <a:r>
                        <a:rPr sz="900" b="0">
                          <a:solidFill>
                            <a:srgbClr val="14202E"/>
                          </a:solidFill>
                          <a:latin typeface="Calibri"/>
                        </a:rPr>
                        <a:t>33 %</a:t>
                      </a:r>
                    </a:p>
                  </a:txBody>
                  <a:tcPr marL="54864" marR="54864" marT="22860" marB="22860" anchor="ctr">
                    <a:solidFill>
                      <a:srgbClr val="FFFFFF"/>
                    </a:solidFill>
                  </a:tcPr>
                </a:tc>
                <a:tc>
                  <a:txBody>
                    <a:bodyPr wrap="square"/>
                    <a:lstStyle/>
                    <a:p>
                      <a:pPr algn="r"/>
                      <a:r>
                        <a:rPr sz="900" b="0">
                          <a:solidFill>
                            <a:srgbClr val="14202E"/>
                          </a:solidFill>
                          <a:latin typeface="Calibri"/>
                        </a:rPr>
                        <a:t>20 %</a:t>
                      </a:r>
                    </a:p>
                  </a:txBody>
                  <a:tcPr marL="54864" marR="54864" marT="22860" marB="22860" anchor="ctr">
                    <a:solidFill>
                      <a:srgbClr val="FFFFFF"/>
                    </a:solidFill>
                  </a:tcPr>
                </a:tc>
                <a:tc>
                  <a:txBody>
                    <a:bodyPr wrap="square"/>
                    <a:lstStyle/>
                    <a:p>
                      <a:pPr algn="r"/>
                      <a:r>
                        <a:rPr sz="900" b="0">
                          <a:solidFill>
                            <a:srgbClr val="14202E"/>
                          </a:solidFill>
                          <a:latin typeface="Calibri"/>
                        </a:rPr>
                        <a:t>45 %</a:t>
                      </a:r>
                    </a:p>
                  </a:txBody>
                  <a:tcPr marL="54864" marR="54864" marT="22860" marB="22860" anchor="ctr">
                    <a:solidFill>
                      <a:srgbClr val="FFFFFF"/>
                    </a:solidFill>
                  </a:tcPr>
                </a:tc>
              </a:tr>
              <a:tr h="246888">
                <a:tc>
                  <a:txBody>
                    <a:bodyPr wrap="square"/>
                    <a:lstStyle/>
                    <a:p>
                      <a:r>
                        <a:rPr sz="900" b="0">
                          <a:solidFill>
                            <a:srgbClr val="14202E"/>
                          </a:solidFill>
                          <a:latin typeface="Calibri"/>
                        </a:rPr>
                        <a:t>Formulaire FR</a:t>
                      </a:r>
                    </a:p>
                  </a:txBody>
                  <a:tcPr marL="54864" marR="54864" marT="22860" marB="22860" anchor="ctr">
                    <a:solidFill>
                      <a:srgbClr val="FAFBFC"/>
                    </a:solidFill>
                  </a:tcPr>
                </a:tc>
                <a:tc>
                  <a:txBody>
                    <a:bodyPr wrap="square"/>
                    <a:lstStyle/>
                    <a:p>
                      <a:pPr algn="r"/>
                      <a:r>
                        <a:rPr sz="900" b="0">
                          <a:solidFill>
                            <a:srgbClr val="14202E"/>
                          </a:solidFill>
                          <a:latin typeface="Calibri"/>
                        </a:rPr>
                        <a:t>79 · 21 %</a:t>
                      </a:r>
                    </a:p>
                  </a:txBody>
                  <a:tcPr marL="54864" marR="54864" marT="22860" marB="22860" anchor="ctr">
                    <a:solidFill>
                      <a:srgbClr val="FAFBFC"/>
                    </a:solidFill>
                  </a:tcPr>
                </a:tc>
                <a:tc>
                  <a:txBody>
                    <a:bodyPr wrap="square"/>
                    <a:lstStyle/>
                    <a:p>
                      <a:pPr algn="r"/>
                      <a:r>
                        <a:rPr sz="900" b="0">
                          <a:solidFill>
                            <a:srgbClr val="14202E"/>
                          </a:solidFill>
                          <a:latin typeface="Calibri"/>
                        </a:rPr>
                        <a:t>22 %</a:t>
                      </a:r>
                    </a:p>
                  </a:txBody>
                  <a:tcPr marL="54864" marR="54864" marT="22860" marB="22860" anchor="ctr">
                    <a:solidFill>
                      <a:srgbClr val="FAFBFC"/>
                    </a:solidFill>
                  </a:tcPr>
                </a:tc>
                <a:tc>
                  <a:txBody>
                    <a:bodyPr wrap="square"/>
                    <a:lstStyle/>
                    <a:p>
                      <a:pPr algn="r"/>
                      <a:r>
                        <a:rPr sz="900" b="0">
                          <a:solidFill>
                            <a:srgbClr val="14202E"/>
                          </a:solidFill>
                          <a:latin typeface="Calibri"/>
                        </a:rPr>
                        <a:t>20 %</a:t>
                      </a:r>
                    </a:p>
                  </a:txBody>
                  <a:tcPr marL="54864" marR="54864" marT="22860" marB="22860" anchor="ctr">
                    <a:solidFill>
                      <a:srgbClr val="FAFBFC"/>
                    </a:solidFill>
                  </a:tcPr>
                </a:tc>
                <a:tc>
                  <a:txBody>
                    <a:bodyPr wrap="square"/>
                    <a:lstStyle/>
                    <a:p>
                      <a:pPr algn="r"/>
                      <a:r>
                        <a:rPr sz="900" b="0">
                          <a:solidFill>
                            <a:srgbClr val="14202E"/>
                          </a:solidFill>
                          <a:latin typeface="Calibri"/>
                        </a:rPr>
                        <a:t>11 %</a:t>
                      </a:r>
                    </a:p>
                  </a:txBody>
                  <a:tcPr marL="54864" marR="54864" marT="22860" marB="22860" anchor="ctr">
                    <a:solidFill>
                      <a:srgbClr val="FAFBFC"/>
                    </a:solidFill>
                  </a:tcPr>
                </a:tc>
                <a:tc>
                  <a:txBody>
                    <a:bodyPr wrap="square"/>
                    <a:lstStyle/>
                    <a:p>
                      <a:pPr algn="r"/>
                      <a:r>
                        <a:rPr sz="900" b="0">
                          <a:solidFill>
                            <a:srgbClr val="14202E"/>
                          </a:solidFill>
                          <a:latin typeface="Calibri"/>
                        </a:rPr>
                        <a:t>49 %</a:t>
                      </a:r>
                    </a:p>
                  </a:txBody>
                  <a:tcPr marL="54864" marR="54864" marT="22860" marB="22860" anchor="ctr">
                    <a:solidFill>
                      <a:srgbClr val="FAFBFC"/>
                    </a:solidFill>
                  </a:tcPr>
                </a:tc>
              </a:tr>
              <a:tr h="246888">
                <a:tc>
                  <a:txBody>
                    <a:bodyPr wrap="square"/>
                    <a:lstStyle/>
                    <a:p>
                      <a:r>
                        <a:rPr sz="900" b="0">
                          <a:solidFill>
                            <a:srgbClr val="14202E"/>
                          </a:solidFill>
                          <a:latin typeface="Calibri"/>
                        </a:rPr>
                        <a:t>Formulaire EN</a:t>
                      </a:r>
                    </a:p>
                  </a:txBody>
                  <a:tcPr marL="54864" marR="54864" marT="22860" marB="22860" anchor="ctr">
                    <a:solidFill>
                      <a:srgbClr val="FFFFFF"/>
                    </a:solidFill>
                  </a:tcPr>
                </a:tc>
                <a:tc>
                  <a:txBody>
                    <a:bodyPr wrap="square"/>
                    <a:lstStyle/>
                    <a:p>
                      <a:pPr algn="r"/>
                      <a:r>
                        <a:rPr sz="900" b="0">
                          <a:solidFill>
                            <a:srgbClr val="14202E"/>
                          </a:solidFill>
                          <a:latin typeface="Calibri"/>
                        </a:rPr>
                        <a:t>88 · 12 %</a:t>
                      </a:r>
                    </a:p>
                  </a:txBody>
                  <a:tcPr marL="54864" marR="54864" marT="22860" marB="22860" anchor="ctr">
                    <a:solidFill>
                      <a:srgbClr val="FFFFFF"/>
                    </a:solidFill>
                  </a:tcPr>
                </a:tc>
                <a:tc>
                  <a:txBody>
                    <a:bodyPr wrap="square"/>
                    <a:lstStyle/>
                    <a:p>
                      <a:pPr algn="r"/>
                      <a:r>
                        <a:rPr sz="900" b="0">
                          <a:solidFill>
                            <a:srgbClr val="14202E"/>
                          </a:solidFill>
                          <a:latin typeface="Calibri"/>
                        </a:rPr>
                        <a:t>21 %</a:t>
                      </a:r>
                    </a:p>
                  </a:txBody>
                  <a:tcPr marL="54864" marR="54864" marT="22860" marB="22860" anchor="ctr">
                    <a:solidFill>
                      <a:srgbClr val="FFFFFF"/>
                    </a:solidFill>
                  </a:tcPr>
                </a:tc>
                <a:tc>
                  <a:txBody>
                    <a:bodyPr wrap="square"/>
                    <a:lstStyle/>
                    <a:p>
                      <a:pPr algn="r"/>
                      <a:r>
                        <a:rPr sz="900" b="0">
                          <a:solidFill>
                            <a:srgbClr val="14202E"/>
                          </a:solidFill>
                          <a:latin typeface="Calibri"/>
                        </a:rPr>
                        <a:t>45 %</a:t>
                      </a:r>
                    </a:p>
                  </a:txBody>
                  <a:tcPr marL="54864" marR="54864" marT="22860" marB="22860" anchor="ctr">
                    <a:solidFill>
                      <a:srgbClr val="FFFFFF"/>
                    </a:solidFill>
                  </a:tcPr>
                </a:tc>
                <a:tc>
                  <a:txBody>
                    <a:bodyPr wrap="square"/>
                    <a:lstStyle/>
                    <a:p>
                      <a:pPr algn="r"/>
                      <a:r>
                        <a:rPr sz="900" b="0">
                          <a:solidFill>
                            <a:srgbClr val="14202E"/>
                          </a:solidFill>
                          <a:latin typeface="Calibri"/>
                        </a:rPr>
                        <a:t>30 %</a:t>
                      </a:r>
                    </a:p>
                  </a:txBody>
                  <a:tcPr marL="54864" marR="54864" marT="22860" marB="22860" anchor="ctr">
                    <a:solidFill>
                      <a:srgbClr val="FFFFFF"/>
                    </a:solidFill>
                  </a:tcPr>
                </a:tc>
                <a:tc>
                  <a:txBody>
                    <a:bodyPr wrap="square"/>
                    <a:lstStyle/>
                    <a:p>
                      <a:pPr algn="r"/>
                      <a:r>
                        <a:rPr sz="900" b="0">
                          <a:solidFill>
                            <a:srgbClr val="14202E"/>
                          </a:solidFill>
                          <a:latin typeface="Calibri"/>
                        </a:rPr>
                        <a:t>24 %</a:t>
                      </a:r>
                    </a:p>
                  </a:txBody>
                  <a:tcPr marL="54864" marR="54864" marT="22860" marB="22860" anchor="ctr">
                    <a:solidFill>
                      <a:srgbClr val="FFFFFF"/>
                    </a:solidFill>
                  </a:tcPr>
                </a:tc>
              </a:tr>
              <a:tr h="246888">
                <a:tc>
                  <a:txBody>
                    <a:bodyPr wrap="square"/>
                    <a:lstStyle/>
                    <a:p>
                      <a:r>
                        <a:rPr sz="900" b="0">
                          <a:solidFill>
                            <a:srgbClr val="14202E"/>
                          </a:solidFill>
                          <a:latin typeface="Calibri"/>
                        </a:rPr>
                        <a:t>Formulaire RU</a:t>
                      </a:r>
                    </a:p>
                  </a:txBody>
                  <a:tcPr marL="54864" marR="54864" marT="22860" marB="22860" anchor="ctr">
                    <a:solidFill>
                      <a:srgbClr val="FAFBFC"/>
                    </a:solidFill>
                  </a:tcPr>
                </a:tc>
                <a:tc>
                  <a:txBody>
                    <a:bodyPr wrap="square"/>
                    <a:lstStyle/>
                    <a:p>
                      <a:pPr algn="r"/>
                      <a:r>
                        <a:rPr sz="900" b="0">
                          <a:solidFill>
                            <a:srgbClr val="14202E"/>
                          </a:solidFill>
                          <a:latin typeface="Calibri"/>
                        </a:rPr>
                        <a:t>85 · 15 %</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r>
            </a:tbl>
          </a:graphicData>
        </a:graphic>
      </p:graphicFrame>
      <p:sp>
        <p:nvSpPr>
          <p:cNvPr id="10" name="Rounded Rectangle 9"/>
          <p:cNvSpPr/>
          <p:nvPr/>
        </p:nvSpPr>
        <p:spPr>
          <a:xfrm>
            <a:off x="7772400" y="1554480"/>
            <a:ext cx="3886200" cy="47548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691640"/>
            <a:ext cx="3611880" cy="4480560"/>
          </a:xfrm>
          <a:prstGeom prst="rect">
            <a:avLst/>
          </a:prstGeom>
          <a:noFill/>
        </p:spPr>
        <p:txBody>
          <a:bodyPr wrap="square" lIns="45720" rIns="45720" tIns="27432" bIns="27432">
            <a:spAutoFit/>
          </a:bodyPr>
          <a:lstStyle/>
          <a:p>
            <a:pPr>
              <a:spcAft>
                <a:spcPts val="400"/>
              </a:spcAft>
            </a:pPr>
            <a:r>
              <a:rPr sz="1300" b="0">
                <a:solidFill>
                  <a:srgbClr val="14202E"/>
                </a:solidFill>
                <a:latin typeface="Calibri"/>
              </a:rPr>
              <a:t>Particulier ou entreprise, et ce que la personne demande dans son premier message. Les pourcentages d'intention portent uniquement sur les messages analysés (ES, FR et le formulaire d'immigration EN).</a:t>
            </a:r>
          </a:p>
          <a:p>
            <a:pPr>
              <a:spcAft>
                <a:spcPts val="400"/>
              </a:spcAft>
            </a:pPr>
            <a:r>
              <a:rPr sz="1200" b="0">
                <a:solidFill>
                  <a:srgbClr val="556575"/>
                </a:solidFill>
                <a:latin typeface="Calibri"/>
              </a:rPr>
              <a:t>Message médian: ES 398, FR 331 caractères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Pays d'origine et nationalité</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6</a:t>
            </a:r>
          </a:p>
        </p:txBody>
      </p:sp>
      <p:graphicFrame>
        <p:nvGraphicFramePr>
          <p:cNvPr id="7" name="Chart 6"/>
          <p:cNvGraphicFramePr>
            <a:graphicFrameLocks noGrp="1"/>
          </p:cNvGraphicFramePr>
          <p:nvPr/>
        </p:nvGraphicFramePr>
        <p:xfrm>
          <a:off x="548640" y="1554480"/>
          <a:ext cx="3611880" cy="3108960"/>
        </p:xfrm>
        <a:graphic>
          <a:graphicData uri="http://schemas.openxmlformats.org/drawingml/2006/chart">
            <c:chart xmlns:c="http://schemas.openxmlformats.org/drawingml/2006/chart" r:id="rId2"/>
          </a:graphicData>
        </a:graphic>
      </p:graphicFrame>
      <p:sp>
        <p:nvSpPr>
          <p:cNvPr id="8" name="TextBox 7"/>
          <p:cNvSpPr txBox="1"/>
          <p:nvPr/>
        </p:nvSpPr>
        <p:spPr>
          <a:xfrm>
            <a:off x="548640" y="4663440"/>
            <a:ext cx="3611880" cy="54864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74 % vivent en Espagne · 26 % hors d'Espagne · 36 sans donnée</a:t>
            </a:r>
          </a:p>
        </p:txBody>
      </p:sp>
      <p:graphicFrame>
        <p:nvGraphicFramePr>
          <p:cNvPr id="9" name="Chart 8"/>
          <p:cNvGraphicFramePr>
            <a:graphicFrameLocks noGrp="1"/>
          </p:cNvGraphicFramePr>
          <p:nvPr/>
        </p:nvGraphicFramePr>
        <p:xfrm>
          <a:off x="4297679" y="1554480"/>
          <a:ext cx="3611880" cy="3108960"/>
        </p:xfrm>
        <a:graphic>
          <a:graphicData uri="http://schemas.openxmlformats.org/drawingml/2006/chart">
            <c:chart xmlns:c="http://schemas.openxmlformats.org/drawingml/2006/chart" r:id="rId3"/>
          </a:graphicData>
        </a:graphic>
      </p:graphicFrame>
      <p:sp>
        <p:nvSpPr>
          <p:cNvPr id="10" name="TextBox 9"/>
          <p:cNvSpPr txBox="1"/>
          <p:nvPr/>
        </p:nvSpPr>
        <p:spPr>
          <a:xfrm>
            <a:off x="4297679" y="4663440"/>
            <a:ext cx="3611880" cy="54864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21 % vivent en Espagne · 79 % hors d'Espagne · 102 sans donnée</a:t>
            </a:r>
          </a:p>
        </p:txBody>
      </p:sp>
      <p:graphicFrame>
        <p:nvGraphicFramePr>
          <p:cNvPr id="11" name="Chart 10"/>
          <p:cNvGraphicFramePr>
            <a:graphicFrameLocks noGrp="1"/>
          </p:cNvGraphicFramePr>
          <p:nvPr/>
        </p:nvGraphicFramePr>
        <p:xfrm>
          <a:off x="8046719" y="1554480"/>
          <a:ext cx="3611880" cy="3108960"/>
        </p:xfrm>
        <a:graphic>
          <a:graphicData uri="http://schemas.openxmlformats.org/drawingml/2006/chart">
            <c:chart xmlns:c="http://schemas.openxmlformats.org/drawingml/2006/chart" r:id="rId4"/>
          </a:graphicData>
        </a:graphic>
      </p:graphicFrame>
      <p:sp>
        <p:nvSpPr>
          <p:cNvPr id="12" name="TextBox 11"/>
          <p:cNvSpPr txBox="1"/>
          <p:nvPr/>
        </p:nvSpPr>
        <p:spPr>
          <a:xfrm>
            <a:off x="8046719" y="4663440"/>
            <a:ext cx="3611880" cy="54864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61 % vivent en Espagne · 39 % hors d'Espagne · 92 sans donnée</a:t>
            </a:r>
          </a:p>
        </p:txBody>
      </p:sp>
      <p:sp>
        <p:nvSpPr>
          <p:cNvPr id="13" name="TextBox 12"/>
          <p:cNvSpPr txBox="1"/>
          <p:nvPr/>
        </p:nvSpPr>
        <p:spPr>
          <a:xfrm>
            <a:off x="548640" y="5257800"/>
            <a:ext cx="11064240" cy="118872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Aucun formulaire ne demande le pays ni la nationalité. Le pays est déduit de l'indicatif téléphonique (seul le code pays est conservé), de la liste « Localisation » des formulaires d'immigration et du pays de résidence quand le texte le précise. La nationalité n'est enregistrée que si la personne la déclare (par exemple « je suis français ») : c'est le cas dans 25 % des messages analysés, donc les chiffres de nationalité sont un plancher et non le total.</a:t>
            </a:r>
          </a:p>
          <a:p>
            <a:pPr>
              <a:spcAft>
                <a:spcPts val="400"/>
              </a:spcAft>
            </a:pPr>
            <a:r>
              <a:rPr sz="1000" b="0">
                <a:solidFill>
                  <a:srgbClr val="556575"/>
                </a:solidFill>
                <a:latin typeface="Calibri"/>
              </a:rPr>
              <a:t>+1 et +7 sont des indicatifs partagés (États-Unis/Canada, Russie/Kazakhstan). Canal visible dans l'adresse de la page : 16 demandes sont arrivées avec des paramètres ChatGPT et 27 depuis des annonces Google ; le reste ne laisse aucune trace dans l'adresse.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PAYS D'ORIGINE ET NATIONALITÉ</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Nationalités déclarées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7</a:t>
            </a:r>
          </a:p>
        </p:txBody>
      </p:sp>
      <p:graphicFrame>
        <p:nvGraphicFramePr>
          <p:cNvPr id="7" name="Chart 6"/>
          <p:cNvGraphicFramePr>
            <a:graphicFrameLocks noGrp="1"/>
          </p:cNvGraphicFramePr>
          <p:nvPr/>
        </p:nvGraphicFramePr>
        <p:xfrm>
          <a:off x="548640" y="1554480"/>
          <a:ext cx="3611880" cy="3566160"/>
        </p:xfrm>
        <a:graphic>
          <a:graphicData uri="http://schemas.openxmlformats.org/drawingml/2006/chart">
            <c:chart xmlns:c="http://schemas.openxmlformats.org/drawingml/2006/chart" r:id="rId2"/>
          </a:graphicData>
        </a:graphic>
      </p:graphicFrame>
      <p:sp>
        <p:nvSpPr>
          <p:cNvPr id="8" name="TextBox 7"/>
          <p:cNvSpPr txBox="1"/>
          <p:nvPr/>
        </p:nvSpPr>
        <p:spPr>
          <a:xfrm>
            <a:off x="548640" y="5120640"/>
            <a:ext cx="3611880" cy="36576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119 / 464 messages déclarent une nationalité</a:t>
            </a:r>
          </a:p>
        </p:txBody>
      </p:sp>
      <p:graphicFrame>
        <p:nvGraphicFramePr>
          <p:cNvPr id="9" name="Chart 8"/>
          <p:cNvGraphicFramePr>
            <a:graphicFrameLocks noGrp="1"/>
          </p:cNvGraphicFramePr>
          <p:nvPr/>
        </p:nvGraphicFramePr>
        <p:xfrm>
          <a:off x="4297679" y="1554480"/>
          <a:ext cx="3611880" cy="3566160"/>
        </p:xfrm>
        <a:graphic>
          <a:graphicData uri="http://schemas.openxmlformats.org/drawingml/2006/chart">
            <c:chart xmlns:c="http://schemas.openxmlformats.org/drawingml/2006/chart" r:id="rId3"/>
          </a:graphicData>
        </a:graphic>
      </p:graphicFrame>
      <p:sp>
        <p:nvSpPr>
          <p:cNvPr id="10" name="TextBox 9"/>
          <p:cNvSpPr txBox="1"/>
          <p:nvPr/>
        </p:nvSpPr>
        <p:spPr>
          <a:xfrm>
            <a:off x="4297679" y="5120640"/>
            <a:ext cx="3611880" cy="36576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51 / 244 messages déclarent une nationalité</a:t>
            </a:r>
          </a:p>
        </p:txBody>
      </p:sp>
      <p:graphicFrame>
        <p:nvGraphicFramePr>
          <p:cNvPr id="11" name="Chart 10"/>
          <p:cNvGraphicFramePr>
            <a:graphicFrameLocks noGrp="1"/>
          </p:cNvGraphicFramePr>
          <p:nvPr/>
        </p:nvGraphicFramePr>
        <p:xfrm>
          <a:off x="8046719" y="1554480"/>
          <a:ext cx="3611880" cy="3566160"/>
        </p:xfrm>
        <a:graphic>
          <a:graphicData uri="http://schemas.openxmlformats.org/drawingml/2006/chart">
            <c:chart xmlns:c="http://schemas.openxmlformats.org/drawingml/2006/chart" r:id="rId4"/>
          </a:graphicData>
        </a:graphic>
      </p:graphicFrame>
      <p:sp>
        <p:nvSpPr>
          <p:cNvPr id="12" name="TextBox 11"/>
          <p:cNvSpPr txBox="1"/>
          <p:nvPr/>
        </p:nvSpPr>
        <p:spPr>
          <a:xfrm>
            <a:off x="8046719" y="5120640"/>
            <a:ext cx="3611880" cy="36576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16 / 33 messages déclarent une nationalité</a:t>
            </a:r>
          </a:p>
        </p:txBody>
      </p:sp>
      <p:sp>
        <p:nvSpPr>
          <p:cNvPr id="13" name="TextBox 12"/>
          <p:cNvSpPr txBox="1"/>
          <p:nvPr/>
        </p:nvSpPr>
        <p:spPr>
          <a:xfrm>
            <a:off x="548640" y="5577840"/>
            <a:ext cx="11064240" cy="82296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Nationalité des proches mentionnés: Espagne 14 · France 9 · Royaume-Uni 5 · Suisse 3 · Belgique 2 · Canada 2 · Venezuela 1 · Allemagne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400" b="1">
                <a:solidFill>
                  <a:srgbClr val="14202E"/>
                </a:solidFill>
                <a:latin typeface="Georgia"/>
              </a:rPr>
              <a:t>Les six domaines : ce que dit la liste déroulante et ce que dit le texte</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8</a:t>
            </a:r>
          </a:p>
        </p:txBody>
      </p:sp>
      <p:graphicFrame>
        <p:nvGraphicFramePr>
          <p:cNvPr id="7" name="Table 6"/>
          <p:cNvGraphicFramePr>
            <a:graphicFrameLocks noGrp="1"/>
          </p:cNvGraphicFramePr>
          <p:nvPr/>
        </p:nvGraphicFramePr>
        <p:xfrm>
          <a:off x="548640" y="1600200"/>
          <a:ext cx="11064237" cy="3072384"/>
        </p:xfrm>
        <a:graphic>
          <a:graphicData uri="http://schemas.openxmlformats.org/drawingml/2006/table">
            <a:tbl>
              <a:tblPr firstRow="1" bandRow="1">
                <a:tableStyleId>{5C22544A-7EE6-4342-B048-85BDC9FD1C3A}</a:tableStyleId>
              </a:tblPr>
              <a:tblGrid>
                <a:gridCol w="3188001"/>
                <a:gridCol w="1312706"/>
                <a:gridCol w="1312706"/>
                <a:gridCol w="1312706"/>
                <a:gridCol w="1312706"/>
                <a:gridCol w="1312706"/>
                <a:gridCol w="1312706"/>
              </a:tblGrid>
              <a:tr h="384048">
                <a:tc>
                  <a:txBody>
                    <a:bodyPr wrap="square"/>
                    <a:lstStyle/>
                    <a:p>
                      <a:r>
                        <a:rPr sz="1100" b="1">
                          <a:solidFill>
                            <a:srgbClr val="FFFFFF"/>
                          </a:solidFill>
                          <a:latin typeface="Calibri"/>
                        </a:rPr>
                        <a:t/>
                      </a:r>
                    </a:p>
                  </a:txBody>
                  <a:tcPr marL="54864" marR="54864" marT="22860" marB="22860" anchor="ctr">
                    <a:solidFill>
                      <a:srgbClr val="0B5C7A"/>
                    </a:solidFill>
                  </a:tcPr>
                </a:tc>
                <a:tc>
                  <a:txBody>
                    <a:bodyPr wrap="square"/>
                    <a:lstStyle/>
                    <a:p>
                      <a:pPr algn="r"/>
                      <a:r>
                        <a:rPr sz="1100" b="1">
                          <a:solidFill>
                            <a:srgbClr val="FFFFFF"/>
                          </a:solidFill>
                          <a:latin typeface="Calibri"/>
                        </a:rPr>
                        <a:t>ES Liste</a:t>
                      </a:r>
                    </a:p>
                  </a:txBody>
                  <a:tcPr marL="54864" marR="54864" marT="22860" marB="22860" anchor="ctr">
                    <a:solidFill>
                      <a:srgbClr val="0B5C7A"/>
                    </a:solidFill>
                  </a:tcPr>
                </a:tc>
                <a:tc>
                  <a:txBody>
                    <a:bodyPr wrap="square"/>
                    <a:lstStyle/>
                    <a:p>
                      <a:pPr algn="r"/>
                      <a:r>
                        <a:rPr sz="1100" b="1">
                          <a:solidFill>
                            <a:srgbClr val="FFFFFF"/>
                          </a:solidFill>
                          <a:latin typeface="Calibri"/>
                        </a:rPr>
                        <a:t>ES Texte</a:t>
                      </a:r>
                    </a:p>
                  </a:txBody>
                  <a:tcPr marL="54864" marR="54864" marT="22860" marB="22860" anchor="ctr">
                    <a:solidFill>
                      <a:srgbClr val="0B5C7A"/>
                    </a:solidFill>
                  </a:tcPr>
                </a:tc>
                <a:tc>
                  <a:txBody>
                    <a:bodyPr wrap="square"/>
                    <a:lstStyle/>
                    <a:p>
                      <a:pPr algn="r"/>
                      <a:r>
                        <a:rPr sz="1100" b="1">
                          <a:solidFill>
                            <a:srgbClr val="FFFFFF"/>
                          </a:solidFill>
                          <a:latin typeface="Calibri"/>
                        </a:rPr>
                        <a:t>FR Liste</a:t>
                      </a:r>
                    </a:p>
                  </a:txBody>
                  <a:tcPr marL="54864" marR="54864" marT="22860" marB="22860" anchor="ctr">
                    <a:solidFill>
                      <a:srgbClr val="0B5C7A"/>
                    </a:solidFill>
                  </a:tcPr>
                </a:tc>
                <a:tc>
                  <a:txBody>
                    <a:bodyPr wrap="square"/>
                    <a:lstStyle/>
                    <a:p>
                      <a:pPr algn="r"/>
                      <a:r>
                        <a:rPr sz="1100" b="1">
                          <a:solidFill>
                            <a:srgbClr val="FFFFFF"/>
                          </a:solidFill>
                          <a:latin typeface="Calibri"/>
                        </a:rPr>
                        <a:t>FR Texte</a:t>
                      </a:r>
                    </a:p>
                  </a:txBody>
                  <a:tcPr marL="54864" marR="54864" marT="22860" marB="22860" anchor="ctr">
                    <a:solidFill>
                      <a:srgbClr val="0B5C7A"/>
                    </a:solidFill>
                  </a:tcPr>
                </a:tc>
                <a:tc>
                  <a:txBody>
                    <a:bodyPr wrap="square"/>
                    <a:lstStyle/>
                    <a:p>
                      <a:pPr algn="r"/>
                      <a:r>
                        <a:rPr sz="1100" b="1">
                          <a:solidFill>
                            <a:srgbClr val="FFFFFF"/>
                          </a:solidFill>
                          <a:latin typeface="Calibri"/>
                        </a:rPr>
                        <a:t>EN Liste</a:t>
                      </a:r>
                    </a:p>
                  </a:txBody>
                  <a:tcPr marL="54864" marR="54864" marT="22860" marB="22860" anchor="ctr">
                    <a:solidFill>
                      <a:srgbClr val="0B5C7A"/>
                    </a:solidFill>
                  </a:tcPr>
                </a:tc>
                <a:tc>
                  <a:txBody>
                    <a:bodyPr wrap="square"/>
                    <a:lstStyle/>
                    <a:p>
                      <a:pPr algn="r"/>
                      <a:r>
                        <a:rPr sz="1100" b="1">
                          <a:solidFill>
                            <a:srgbClr val="FFFFFF"/>
                          </a:solidFill>
                          <a:latin typeface="Calibri"/>
                        </a:rPr>
                        <a:t>RU Liste</a:t>
                      </a:r>
                    </a:p>
                  </a:txBody>
                  <a:tcPr marL="54864" marR="54864" marT="22860" marB="22860" anchor="ctr">
                    <a:solidFill>
                      <a:srgbClr val="0B5C7A"/>
                    </a:solidFill>
                  </a:tcPr>
                </a:tc>
              </a:tr>
              <a:tr h="384048">
                <a:tc>
                  <a:txBody>
                    <a:bodyPr wrap="square"/>
                    <a:lstStyle/>
                    <a:p>
                      <a:r>
                        <a:rPr sz="1100" b="0">
                          <a:solidFill>
                            <a:srgbClr val="14202E"/>
                          </a:solidFill>
                          <a:latin typeface="Calibri"/>
                        </a:rPr>
                        <a:t>Installation et vie en Espagne (droit des étrangers)</a:t>
                      </a:r>
                    </a:p>
                  </a:txBody>
                  <a:tcPr marL="54864" marR="54864" marT="22860" marB="22860" anchor="ctr">
                    <a:solidFill>
                      <a:srgbClr val="FFFFFF"/>
                    </a:solidFill>
                  </a:tcPr>
                </a:tc>
                <a:tc>
                  <a:txBody>
                    <a:bodyPr wrap="square"/>
                    <a:lstStyle/>
                    <a:p>
                      <a:pPr algn="r"/>
                      <a:r>
                        <a:rPr sz="1100" b="0">
                          <a:solidFill>
                            <a:srgbClr val="14202E"/>
                          </a:solidFill>
                          <a:latin typeface="Calibri"/>
                        </a:rPr>
                        <a:t>97 (40 %)</a:t>
                      </a:r>
                    </a:p>
                  </a:txBody>
                  <a:tcPr marL="54864" marR="54864" marT="22860" marB="22860" anchor="ctr">
                    <a:solidFill>
                      <a:srgbClr val="FFFFFF"/>
                    </a:solidFill>
                  </a:tcPr>
                </a:tc>
                <a:tc>
                  <a:txBody>
                    <a:bodyPr wrap="square"/>
                    <a:lstStyle/>
                    <a:p>
                      <a:pPr algn="r"/>
                      <a:r>
                        <a:rPr sz="1100" b="0">
                          <a:solidFill>
                            <a:srgbClr val="14202E"/>
                          </a:solidFill>
                          <a:latin typeface="Calibri"/>
                        </a:rPr>
                        <a:t>80 (33 %)</a:t>
                      </a:r>
                    </a:p>
                  </a:txBody>
                  <a:tcPr marL="54864" marR="54864" marT="22860" marB="22860" anchor="ctr">
                    <a:solidFill>
                      <a:srgbClr val="FFFFFF"/>
                    </a:solidFill>
                  </a:tcPr>
                </a:tc>
                <a:tc>
                  <a:txBody>
                    <a:bodyPr wrap="square"/>
                    <a:lstStyle/>
                    <a:p>
                      <a:pPr algn="r"/>
                      <a:r>
                        <a:rPr sz="1100" b="0">
                          <a:solidFill>
                            <a:srgbClr val="14202E"/>
                          </a:solidFill>
                          <a:latin typeface="Calibri"/>
                        </a:rPr>
                        <a:t>132 (27 %)</a:t>
                      </a:r>
                    </a:p>
                  </a:txBody>
                  <a:tcPr marL="54864" marR="54864" marT="22860" marB="22860" anchor="ctr">
                    <a:solidFill>
                      <a:srgbClr val="FFFFFF"/>
                    </a:solidFill>
                  </a:tcPr>
                </a:tc>
                <a:tc>
                  <a:txBody>
                    <a:bodyPr wrap="square"/>
                    <a:lstStyle/>
                    <a:p>
                      <a:pPr algn="r"/>
                      <a:r>
                        <a:rPr sz="1100" b="0">
                          <a:solidFill>
                            <a:srgbClr val="14202E"/>
                          </a:solidFill>
                          <a:latin typeface="Calibri"/>
                        </a:rPr>
                        <a:t>146 (31 %)</a:t>
                      </a:r>
                    </a:p>
                  </a:txBody>
                  <a:tcPr marL="54864" marR="54864" marT="22860" marB="22860" anchor="ctr">
                    <a:solidFill>
                      <a:srgbClr val="FFFFFF"/>
                    </a:solidFill>
                  </a:tcPr>
                </a:tc>
                <a:tc>
                  <a:txBody>
                    <a:bodyPr wrap="square"/>
                    <a:lstStyle/>
                    <a:p>
                      <a:pPr algn="r"/>
                      <a:r>
                        <a:rPr sz="1100" b="0">
                          <a:solidFill>
                            <a:srgbClr val="14202E"/>
                          </a:solidFill>
                          <a:latin typeface="Calibri"/>
                        </a:rPr>
                        <a:t>193 (51 %)</a:t>
                      </a:r>
                    </a:p>
                  </a:txBody>
                  <a:tcPr marL="54864" marR="54864" marT="22860" marB="22860" anchor="ctr">
                    <a:solidFill>
                      <a:srgbClr val="FFFFFF"/>
                    </a:solidFill>
                  </a:tcPr>
                </a:tc>
                <a:tc>
                  <a:txBody>
                    <a:bodyPr wrap="square"/>
                    <a:lstStyle/>
                    <a:p>
                      <a:pPr algn="r"/>
                      <a:r>
                        <a:rPr sz="1100" b="0">
                          <a:solidFill>
                            <a:srgbClr val="14202E"/>
                          </a:solidFill>
                          <a:latin typeface="Calibri"/>
                        </a:rPr>
                        <a:t>28 (43 %)</a:t>
                      </a:r>
                    </a:p>
                  </a:txBody>
                  <a:tcPr marL="54864" marR="54864" marT="22860" marB="22860" anchor="ctr">
                    <a:solidFill>
                      <a:srgbClr val="FFFFFF"/>
                    </a:solidFill>
                  </a:tcPr>
                </a:tc>
              </a:tr>
              <a:tr h="384048">
                <a:tc>
                  <a:txBody>
                    <a:bodyPr wrap="square"/>
                    <a:lstStyle/>
                    <a:p>
                      <a:r>
                        <a:rPr sz="1100" b="0">
                          <a:solidFill>
                            <a:srgbClr val="14202E"/>
                          </a:solidFill>
                          <a:latin typeface="Calibri"/>
                        </a:rPr>
                        <a:t>Fiscalité et comptabilité</a:t>
                      </a:r>
                    </a:p>
                  </a:txBody>
                  <a:tcPr marL="54864" marR="54864" marT="22860" marB="22860" anchor="ctr">
                    <a:solidFill>
                      <a:srgbClr val="FAFBFC"/>
                    </a:solidFill>
                  </a:tcPr>
                </a:tc>
                <a:tc>
                  <a:txBody>
                    <a:bodyPr wrap="square"/>
                    <a:lstStyle/>
                    <a:p>
                      <a:pPr algn="r"/>
                      <a:r>
                        <a:rPr sz="1100" b="0">
                          <a:solidFill>
                            <a:srgbClr val="14202E"/>
                          </a:solidFill>
                          <a:latin typeface="Calibri"/>
                        </a:rPr>
                        <a:t>50 (20 %)</a:t>
                      </a:r>
                    </a:p>
                  </a:txBody>
                  <a:tcPr marL="54864" marR="54864" marT="22860" marB="22860" anchor="ctr">
                    <a:solidFill>
                      <a:srgbClr val="FAFBFC"/>
                    </a:solidFill>
                  </a:tcPr>
                </a:tc>
                <a:tc>
                  <a:txBody>
                    <a:bodyPr wrap="square"/>
                    <a:lstStyle/>
                    <a:p>
                      <a:pPr algn="r"/>
                      <a:r>
                        <a:rPr sz="1100" b="0">
                          <a:solidFill>
                            <a:srgbClr val="14202E"/>
                          </a:solidFill>
                          <a:latin typeface="Calibri"/>
                        </a:rPr>
                        <a:t>50 (20 %)</a:t>
                      </a:r>
                    </a:p>
                  </a:txBody>
                  <a:tcPr marL="54864" marR="54864" marT="22860" marB="22860" anchor="ctr">
                    <a:solidFill>
                      <a:srgbClr val="FAFBFC"/>
                    </a:solidFill>
                  </a:tcPr>
                </a:tc>
                <a:tc>
                  <a:txBody>
                    <a:bodyPr wrap="square"/>
                    <a:lstStyle/>
                    <a:p>
                      <a:pPr algn="r"/>
                      <a:r>
                        <a:rPr sz="1100" b="0">
                          <a:solidFill>
                            <a:srgbClr val="14202E"/>
                          </a:solidFill>
                          <a:latin typeface="Calibri"/>
                        </a:rPr>
                        <a:t>100 (21 %)</a:t>
                      </a:r>
                    </a:p>
                  </a:txBody>
                  <a:tcPr marL="54864" marR="54864" marT="22860" marB="22860" anchor="ctr">
                    <a:solidFill>
                      <a:srgbClr val="FAFBFC"/>
                    </a:solidFill>
                  </a:tcPr>
                </a:tc>
                <a:tc>
                  <a:txBody>
                    <a:bodyPr wrap="square"/>
                    <a:lstStyle/>
                    <a:p>
                      <a:pPr algn="r"/>
                      <a:r>
                        <a:rPr sz="1100" b="0">
                          <a:solidFill>
                            <a:srgbClr val="14202E"/>
                          </a:solidFill>
                          <a:latin typeface="Calibri"/>
                        </a:rPr>
                        <a:t>96 (21 %)</a:t>
                      </a:r>
                    </a:p>
                  </a:txBody>
                  <a:tcPr marL="54864" marR="54864" marT="22860" marB="22860" anchor="ctr">
                    <a:solidFill>
                      <a:srgbClr val="FAFBFC"/>
                    </a:solidFill>
                  </a:tcPr>
                </a:tc>
                <a:tc>
                  <a:txBody>
                    <a:bodyPr wrap="square"/>
                    <a:lstStyle/>
                    <a:p>
                      <a:pPr algn="r"/>
                      <a:r>
                        <a:rPr sz="1100" b="0">
                          <a:solidFill>
                            <a:srgbClr val="14202E"/>
                          </a:solidFill>
                          <a:latin typeface="Calibri"/>
                        </a:rPr>
                        <a:t>113 (30 %)</a:t>
                      </a:r>
                    </a:p>
                  </a:txBody>
                  <a:tcPr marL="54864" marR="54864" marT="22860" marB="22860" anchor="ctr">
                    <a:solidFill>
                      <a:srgbClr val="FAFBFC"/>
                    </a:solidFill>
                  </a:tcPr>
                </a:tc>
                <a:tc>
                  <a:txBody>
                    <a:bodyPr wrap="square"/>
                    <a:lstStyle/>
                    <a:p>
                      <a:pPr algn="r"/>
                      <a:r>
                        <a:rPr sz="1100" b="0">
                          <a:solidFill>
                            <a:srgbClr val="14202E"/>
                          </a:solidFill>
                          <a:latin typeface="Calibri"/>
                        </a:rPr>
                        <a:t>14 (22 %)</a:t>
                      </a:r>
                    </a:p>
                  </a:txBody>
                  <a:tcPr marL="54864" marR="54864" marT="22860" marB="22860" anchor="ctr">
                    <a:solidFill>
                      <a:srgbClr val="FAFBFC"/>
                    </a:solidFill>
                  </a:tcPr>
                </a:tc>
              </a:tr>
              <a:tr h="384048">
                <a:tc>
                  <a:txBody>
                    <a:bodyPr wrap="square"/>
                    <a:lstStyle/>
                    <a:p>
                      <a:r>
                        <a:rPr sz="1100" b="0">
                          <a:solidFill>
                            <a:srgbClr val="14202E"/>
                          </a:solidFill>
                          <a:latin typeface="Calibri"/>
                        </a:rPr>
                        <a:t>Droit immobilier</a:t>
                      </a:r>
                    </a:p>
                  </a:txBody>
                  <a:tcPr marL="54864" marR="54864" marT="22860" marB="22860" anchor="ctr">
                    <a:solidFill>
                      <a:srgbClr val="FFFFFF"/>
                    </a:solidFill>
                  </a:tcPr>
                </a:tc>
                <a:tc>
                  <a:txBody>
                    <a:bodyPr wrap="square"/>
                    <a:lstStyle/>
                    <a:p>
                      <a:pPr algn="r"/>
                      <a:r>
                        <a:rPr sz="1100" b="0">
                          <a:solidFill>
                            <a:srgbClr val="14202E"/>
                          </a:solidFill>
                          <a:latin typeface="Calibri"/>
                        </a:rPr>
                        <a:t>34 (14 %)</a:t>
                      </a:r>
                    </a:p>
                  </a:txBody>
                  <a:tcPr marL="54864" marR="54864" marT="22860" marB="22860" anchor="ctr">
                    <a:solidFill>
                      <a:srgbClr val="FFFFFF"/>
                    </a:solidFill>
                  </a:tcPr>
                </a:tc>
                <a:tc>
                  <a:txBody>
                    <a:bodyPr wrap="square"/>
                    <a:lstStyle/>
                    <a:p>
                      <a:pPr algn="r"/>
                      <a:r>
                        <a:rPr sz="1100" b="0">
                          <a:solidFill>
                            <a:srgbClr val="14202E"/>
                          </a:solidFill>
                          <a:latin typeface="Calibri"/>
                        </a:rPr>
                        <a:t>46 (19 %)</a:t>
                      </a:r>
                    </a:p>
                  </a:txBody>
                  <a:tcPr marL="54864" marR="54864" marT="22860" marB="22860" anchor="ctr">
                    <a:solidFill>
                      <a:srgbClr val="FFFFFF"/>
                    </a:solidFill>
                  </a:tcPr>
                </a:tc>
                <a:tc>
                  <a:txBody>
                    <a:bodyPr wrap="square"/>
                    <a:lstStyle/>
                    <a:p>
                      <a:pPr algn="r"/>
                      <a:r>
                        <a:rPr sz="1100" b="0">
                          <a:solidFill>
                            <a:srgbClr val="14202E"/>
                          </a:solidFill>
                          <a:latin typeface="Calibri"/>
                        </a:rPr>
                        <a:t>63 (13 %)</a:t>
                      </a:r>
                    </a:p>
                  </a:txBody>
                  <a:tcPr marL="54864" marR="54864" marT="22860" marB="22860" anchor="ctr">
                    <a:solidFill>
                      <a:srgbClr val="FFFFFF"/>
                    </a:solidFill>
                  </a:tcPr>
                </a:tc>
                <a:tc>
                  <a:txBody>
                    <a:bodyPr wrap="square"/>
                    <a:lstStyle/>
                    <a:p>
                      <a:pPr algn="r"/>
                      <a:r>
                        <a:rPr sz="1100" b="0">
                          <a:solidFill>
                            <a:srgbClr val="14202E"/>
                          </a:solidFill>
                          <a:latin typeface="Calibri"/>
                        </a:rPr>
                        <a:t>78 (17 %)</a:t>
                      </a:r>
                    </a:p>
                  </a:txBody>
                  <a:tcPr marL="54864" marR="54864" marT="22860" marB="22860" anchor="ctr">
                    <a:solidFill>
                      <a:srgbClr val="FFFFFF"/>
                    </a:solidFill>
                  </a:tcPr>
                </a:tc>
                <a:tc>
                  <a:txBody>
                    <a:bodyPr wrap="square"/>
                    <a:lstStyle/>
                    <a:p>
                      <a:pPr algn="r"/>
                      <a:r>
                        <a:rPr sz="1100" b="0">
                          <a:solidFill>
                            <a:srgbClr val="14202E"/>
                          </a:solidFill>
                          <a:latin typeface="Calibri"/>
                        </a:rPr>
                        <a:t>20 (5 %)</a:t>
                      </a:r>
                    </a:p>
                  </a:txBody>
                  <a:tcPr marL="54864" marR="54864" marT="22860" marB="22860" anchor="ctr">
                    <a:solidFill>
                      <a:srgbClr val="FFFFFF"/>
                    </a:solidFill>
                  </a:tcPr>
                </a:tc>
                <a:tc>
                  <a:txBody>
                    <a:bodyPr wrap="square"/>
                    <a:lstStyle/>
                    <a:p>
                      <a:pPr algn="r"/>
                      <a:r>
                        <a:rPr sz="1100" b="0">
                          <a:solidFill>
                            <a:srgbClr val="14202E"/>
                          </a:solidFill>
                          <a:latin typeface="Calibri"/>
                        </a:rPr>
                        <a:t>1 (2 %)</a:t>
                      </a:r>
                    </a:p>
                  </a:txBody>
                  <a:tcPr marL="54864" marR="54864" marT="22860" marB="22860" anchor="ctr">
                    <a:solidFill>
                      <a:srgbClr val="FFFFFF"/>
                    </a:solidFill>
                  </a:tcPr>
                </a:tc>
              </a:tr>
              <a:tr h="384048">
                <a:tc>
                  <a:txBody>
                    <a:bodyPr wrap="square"/>
                    <a:lstStyle/>
                    <a:p>
                      <a:r>
                        <a:rPr sz="1100" b="0">
                          <a:solidFill>
                            <a:srgbClr val="14202E"/>
                          </a:solidFill>
                          <a:latin typeface="Calibri"/>
                        </a:rPr>
                        <a:t>Droit des successions et contentieux</a:t>
                      </a:r>
                    </a:p>
                  </a:txBody>
                  <a:tcPr marL="54864" marR="54864" marT="22860" marB="22860" anchor="ctr">
                    <a:solidFill>
                      <a:srgbClr val="FAFBFC"/>
                    </a:solidFill>
                  </a:tcPr>
                </a:tc>
                <a:tc>
                  <a:txBody>
                    <a:bodyPr wrap="square"/>
                    <a:lstStyle/>
                    <a:p>
                      <a:pPr algn="r"/>
                      <a:r>
                        <a:rPr sz="1100" b="0">
                          <a:solidFill>
                            <a:srgbClr val="14202E"/>
                          </a:solidFill>
                          <a:latin typeface="Calibri"/>
                        </a:rPr>
                        <a:t>16 (7 %)</a:t>
                      </a:r>
                    </a:p>
                  </a:txBody>
                  <a:tcPr marL="54864" marR="54864" marT="22860" marB="22860" anchor="ctr">
                    <a:solidFill>
                      <a:srgbClr val="FAFBFC"/>
                    </a:solidFill>
                  </a:tcPr>
                </a:tc>
                <a:tc>
                  <a:txBody>
                    <a:bodyPr wrap="square"/>
                    <a:lstStyle/>
                    <a:p>
                      <a:pPr algn="r"/>
                      <a:r>
                        <a:rPr sz="1100" b="0">
                          <a:solidFill>
                            <a:srgbClr val="14202E"/>
                          </a:solidFill>
                          <a:latin typeface="Calibri"/>
                        </a:rPr>
                        <a:t>19 (8 %)</a:t>
                      </a:r>
                    </a:p>
                  </a:txBody>
                  <a:tcPr marL="54864" marR="54864" marT="22860" marB="22860" anchor="ctr">
                    <a:solidFill>
                      <a:srgbClr val="FAFBFC"/>
                    </a:solidFill>
                  </a:tcPr>
                </a:tc>
                <a:tc>
                  <a:txBody>
                    <a:bodyPr wrap="square"/>
                    <a:lstStyle/>
                    <a:p>
                      <a:pPr algn="r"/>
                      <a:r>
                        <a:rPr sz="1100" b="0">
                          <a:solidFill>
                            <a:srgbClr val="14202E"/>
                          </a:solidFill>
                          <a:latin typeface="Calibri"/>
                        </a:rPr>
                        <a:t>26 (5 %)</a:t>
                      </a:r>
                    </a:p>
                  </a:txBody>
                  <a:tcPr marL="54864" marR="54864" marT="22860" marB="22860" anchor="ctr">
                    <a:solidFill>
                      <a:srgbClr val="FAFBFC"/>
                    </a:solidFill>
                  </a:tcPr>
                </a:tc>
                <a:tc>
                  <a:txBody>
                    <a:bodyPr wrap="square"/>
                    <a:lstStyle/>
                    <a:p>
                      <a:pPr algn="r"/>
                      <a:r>
                        <a:rPr sz="1100" b="0">
                          <a:solidFill>
                            <a:srgbClr val="14202E"/>
                          </a:solidFill>
                          <a:latin typeface="Calibri"/>
                        </a:rPr>
                        <a:t>47 (10 %)</a:t>
                      </a:r>
                    </a:p>
                  </a:txBody>
                  <a:tcPr marL="54864" marR="54864" marT="22860" marB="22860" anchor="ctr">
                    <a:solidFill>
                      <a:srgbClr val="FAFBFC"/>
                    </a:solidFill>
                  </a:tcPr>
                </a:tc>
                <a:tc>
                  <a:txBody>
                    <a:bodyPr wrap="square"/>
                    <a:lstStyle/>
                    <a:p>
                      <a:pPr algn="r"/>
                      <a:r>
                        <a:rPr sz="1100" b="0">
                          <a:solidFill>
                            <a:srgbClr val="14202E"/>
                          </a:solidFill>
                          <a:latin typeface="Calibri"/>
                        </a:rPr>
                        <a:t>5 (1 %)</a:t>
                      </a:r>
                    </a:p>
                  </a:txBody>
                  <a:tcPr marL="54864" marR="54864" marT="22860" marB="22860" anchor="ctr">
                    <a:solidFill>
                      <a:srgbClr val="FAFBFC"/>
                    </a:solidFill>
                  </a:tcPr>
                </a:tc>
                <a:tc>
                  <a:txBody>
                    <a:bodyPr wrap="square"/>
                    <a:lstStyle/>
                    <a:p>
                      <a:pPr algn="r"/>
                      <a:r>
                        <a:rPr sz="1100" b="0">
                          <a:solidFill>
                            <a:srgbClr val="14202E"/>
                          </a:solidFill>
                          <a:latin typeface="Calibri"/>
                        </a:rPr>
                        <a:t>3 (5 %)</a:t>
                      </a:r>
                    </a:p>
                  </a:txBody>
                  <a:tcPr marL="54864" marR="54864" marT="22860" marB="22860" anchor="ctr">
                    <a:solidFill>
                      <a:srgbClr val="FAFBFC"/>
                    </a:solidFill>
                  </a:tcPr>
                </a:tc>
              </a:tr>
              <a:tr h="384048">
                <a:tc>
                  <a:txBody>
                    <a:bodyPr wrap="square"/>
                    <a:lstStyle/>
                    <a:p>
                      <a:r>
                        <a:rPr sz="1100" b="0">
                          <a:solidFill>
                            <a:srgbClr val="14202E"/>
                          </a:solidFill>
                          <a:latin typeface="Calibri"/>
                        </a:rPr>
                        <a:t>Droit commercial et entrepreneuriat</a:t>
                      </a:r>
                    </a:p>
                  </a:txBody>
                  <a:tcPr marL="54864" marR="54864" marT="22860" marB="22860" anchor="ctr">
                    <a:solidFill>
                      <a:srgbClr val="FFFFFF"/>
                    </a:solidFill>
                  </a:tcPr>
                </a:tc>
                <a:tc>
                  <a:txBody>
                    <a:bodyPr wrap="square"/>
                    <a:lstStyle/>
                    <a:p>
                      <a:pPr algn="r"/>
                      <a:r>
                        <a:rPr sz="1100" b="0">
                          <a:solidFill>
                            <a:srgbClr val="14202E"/>
                          </a:solidFill>
                          <a:latin typeface="Calibri"/>
                        </a:rPr>
                        <a:t>1 (0 %)</a:t>
                      </a:r>
                    </a:p>
                  </a:txBody>
                  <a:tcPr marL="54864" marR="54864" marT="22860" marB="22860" anchor="ctr">
                    <a:solidFill>
                      <a:srgbClr val="FFFFFF"/>
                    </a:solidFill>
                  </a:tcPr>
                </a:tc>
                <a:tc>
                  <a:txBody>
                    <a:bodyPr wrap="square"/>
                    <a:lstStyle/>
                    <a:p>
                      <a:pPr algn="r"/>
                      <a:r>
                        <a:rPr sz="1100" b="0">
                          <a:solidFill>
                            <a:srgbClr val="14202E"/>
                          </a:solidFill>
                          <a:latin typeface="Calibri"/>
                        </a:rPr>
                        <a:t>18 (7 %)</a:t>
                      </a:r>
                    </a:p>
                  </a:txBody>
                  <a:tcPr marL="54864" marR="54864" marT="22860" marB="22860" anchor="ctr">
                    <a:solidFill>
                      <a:srgbClr val="FFFFFF"/>
                    </a:solidFill>
                  </a:tcPr>
                </a:tc>
                <a:tc>
                  <a:txBody>
                    <a:bodyPr wrap="square"/>
                    <a:lstStyle/>
                    <a:p>
                      <a:pPr algn="r"/>
                      <a:r>
                        <a:rPr sz="1100" b="0">
                          <a:solidFill>
                            <a:srgbClr val="14202E"/>
                          </a:solidFill>
                          <a:latin typeface="Calibri"/>
                        </a:rPr>
                        <a:t>49 (10 %)</a:t>
                      </a:r>
                    </a:p>
                  </a:txBody>
                  <a:tcPr marL="54864" marR="54864" marT="22860" marB="22860" anchor="ctr">
                    <a:solidFill>
                      <a:srgbClr val="FFFFFF"/>
                    </a:solidFill>
                  </a:tcPr>
                </a:tc>
                <a:tc>
                  <a:txBody>
                    <a:bodyPr wrap="square"/>
                    <a:lstStyle/>
                    <a:p>
                      <a:pPr algn="r"/>
                      <a:r>
                        <a:rPr sz="1100" b="0">
                          <a:solidFill>
                            <a:srgbClr val="14202E"/>
                          </a:solidFill>
                          <a:latin typeface="Calibri"/>
                        </a:rPr>
                        <a:t>62 (13 %)</a:t>
                      </a:r>
                    </a:p>
                  </a:txBody>
                  <a:tcPr marL="54864" marR="54864" marT="22860" marB="22860" anchor="ctr">
                    <a:solidFill>
                      <a:srgbClr val="FFFFFF"/>
                    </a:solidFill>
                  </a:tcPr>
                </a:tc>
                <a:tc>
                  <a:txBody>
                    <a:bodyPr wrap="square"/>
                    <a:lstStyle/>
                    <a:p>
                      <a:pPr algn="r"/>
                      <a:r>
                        <a:rPr sz="1100" b="0">
                          <a:solidFill>
                            <a:srgbClr val="14202E"/>
                          </a:solidFill>
                          <a:latin typeface="Calibri"/>
                        </a:rPr>
                        <a:t>11 (3 %)</a:t>
                      </a:r>
                    </a:p>
                  </a:txBody>
                  <a:tcPr marL="54864" marR="54864" marT="22860" marB="22860" anchor="ctr">
                    <a:solidFill>
                      <a:srgbClr val="FFFFFF"/>
                    </a:solidFill>
                  </a:tcPr>
                </a:tc>
                <a:tc>
                  <a:txBody>
                    <a:bodyPr wrap="square"/>
                    <a:lstStyle/>
                    <a:p>
                      <a:pPr algn="r"/>
                      <a:r>
                        <a:rPr sz="1100" b="0">
                          <a:solidFill>
                            <a:srgbClr val="14202E"/>
                          </a:solidFill>
                          <a:latin typeface="Calibri"/>
                        </a:rPr>
                        <a:t>1 (2 %)</a:t>
                      </a:r>
                    </a:p>
                  </a:txBody>
                  <a:tcPr marL="54864" marR="54864" marT="22860" marB="22860" anchor="ctr">
                    <a:solidFill>
                      <a:srgbClr val="FFFFFF"/>
                    </a:solidFill>
                  </a:tcPr>
                </a:tc>
              </a:tr>
              <a:tr h="384048">
                <a:tc>
                  <a:txBody>
                    <a:bodyPr wrap="square"/>
                    <a:lstStyle/>
                    <a:p>
                      <a:r>
                        <a:rPr sz="1100" b="0">
                          <a:solidFill>
                            <a:srgbClr val="14202E"/>
                          </a:solidFill>
                          <a:latin typeface="Calibri"/>
                        </a:rPr>
                        <a:t>Droit du travail et RH</a:t>
                      </a:r>
                    </a:p>
                  </a:txBody>
                  <a:tcPr marL="54864" marR="54864" marT="22860" marB="22860" anchor="ctr">
                    <a:solidFill>
                      <a:srgbClr val="FAFBFC"/>
                    </a:solidFill>
                  </a:tcPr>
                </a:tc>
                <a:tc>
                  <a:txBody>
                    <a:bodyPr wrap="square"/>
                    <a:lstStyle/>
                    <a:p>
                      <a:pPr algn="r"/>
                      <a:r>
                        <a:rPr sz="1100" b="0">
                          <a:solidFill>
                            <a:srgbClr val="14202E"/>
                          </a:solidFill>
                          <a:latin typeface="Calibri"/>
                        </a:rPr>
                        <a:t>23 (9 %)</a:t>
                      </a:r>
                    </a:p>
                  </a:txBody>
                  <a:tcPr marL="54864" marR="54864" marT="22860" marB="22860" anchor="ctr">
                    <a:solidFill>
                      <a:srgbClr val="FAFBFC"/>
                    </a:solidFill>
                  </a:tcPr>
                </a:tc>
                <a:tc>
                  <a:txBody>
                    <a:bodyPr wrap="square"/>
                    <a:lstStyle/>
                    <a:p>
                      <a:pPr algn="r"/>
                      <a:r>
                        <a:rPr sz="1100" b="0">
                          <a:solidFill>
                            <a:srgbClr val="14202E"/>
                          </a:solidFill>
                          <a:latin typeface="Calibri"/>
                        </a:rPr>
                        <a:t>26 (11 %)</a:t>
                      </a:r>
                    </a:p>
                  </a:txBody>
                  <a:tcPr marL="54864" marR="54864" marT="22860" marB="22860" anchor="ctr">
                    <a:solidFill>
                      <a:srgbClr val="FAFBFC"/>
                    </a:solidFill>
                  </a:tcPr>
                </a:tc>
                <a:tc>
                  <a:txBody>
                    <a:bodyPr wrap="square"/>
                    <a:lstStyle/>
                    <a:p>
                      <a:pPr algn="r"/>
                      <a:r>
                        <a:rPr sz="1100" b="0">
                          <a:solidFill>
                            <a:srgbClr val="14202E"/>
                          </a:solidFill>
                          <a:latin typeface="Calibri"/>
                        </a:rPr>
                        <a:t>14 (3 %)</a:t>
                      </a:r>
                    </a:p>
                  </a:txBody>
                  <a:tcPr marL="54864" marR="54864" marT="22860" marB="22860" anchor="ctr">
                    <a:solidFill>
                      <a:srgbClr val="FAFBFC"/>
                    </a:solidFill>
                  </a:tcPr>
                </a:tc>
                <a:tc>
                  <a:txBody>
                    <a:bodyPr wrap="square"/>
                    <a:lstStyle/>
                    <a:p>
                      <a:pPr algn="r"/>
                      <a:r>
                        <a:rPr sz="1100" b="0">
                          <a:solidFill>
                            <a:srgbClr val="14202E"/>
                          </a:solidFill>
                          <a:latin typeface="Calibri"/>
                        </a:rPr>
                        <a:t>19 (4 %)</a:t>
                      </a:r>
                    </a:p>
                  </a:txBody>
                  <a:tcPr marL="54864" marR="54864" marT="22860" marB="22860" anchor="ctr">
                    <a:solidFill>
                      <a:srgbClr val="FAFBFC"/>
                    </a:solidFill>
                  </a:tcPr>
                </a:tc>
                <a:tc>
                  <a:txBody>
                    <a:bodyPr wrap="square"/>
                    <a:lstStyle/>
                    <a:p>
                      <a:pPr algn="r"/>
                      <a:r>
                        <a:rPr sz="1100" b="0">
                          <a:solidFill>
                            <a:srgbClr val="14202E"/>
                          </a:solidFill>
                          <a:latin typeface="Calibri"/>
                        </a:rPr>
                        <a:t>5 (1 %)</a:t>
                      </a:r>
                    </a:p>
                  </a:txBody>
                  <a:tcPr marL="54864" marR="54864" marT="22860" marB="22860" anchor="ctr">
                    <a:solidFill>
                      <a:srgbClr val="FAFBFC"/>
                    </a:solidFill>
                  </a:tcPr>
                </a:tc>
                <a:tc>
                  <a:txBody>
                    <a:bodyPr wrap="square"/>
                    <a:lstStyle/>
                    <a:p>
                      <a:pPr algn="r"/>
                      <a:r>
                        <a:rPr sz="1100" b="0">
                          <a:solidFill>
                            <a:srgbClr val="14202E"/>
                          </a:solidFill>
                          <a:latin typeface="Calibri"/>
                        </a:rPr>
                        <a:t>6 (9 %)</a:t>
                      </a:r>
                    </a:p>
                  </a:txBody>
                  <a:tcPr marL="54864" marR="54864" marT="22860" marB="22860" anchor="ctr">
                    <a:solidFill>
                      <a:srgbClr val="FAFBFC"/>
                    </a:solidFill>
                  </a:tcPr>
                </a:tc>
              </a:tr>
              <a:tr h="384048">
                <a:tc>
                  <a:txBody>
                    <a:bodyPr wrap="square"/>
                    <a:lstStyle/>
                    <a:p>
                      <a:r>
                        <a:rPr sz="1100" b="0">
                          <a:solidFill>
                            <a:srgbClr val="14202E"/>
                          </a:solidFill>
                          <a:latin typeface="Calibri"/>
                        </a:rPr>
                        <a:t>Autres / non juridique</a:t>
                      </a:r>
                    </a:p>
                  </a:txBody>
                  <a:tcPr marL="54864" marR="54864" marT="22860" marB="22860" anchor="ctr">
                    <a:solidFill>
                      <a:srgbClr val="FFFFFF"/>
                    </a:solidFill>
                  </a:tcPr>
                </a:tc>
                <a:tc>
                  <a:txBody>
                    <a:bodyPr wrap="square"/>
                    <a:lstStyle/>
                    <a:p>
                      <a:pPr algn="r"/>
                      <a:r>
                        <a:rPr sz="1100" b="0">
                          <a:solidFill>
                            <a:srgbClr val="14202E"/>
                          </a:solidFill>
                          <a:latin typeface="Calibri"/>
                        </a:rPr>
                        <a:t>23 (9 %)</a:t>
                      </a:r>
                    </a:p>
                  </a:txBody>
                  <a:tcPr marL="54864" marR="54864" marT="22860" marB="22860" anchor="ctr">
                    <a:solidFill>
                      <a:srgbClr val="FFFFFF"/>
                    </a:solidFill>
                  </a:tcPr>
                </a:tc>
                <a:tc>
                  <a:txBody>
                    <a:bodyPr wrap="square"/>
                    <a:lstStyle/>
                    <a:p>
                      <a:pPr algn="r"/>
                      <a:r>
                        <a:rPr sz="1100" b="0">
                          <a:solidFill>
                            <a:srgbClr val="14202E"/>
                          </a:solidFill>
                          <a:latin typeface="Calibri"/>
                        </a:rPr>
                        <a:t>5 (2 %)</a:t>
                      </a:r>
                    </a:p>
                  </a:txBody>
                  <a:tcPr marL="54864" marR="54864" marT="22860" marB="22860" anchor="ctr">
                    <a:solidFill>
                      <a:srgbClr val="FFFFFF"/>
                    </a:solidFill>
                  </a:tcPr>
                </a:tc>
                <a:tc>
                  <a:txBody>
                    <a:bodyPr wrap="square"/>
                    <a:lstStyle/>
                    <a:p>
                      <a:pPr algn="r"/>
                      <a:r>
                        <a:rPr sz="1100" b="0">
                          <a:solidFill>
                            <a:srgbClr val="14202E"/>
                          </a:solidFill>
                          <a:latin typeface="Calibri"/>
                        </a:rPr>
                        <a:t>100 (21 %)</a:t>
                      </a:r>
                    </a:p>
                  </a:txBody>
                  <a:tcPr marL="54864" marR="54864" marT="22860" marB="22860" anchor="ctr">
                    <a:solidFill>
                      <a:srgbClr val="FFFFFF"/>
                    </a:solidFill>
                  </a:tcPr>
                </a:tc>
                <a:tc>
                  <a:txBody>
                    <a:bodyPr wrap="square"/>
                    <a:lstStyle/>
                    <a:p>
                      <a:pPr algn="r"/>
                      <a:r>
                        <a:rPr sz="1100" b="0">
                          <a:solidFill>
                            <a:srgbClr val="14202E"/>
                          </a:solidFill>
                          <a:latin typeface="Calibri"/>
                        </a:rPr>
                        <a:t>16 (3 %)</a:t>
                      </a:r>
                    </a:p>
                  </a:txBody>
                  <a:tcPr marL="54864" marR="54864" marT="22860" marB="22860" anchor="ctr">
                    <a:solidFill>
                      <a:srgbClr val="FFFFFF"/>
                    </a:solidFill>
                  </a:tcPr>
                </a:tc>
                <a:tc>
                  <a:txBody>
                    <a:bodyPr wrap="square"/>
                    <a:lstStyle/>
                    <a:p>
                      <a:pPr algn="r"/>
                      <a:r>
                        <a:rPr sz="1100" b="0">
                          <a:solidFill>
                            <a:srgbClr val="14202E"/>
                          </a:solidFill>
                          <a:latin typeface="Calibri"/>
                        </a:rPr>
                        <a:t>29 (8 %)</a:t>
                      </a:r>
                    </a:p>
                  </a:txBody>
                  <a:tcPr marL="54864" marR="54864" marT="22860" marB="22860" anchor="ctr">
                    <a:solidFill>
                      <a:srgbClr val="FFFFFF"/>
                    </a:solidFill>
                  </a:tcPr>
                </a:tc>
                <a:tc>
                  <a:txBody>
                    <a:bodyPr wrap="square"/>
                    <a:lstStyle/>
                    <a:p>
                      <a:pPr algn="r"/>
                      <a:r>
                        <a:rPr sz="1100" b="0">
                          <a:solidFill>
                            <a:srgbClr val="14202E"/>
                          </a:solidFill>
                          <a:latin typeface="Calibri"/>
                        </a:rPr>
                        <a:t>11 (17 %)</a:t>
                      </a:r>
                    </a:p>
                  </a:txBody>
                  <a:tcPr marL="54864" marR="54864" marT="22860" marB="22860" anchor="ctr">
                    <a:solidFill>
                      <a:srgbClr val="FFFFFF"/>
                    </a:solidFill>
                  </a:tcPr>
                </a:tc>
              </a:tr>
            </a:tbl>
          </a:graphicData>
        </a:graphic>
      </p:graphicFrame>
      <p:sp>
        <p:nvSpPr>
          <p:cNvPr id="8" name="TextBox 7"/>
          <p:cNvSpPr txBox="1"/>
          <p:nvPr/>
        </p:nvSpPr>
        <p:spPr>
          <a:xfrm>
            <a:off x="548640" y="4846320"/>
            <a:ext cx="11064240" cy="1463040"/>
          </a:xfrm>
          <a:prstGeom prst="rect">
            <a:avLst/>
          </a:prstGeom>
          <a:noFill/>
        </p:spPr>
        <p:txBody>
          <a:bodyPr wrap="square" lIns="45720" rIns="45720" tIns="27432" bIns="27432">
            <a:spAutoFit/>
          </a:bodyPr>
          <a:lstStyle/>
          <a:p>
            <a:pPr>
              <a:spcAft>
                <a:spcPts val="400"/>
              </a:spcAft>
            </a:pPr>
            <a:r>
              <a:rPr sz="1300" b="0">
                <a:solidFill>
                  <a:srgbClr val="14202E"/>
                </a:solidFill>
                <a:latin typeface="Calibri"/>
              </a:rPr>
              <a:t>Reclasser selon le contenu du message déplace les chiffres. Dans les formulaires généraux ES et FR, « Autre(s) » regroupe 123 demandes ; 86 % ont un thème juridique (droit des étrangers 33, commercial 24, fiscal 22, successions 13, immobilier 9, travail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Tendances par langue (1/2)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9</a:t>
            </a:r>
          </a:p>
        </p:txBody>
      </p:sp>
      <p:sp>
        <p:nvSpPr>
          <p:cNvPr id="7" name="TextBox 6"/>
          <p:cNvSpPr txBox="1"/>
          <p:nvPr/>
        </p:nvSpPr>
        <p:spPr>
          <a:xfrm>
            <a:off x="548640" y="1417320"/>
            <a:ext cx="11064240" cy="50292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Chaque carte résume le public du formulaire de cette langue, ses demandes et ce qui ressort par rapport aux autres. « Ressort » compare le poids d'un sous-thème dans cette langue avec son poids dans l'autre (ES face à FR et inversement).</a:t>
            </a:r>
          </a:p>
        </p:txBody>
      </p:sp>
      <p:sp>
        <p:nvSpPr>
          <p:cNvPr id="8" name="Rounded Rectangle 7"/>
          <p:cNvSpPr/>
          <p:nvPr/>
        </p:nvSpPr>
        <p:spPr>
          <a:xfrm>
            <a:off x="548640" y="2011680"/>
            <a:ext cx="5440680" cy="43434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84831"/>
            <a:ext cx="5166360" cy="411480"/>
          </a:xfrm>
          <a:prstGeom prst="rect">
            <a:avLst/>
          </a:prstGeom>
          <a:noFill/>
        </p:spPr>
        <p:txBody>
          <a:bodyPr wrap="square" lIns="45720" rIns="45720" tIns="27432" bIns="27432">
            <a:spAutoFit/>
          </a:bodyPr>
          <a:lstStyle/>
          <a:p>
            <a:pPr>
              <a:spcAft>
                <a:spcPts val="400"/>
              </a:spcAft>
            </a:pPr>
            <a:r>
              <a:rPr sz="1400" b="1">
                <a:solidFill>
                  <a:srgbClr val="C9531A"/>
                </a:solidFill>
                <a:latin typeface="Calibri"/>
              </a:rPr>
              <a:t>Espagnol : des résidents avec des sujets du quotidien</a:t>
            </a:r>
          </a:p>
        </p:txBody>
      </p:sp>
      <p:sp>
        <p:nvSpPr>
          <p:cNvPr id="10" name="TextBox 9"/>
          <p:cNvSpPr txBox="1"/>
          <p:nvPr/>
        </p:nvSpPr>
        <p:spPr>
          <a:xfrm>
            <a:off x="685800" y="2514600"/>
            <a:ext cx="5166360" cy="141732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82 % sont des particuliers. 74 % de ceux qui donnent un pays vivent en Espagne. Le formulaire ES recueille aussi des non-hispanophones : 61 messages sur 244 arrivent en anglais, en français ou en russe. Dominent l'immobilier (achat, notaire, location), la succession, le travail (licenciement, contrat, salaire) et le fisc.</a:t>
            </a:r>
          </a:p>
        </p:txBody>
      </p:sp>
      <p:graphicFrame>
        <p:nvGraphicFramePr>
          <p:cNvPr id="11" name="Chart 10"/>
          <p:cNvGraphicFramePr>
            <a:graphicFrameLocks noGrp="1"/>
          </p:cNvGraphicFramePr>
          <p:nvPr/>
        </p:nvGraphicFramePr>
        <p:xfrm>
          <a:off x="640080" y="3931920"/>
          <a:ext cx="3291840" cy="2377440"/>
        </p:xfrm>
        <a:graphic>
          <a:graphicData uri="http://schemas.openxmlformats.org/drawingml/2006/chart">
            <c:chart xmlns:c="http://schemas.openxmlformats.org/drawingml/2006/chart" r:id="rId2"/>
          </a:graphicData>
        </a:graphic>
      </p:graphicFrame>
      <p:sp>
        <p:nvSpPr>
          <p:cNvPr id="12" name="TextBox 11"/>
          <p:cNvSpPr txBox="1"/>
          <p:nvPr/>
        </p:nvSpPr>
        <p:spPr>
          <a:xfrm>
            <a:off x="3977639" y="3977639"/>
            <a:ext cx="1920240" cy="2331720"/>
          </a:xfrm>
          <a:prstGeom prst="rect">
            <a:avLst/>
          </a:prstGeom>
          <a:noFill/>
        </p:spPr>
        <p:txBody>
          <a:bodyPr wrap="square" lIns="45720" rIns="45720" tIns="27432" bIns="27432">
            <a:spAutoFit/>
          </a:bodyPr>
          <a:lstStyle/>
          <a:p>
            <a:pPr>
              <a:spcAft>
                <a:spcPts val="300"/>
              </a:spcAft>
            </a:pPr>
            <a:r>
              <a:rPr sz="1000" b="1">
                <a:solidFill>
                  <a:srgbClr val="0B5C7A"/>
                </a:solidFill>
                <a:latin typeface="Calibri"/>
              </a:rPr>
              <a:t>Ressort par rapport à l'autre langue</a:t>
            </a:r>
          </a:p>
          <a:p>
            <a:pPr>
              <a:spcAft>
                <a:spcPts val="300"/>
              </a:spcAft>
            </a:pPr>
            <a:r>
              <a:rPr sz="900" b="0">
                <a:solidFill>
                  <a:srgbClr val="14202E"/>
                </a:solidFill>
                <a:latin typeface="Calibri"/>
              </a:rPr>
              <a:t>Renouvellement / résident de longue durée ×17</a:t>
            </a:r>
          </a:p>
          <a:p>
            <a:pPr>
              <a:spcAft>
                <a:spcPts val="300"/>
              </a:spcAft>
            </a:pPr>
            <a:r>
              <a:rPr sz="900" b="0">
                <a:solidFill>
                  <a:srgbClr val="14202E"/>
                </a:solidFill>
                <a:latin typeface="Calibri"/>
              </a:rPr>
              <a:t>Acte notarié et registre foncier ×6.7</a:t>
            </a:r>
          </a:p>
          <a:p>
            <a:pPr>
              <a:spcAft>
                <a:spcPts val="300"/>
              </a:spcAft>
            </a:pPr>
            <a:r>
              <a:rPr sz="900" b="0">
                <a:solidFill>
                  <a:srgbClr val="14202E"/>
                </a:solidFill>
                <a:latin typeface="Calibri"/>
              </a:rPr>
              <a:t>Salaires impayés, réclamations ×6.3</a:t>
            </a:r>
          </a:p>
          <a:p>
            <a:pPr>
              <a:spcAft>
                <a:spcPts val="300"/>
              </a:spcAft>
            </a:pPr>
            <a:r>
              <a:rPr sz="900" b="0">
                <a:solidFill>
                  <a:srgbClr val="14202E"/>
                </a:solidFill>
                <a:latin typeface="Calibri"/>
              </a:rPr>
              <a:t>Licenciement, solde de tout compte et indemnités ×5.7</a:t>
            </a:r>
          </a:p>
          <a:p>
            <a:pPr>
              <a:spcAft>
                <a:spcPts val="300"/>
              </a:spcAft>
            </a:pPr>
            <a:r>
              <a:rPr sz="900" b="0">
                <a:solidFill>
                  <a:srgbClr val="14202E"/>
                </a:solidFill>
                <a:latin typeface="Calibri"/>
              </a:rPr>
              <a:t>Contrôle, requête ou pénalité fiscale ×4.6</a:t>
            </a:r>
          </a:p>
        </p:txBody>
      </p:sp>
      <p:sp>
        <p:nvSpPr>
          <p:cNvPr id="13" name="Rounded Rectangle 12"/>
          <p:cNvSpPr/>
          <p:nvPr/>
        </p:nvSpPr>
        <p:spPr>
          <a:xfrm>
            <a:off x="6172200" y="2011680"/>
            <a:ext cx="5440680" cy="43434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084831"/>
            <a:ext cx="5166360" cy="411480"/>
          </a:xfrm>
          <a:prstGeom prst="rect">
            <a:avLst/>
          </a:prstGeom>
          <a:noFill/>
        </p:spPr>
        <p:txBody>
          <a:bodyPr wrap="square" lIns="45720" rIns="45720" tIns="27432" bIns="27432">
            <a:spAutoFit/>
          </a:bodyPr>
          <a:lstStyle/>
          <a:p>
            <a:pPr>
              <a:spcAft>
                <a:spcPts val="400"/>
              </a:spcAft>
            </a:pPr>
            <a:r>
              <a:rPr sz="1400" b="1">
                <a:solidFill>
                  <a:srgbClr val="1F63B5"/>
                </a:solidFill>
                <a:latin typeface="Calibri"/>
              </a:rPr>
              <a:t>Français : des Français qui préparent leur installation</a:t>
            </a:r>
          </a:p>
        </p:txBody>
      </p:sp>
      <p:sp>
        <p:nvSpPr>
          <p:cNvPr id="15" name="TextBox 14"/>
          <p:cNvSpPr txBox="1"/>
          <p:nvPr/>
        </p:nvSpPr>
        <p:spPr>
          <a:xfrm>
            <a:off x="6309360" y="2514600"/>
            <a:ext cx="5166360" cy="141732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79 % sont des particuliers et 21 % des entreprises (la part la plus élevée). 79 % de ceux qui donnent un pays vivent hors d'Espagne. Ils demandent NIE, création de société ou statut d'autónomo, achat de logement, installation et fiscalité franco-espagnole ; on voit aussi des nationalités algérienne, belge et marocaine en plus de la française.</a:t>
            </a:r>
          </a:p>
        </p:txBody>
      </p:sp>
      <p:graphicFrame>
        <p:nvGraphicFramePr>
          <p:cNvPr id="16" name="Chart 15"/>
          <p:cNvGraphicFramePr>
            <a:graphicFrameLocks noGrp="1"/>
          </p:cNvGraphicFramePr>
          <p:nvPr/>
        </p:nvGraphicFramePr>
        <p:xfrm>
          <a:off x="6263640" y="3931920"/>
          <a:ext cx="3291840" cy="2377440"/>
        </p:xfrm>
        <a:graphic>
          <a:graphicData uri="http://schemas.openxmlformats.org/drawingml/2006/chart">
            <c:chart xmlns:c="http://schemas.openxmlformats.org/drawingml/2006/chart" r:id="rId3"/>
          </a:graphicData>
        </a:graphic>
      </p:graphicFrame>
      <p:sp>
        <p:nvSpPr>
          <p:cNvPr id="17" name="TextBox 16"/>
          <p:cNvSpPr txBox="1"/>
          <p:nvPr/>
        </p:nvSpPr>
        <p:spPr>
          <a:xfrm>
            <a:off x="9601200" y="3977639"/>
            <a:ext cx="1920240" cy="2331720"/>
          </a:xfrm>
          <a:prstGeom prst="rect">
            <a:avLst/>
          </a:prstGeom>
          <a:noFill/>
        </p:spPr>
        <p:txBody>
          <a:bodyPr wrap="square" lIns="45720" rIns="45720" tIns="27432" bIns="27432">
            <a:spAutoFit/>
          </a:bodyPr>
          <a:lstStyle/>
          <a:p>
            <a:pPr>
              <a:spcAft>
                <a:spcPts val="300"/>
              </a:spcAft>
            </a:pPr>
            <a:r>
              <a:rPr sz="1000" b="1">
                <a:solidFill>
                  <a:srgbClr val="0B5C7A"/>
                </a:solidFill>
                <a:latin typeface="Calibri"/>
              </a:rPr>
              <a:t>Ressort par rapport à l'autre langue</a:t>
            </a:r>
          </a:p>
          <a:p>
            <a:pPr>
              <a:spcAft>
                <a:spcPts val="300"/>
              </a:spcAft>
            </a:pPr>
            <a:r>
              <a:rPr sz="900" b="0">
                <a:solidFill>
                  <a:srgbClr val="14202E"/>
                </a:solidFill>
                <a:latin typeface="Calibri"/>
              </a:rPr>
              <a:t>Entrepreneur / ENISA / startups ×3.5</a:t>
            </a:r>
          </a:p>
          <a:p>
            <a:pPr>
              <a:spcAft>
                <a:spcPts val="300"/>
              </a:spcAft>
            </a:pPr>
            <a:r>
              <a:rPr sz="900" b="0">
                <a:solidFill>
                  <a:srgbClr val="14202E"/>
                </a:solidFill>
                <a:latin typeface="Calibri"/>
              </a:rPr>
              <a:t>Déménagement et installation en Espagne ×2.2</a:t>
            </a:r>
          </a:p>
          <a:p>
            <a:pPr>
              <a:spcAft>
                <a:spcPts val="300"/>
              </a:spcAft>
            </a:pPr>
            <a:r>
              <a:rPr sz="900" b="0">
                <a:solidFill>
                  <a:srgbClr val="14202E"/>
                </a:solidFill>
                <a:latin typeface="Calibri"/>
              </a:rPr>
              <a:t>NIE et TIE (carte) ×1.9</a:t>
            </a:r>
          </a:p>
          <a:p>
            <a:pPr>
              <a:spcAft>
                <a:spcPts val="300"/>
              </a:spcAft>
            </a:pPr>
            <a:r>
              <a:rPr sz="900" b="0">
                <a:solidFill>
                  <a:srgbClr val="14202E"/>
                </a:solidFill>
                <a:latin typeface="Calibri"/>
              </a:rPr>
              <a:t>Séjour irrégulier / dépassement / 90 jours ×1.9</a:t>
            </a:r>
          </a:p>
          <a:p>
            <a:pPr>
              <a:spcAft>
                <a:spcPts val="300"/>
              </a:spcAft>
            </a:pPr>
            <a:r>
              <a:rPr sz="900" b="0">
                <a:solidFill>
                  <a:srgbClr val="14202E"/>
                </a:solidFill>
                <a:latin typeface="Calibri"/>
              </a:rPr>
              <a:t>Planification patrimoniale et holding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Tendances par langue (2/2)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10</a:t>
            </a:r>
          </a:p>
        </p:txBody>
      </p:sp>
      <p:sp>
        <p:nvSpPr>
          <p:cNvPr id="7" name="Rounded Rectangle 6"/>
          <p:cNvSpPr/>
          <p:nvPr/>
        </p:nvSpPr>
        <p:spPr>
          <a:xfrm>
            <a:off x="548640" y="1508760"/>
            <a:ext cx="5440680" cy="214884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5166360" cy="411480"/>
          </a:xfrm>
          <a:prstGeom prst="rect">
            <a:avLst/>
          </a:prstGeom>
          <a:noFill/>
        </p:spPr>
        <p:txBody>
          <a:bodyPr wrap="square" lIns="45720" rIns="45720" tIns="27432" bIns="27432">
            <a:spAutoFit/>
          </a:bodyPr>
          <a:lstStyle/>
          <a:p>
            <a:pPr>
              <a:spcAft>
                <a:spcPts val="400"/>
              </a:spcAft>
            </a:pPr>
            <a:r>
              <a:rPr sz="1400" b="1">
                <a:solidFill>
                  <a:srgbClr val="0F8A67"/>
                </a:solidFill>
                <a:latin typeface="Calibri"/>
              </a:rPr>
              <a:t>Anglais : visas, télétravail et fiscalité de l'arrivant</a:t>
            </a:r>
          </a:p>
        </p:txBody>
      </p:sp>
      <p:sp>
        <p:nvSpPr>
          <p:cNvPr id="9" name="TextBox 8"/>
          <p:cNvSpPr txBox="1"/>
          <p:nvPr/>
        </p:nvSpPr>
        <p:spPr>
          <a:xfrm>
            <a:off x="685800" y="2011680"/>
            <a:ext cx="5166360" cy="1600200"/>
          </a:xfrm>
          <a:prstGeom prst="rect">
            <a:avLst/>
          </a:prstGeom>
          <a:noFill/>
        </p:spPr>
        <p:txBody>
          <a:bodyPr wrap="square" lIns="45720" rIns="45720" tIns="27432" bIns="27432">
            <a:spAutoFit/>
          </a:bodyPr>
          <a:lstStyle/>
          <a:p>
            <a:pPr>
              <a:spcAft>
                <a:spcPts val="400"/>
              </a:spcAft>
            </a:pPr>
            <a:r>
              <a:rPr sz="1200" b="0">
                <a:solidFill>
                  <a:srgbClr val="14202E"/>
                </a:solidFill>
                <a:latin typeface="Calibri"/>
              </a:rPr>
              <a:t>Seul le texte du formulaire d'immigration EN a pu être lu (33 messages) ; les 343 autres ne sont connus que par la liste déroulante : 193 droit des étrangers, 113 fiscal. 61 % de ceux qui donnent un pays sont déjà en Espagne ; les États-Unis/Canada et le Royaume-Uni ressortent. Ils demandent nomade numérique, non lucratif, regroupement du conjoint, Beckham et le calcul des 183 jours. Tendance à la hausse.</a:t>
            </a:r>
          </a:p>
        </p:txBody>
      </p:sp>
      <p:sp>
        <p:nvSpPr>
          <p:cNvPr id="10" name="Rounded Rectangle 9"/>
          <p:cNvSpPr/>
          <p:nvPr/>
        </p:nvSpPr>
        <p:spPr>
          <a:xfrm>
            <a:off x="6172200" y="1508760"/>
            <a:ext cx="5440680" cy="214884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72768"/>
            <a:ext cx="5166360" cy="411480"/>
          </a:xfrm>
          <a:prstGeom prst="rect">
            <a:avLst/>
          </a:prstGeom>
          <a:noFill/>
        </p:spPr>
        <p:txBody>
          <a:bodyPr wrap="square" lIns="45720" rIns="45720" tIns="27432" bIns="27432">
            <a:spAutoFit/>
          </a:bodyPr>
          <a:lstStyle/>
          <a:p>
            <a:pPr>
              <a:spcAft>
                <a:spcPts val="400"/>
              </a:spcAft>
            </a:pPr>
            <a:r>
              <a:rPr sz="1400" b="1">
                <a:solidFill>
                  <a:srgbClr val="9A4A8C"/>
                </a:solidFill>
                <a:latin typeface="Calibri"/>
              </a:rPr>
              <a:t>Russe : peu de demandes, très concentrées</a:t>
            </a:r>
          </a:p>
        </p:txBody>
      </p:sp>
      <p:sp>
        <p:nvSpPr>
          <p:cNvPr id="12" name="TextBox 11"/>
          <p:cNvSpPr txBox="1"/>
          <p:nvPr/>
        </p:nvSpPr>
        <p:spPr>
          <a:xfrm>
            <a:off x="6309360" y="2011680"/>
            <a:ext cx="5166360" cy="1600200"/>
          </a:xfrm>
          <a:prstGeom prst="rect">
            <a:avLst/>
          </a:prstGeom>
          <a:noFill/>
        </p:spPr>
        <p:txBody>
          <a:bodyPr wrap="square" lIns="45720" rIns="45720" tIns="27432" bIns="27432">
            <a:spAutoFit/>
          </a:bodyPr>
          <a:lstStyle/>
          <a:p>
            <a:pPr>
              <a:spcAft>
                <a:spcPts val="400"/>
              </a:spcAft>
            </a:pPr>
            <a:r>
              <a:rPr sz="1200" b="0">
                <a:solidFill>
                  <a:srgbClr val="14202E"/>
                </a:solidFill>
                <a:latin typeface="Calibri"/>
              </a:rPr>
              <a:t>65 demandes au total (28 droit des étrangers, 14 fiscal, 11 « Autre »). Presque toutes viennent de la page droit des étrangers ou de la page contact. Le texte des messages russes n'a pas été analysé.</a:t>
            </a:r>
          </a:p>
        </p:txBody>
      </p:sp>
      <p:graphicFrame>
        <p:nvGraphicFramePr>
          <p:cNvPr id="13" name="Table 12"/>
          <p:cNvGraphicFramePr>
            <a:graphicFrameLocks noGrp="1"/>
          </p:cNvGraphicFramePr>
          <p:nvPr/>
        </p:nvGraphicFramePr>
        <p:xfrm>
          <a:off x="548640" y="3840480"/>
          <a:ext cx="11064237" cy="2304288"/>
        </p:xfrm>
        <a:graphic>
          <a:graphicData uri="http://schemas.openxmlformats.org/drawingml/2006/table">
            <a:tbl>
              <a:tblPr firstRow="1" bandRow="1">
                <a:tableStyleId>{5C22544A-7EE6-4342-B048-85BDC9FD1C3A}</a:tableStyleId>
              </a:tblPr>
              <a:tblGrid>
                <a:gridCol w="4534524"/>
                <a:gridCol w="2176571"/>
                <a:gridCol w="2176571"/>
                <a:gridCol w="2176571"/>
              </a:tblGrid>
              <a:tr h="256032">
                <a:tc>
                  <a:txBody>
                    <a:bodyPr wrap="square"/>
                    <a:lstStyle/>
                    <a:p>
                      <a:r>
                        <a:rPr sz="1000" b="1">
                          <a:solidFill>
                            <a:srgbClr val="FFFFFF"/>
                          </a:solidFill>
                          <a:latin typeface="Calibri"/>
                        </a:rPr>
                        <a:t>Évolution des sous-thèmes (ES et FR, % des demandes analysées)</a:t>
                      </a:r>
                    </a:p>
                  </a:txBody>
                  <a:tcPr marL="54864" marR="54864" marT="22860" marB="22860" anchor="ctr">
                    <a:solidFill>
                      <a:srgbClr val="0B5C7A"/>
                    </a:solidFill>
                  </a:tcPr>
                </a:tc>
                <a:tc>
                  <a:txBody>
                    <a:bodyPr wrap="square"/>
                    <a:lstStyle/>
                    <a:p>
                      <a:pPr algn="r"/>
                      <a:r>
                        <a:rPr sz="1000" b="1">
                          <a:solidFill>
                            <a:srgbClr val="FFFFFF"/>
                          </a:solidFill>
                          <a:latin typeface="Calibri"/>
                        </a:rPr>
                        <a:t>2024-10 → 2025-09 (n = 332)</a:t>
                      </a:r>
                    </a:p>
                  </a:txBody>
                  <a:tcPr marL="54864" marR="54864" marT="22860" marB="22860" anchor="ctr">
                    <a:solidFill>
                      <a:srgbClr val="0B5C7A"/>
                    </a:solidFill>
                  </a:tcPr>
                </a:tc>
                <a:tc>
                  <a:txBody>
                    <a:bodyPr wrap="square"/>
                    <a:lstStyle/>
                    <a:p>
                      <a:pPr algn="r"/>
                      <a:r>
                        <a:rPr sz="1000" b="1">
                          <a:solidFill>
                            <a:srgbClr val="FFFFFF"/>
                          </a:solidFill>
                          <a:latin typeface="Calibri"/>
                        </a:rPr>
                        <a:t>2025-10 → 2026-03 (n = 177)</a:t>
                      </a:r>
                    </a:p>
                  </a:txBody>
                  <a:tcPr marL="54864" marR="54864" marT="22860" marB="22860" anchor="ctr">
                    <a:solidFill>
                      <a:srgbClr val="0B5C7A"/>
                    </a:solidFill>
                  </a:tcPr>
                </a:tc>
                <a:tc>
                  <a:txBody>
                    <a:bodyPr wrap="square"/>
                    <a:lstStyle/>
                    <a:p>
                      <a:pPr algn="r"/>
                      <a:r>
                        <a:rPr sz="1000" b="1">
                          <a:solidFill>
                            <a:srgbClr val="FFFFFF"/>
                          </a:solidFill>
                          <a:latin typeface="Calibri"/>
                        </a:rPr>
                        <a:t>2026-04 → 2026-10 (n = 199)</a:t>
                      </a:r>
                    </a:p>
                  </a:txBody>
                  <a:tcPr marL="54864" marR="54864" marT="22860" marB="22860" anchor="ctr">
                    <a:solidFill>
                      <a:srgbClr val="0B5C7A"/>
                    </a:solidFill>
                  </a:tcPr>
                </a:tc>
              </a:tr>
              <a:tr h="256032">
                <a:tc>
                  <a:txBody>
                    <a:bodyPr wrap="square"/>
                    <a:lstStyle/>
                    <a:p>
                      <a:r>
                        <a:rPr sz="1000" b="0">
                          <a:solidFill>
                            <a:srgbClr val="14202E"/>
                          </a:solidFill>
                          <a:latin typeface="Calibri"/>
                        </a:rPr>
                        <a:t>Convention fiscale / résidence fiscale</a:t>
                      </a:r>
                    </a:p>
                  </a:txBody>
                  <a:tcPr marL="54864" marR="54864" marT="22860" marB="22860" anchor="ctr">
                    <a:solidFill>
                      <a:srgbClr val="FFFFFF"/>
                    </a:solidFill>
                  </a:tcPr>
                </a:tc>
                <a:tc>
                  <a:txBody>
                    <a:bodyPr wrap="square"/>
                    <a:lstStyle/>
                    <a:p>
                      <a:pPr algn="r"/>
                      <a:r>
                        <a:rPr sz="1000" b="0">
                          <a:solidFill>
                            <a:srgbClr val="14202E"/>
                          </a:solidFill>
                          <a:latin typeface="Calibri"/>
                        </a:rPr>
                        <a:t>6,6 %</a:t>
                      </a:r>
                    </a:p>
                  </a:txBody>
                  <a:tcPr marL="54864" marR="54864" marT="22860" marB="22860" anchor="ctr">
                    <a:solidFill>
                      <a:srgbClr val="FFFFFF"/>
                    </a:solidFill>
                  </a:tcPr>
                </a:tc>
                <a:tc>
                  <a:txBody>
                    <a:bodyPr wrap="square"/>
                    <a:lstStyle/>
                    <a:p>
                      <a:pPr algn="r"/>
                      <a:r>
                        <a:rPr sz="1000" b="0">
                          <a:solidFill>
                            <a:srgbClr val="14202E"/>
                          </a:solidFill>
                          <a:latin typeface="Calibri"/>
                        </a:rPr>
                        <a:t>5,1 %</a:t>
                      </a:r>
                    </a:p>
                  </a:txBody>
                  <a:tcPr marL="54864" marR="54864" marT="22860" marB="22860" anchor="ctr">
                    <a:solidFill>
                      <a:srgbClr val="FFFFFF"/>
                    </a:solidFill>
                  </a:tcPr>
                </a:tc>
                <a:tc>
                  <a:txBody>
                    <a:bodyPr wrap="square"/>
                    <a:lstStyle/>
                    <a:p>
                      <a:pPr algn="r"/>
                      <a:r>
                        <a:rPr sz="1000" b="0">
                          <a:solidFill>
                            <a:srgbClr val="14202E"/>
                          </a:solidFill>
                          <a:latin typeface="Calibri"/>
                        </a:rPr>
                        <a:t>14,6 %</a:t>
                      </a:r>
                    </a:p>
                  </a:txBody>
                  <a:tcPr marL="54864" marR="54864" marT="22860" marB="22860" anchor="ctr">
                    <a:solidFill>
                      <a:srgbClr val="FFFFFF"/>
                    </a:solidFill>
                  </a:tcPr>
                </a:tc>
              </a:tr>
              <a:tr h="256032">
                <a:tc>
                  <a:txBody>
                    <a:bodyPr wrap="square"/>
                    <a:lstStyle/>
                    <a:p>
                      <a:r>
                        <a:rPr sz="1000" b="0">
                          <a:solidFill>
                            <a:srgbClr val="14202E"/>
                          </a:solidFill>
                          <a:latin typeface="Calibri"/>
                        </a:rPr>
                        <a:t>Achat de bien immobilier</a:t>
                      </a:r>
                    </a:p>
                  </a:txBody>
                  <a:tcPr marL="54864" marR="54864" marT="22860" marB="22860" anchor="ctr">
                    <a:solidFill>
                      <a:srgbClr val="FAFBFC"/>
                    </a:solidFill>
                  </a:tcPr>
                </a:tc>
                <a:tc>
                  <a:txBody>
                    <a:bodyPr wrap="square"/>
                    <a:lstStyle/>
                    <a:p>
                      <a:pPr algn="r"/>
                      <a:r>
                        <a:rPr sz="1000" b="0">
                          <a:solidFill>
                            <a:srgbClr val="14202E"/>
                          </a:solidFill>
                          <a:latin typeface="Calibri"/>
                        </a:rPr>
                        <a:t>13,9 %</a:t>
                      </a:r>
                    </a:p>
                  </a:txBody>
                  <a:tcPr marL="54864" marR="54864" marT="22860" marB="22860" anchor="ctr">
                    <a:solidFill>
                      <a:srgbClr val="FAFBFC"/>
                    </a:solidFill>
                  </a:tcPr>
                </a:tc>
                <a:tc>
                  <a:txBody>
                    <a:bodyPr wrap="square"/>
                    <a:lstStyle/>
                    <a:p>
                      <a:pPr algn="r"/>
                      <a:r>
                        <a:rPr sz="1000" b="0">
                          <a:solidFill>
                            <a:srgbClr val="14202E"/>
                          </a:solidFill>
                          <a:latin typeface="Calibri"/>
                        </a:rPr>
                        <a:t>9,6 %</a:t>
                      </a:r>
                    </a:p>
                  </a:txBody>
                  <a:tcPr marL="54864" marR="54864" marT="22860" marB="22860" anchor="ctr">
                    <a:solidFill>
                      <a:srgbClr val="FAFBFC"/>
                    </a:solidFill>
                  </a:tcPr>
                </a:tc>
                <a:tc>
                  <a:txBody>
                    <a:bodyPr wrap="square"/>
                    <a:lstStyle/>
                    <a:p>
                      <a:pPr algn="r"/>
                      <a:r>
                        <a:rPr sz="1000" b="0">
                          <a:solidFill>
                            <a:srgbClr val="14202E"/>
                          </a:solidFill>
                          <a:latin typeface="Calibri"/>
                        </a:rPr>
                        <a:t>10,6 %</a:t>
                      </a:r>
                    </a:p>
                  </a:txBody>
                  <a:tcPr marL="54864" marR="54864" marT="22860" marB="22860" anchor="ctr">
                    <a:solidFill>
                      <a:srgbClr val="FAFBFC"/>
                    </a:solidFill>
                  </a:tcPr>
                </a:tc>
              </a:tr>
              <a:tr h="256032">
                <a:tc>
                  <a:txBody>
                    <a:bodyPr wrap="square"/>
                    <a:lstStyle/>
                    <a:p>
                      <a:r>
                        <a:rPr sz="1000" b="0">
                          <a:solidFill>
                            <a:srgbClr val="14202E"/>
                          </a:solidFill>
                          <a:latin typeface="Calibri"/>
                        </a:rPr>
                        <a:t>NIE et TIE (carte)</a:t>
                      </a:r>
                    </a:p>
                  </a:txBody>
                  <a:tcPr marL="54864" marR="54864" marT="22860" marB="22860" anchor="ctr">
                    <a:solidFill>
                      <a:srgbClr val="FFFFFF"/>
                    </a:solidFill>
                  </a:tcPr>
                </a:tc>
                <a:tc>
                  <a:txBody>
                    <a:bodyPr wrap="square"/>
                    <a:lstStyle/>
                    <a:p>
                      <a:pPr algn="r"/>
                      <a:r>
                        <a:rPr sz="1000" b="0">
                          <a:solidFill>
                            <a:srgbClr val="14202E"/>
                          </a:solidFill>
                          <a:latin typeface="Calibri"/>
                        </a:rPr>
                        <a:t>12,7 %</a:t>
                      </a:r>
                    </a:p>
                  </a:txBody>
                  <a:tcPr marL="54864" marR="54864" marT="22860" marB="22860" anchor="ctr">
                    <a:solidFill>
                      <a:srgbClr val="FFFFFF"/>
                    </a:solidFill>
                  </a:tcPr>
                </a:tc>
                <a:tc>
                  <a:txBody>
                    <a:bodyPr wrap="square"/>
                    <a:lstStyle/>
                    <a:p>
                      <a:pPr algn="r"/>
                      <a:r>
                        <a:rPr sz="1000" b="0">
                          <a:solidFill>
                            <a:srgbClr val="14202E"/>
                          </a:solidFill>
                          <a:latin typeface="Calibri"/>
                        </a:rPr>
                        <a:t>7,3 %</a:t>
                      </a:r>
                    </a:p>
                  </a:txBody>
                  <a:tcPr marL="54864" marR="54864" marT="22860" marB="22860" anchor="ctr">
                    <a:solidFill>
                      <a:srgbClr val="FFFFFF"/>
                    </a:solidFill>
                  </a:tcPr>
                </a:tc>
                <a:tc>
                  <a:txBody>
                    <a:bodyPr wrap="square"/>
                    <a:lstStyle/>
                    <a:p>
                      <a:pPr algn="r"/>
                      <a:r>
                        <a:rPr sz="1000" b="0">
                          <a:solidFill>
                            <a:srgbClr val="14202E"/>
                          </a:solidFill>
                          <a:latin typeface="Calibri"/>
                        </a:rPr>
                        <a:t>9,5 %</a:t>
                      </a:r>
                    </a:p>
                  </a:txBody>
                  <a:tcPr marL="54864" marR="54864" marT="22860" marB="22860" anchor="ctr">
                    <a:solidFill>
                      <a:srgbClr val="FFFFFF"/>
                    </a:solidFill>
                  </a:tcPr>
                </a:tc>
              </a:tr>
              <a:tr h="256032">
                <a:tc>
                  <a:txBody>
                    <a:bodyPr wrap="square"/>
                    <a:lstStyle/>
                    <a:p>
                      <a:r>
                        <a:rPr sz="1000" b="0">
                          <a:solidFill>
                            <a:srgbClr val="14202E"/>
                          </a:solidFill>
                          <a:latin typeface="Calibri"/>
                        </a:rPr>
                        <a:t>Créer une société / ouvrir une activité</a:t>
                      </a:r>
                    </a:p>
                  </a:txBody>
                  <a:tcPr marL="54864" marR="54864" marT="22860" marB="22860" anchor="ctr">
                    <a:solidFill>
                      <a:srgbClr val="FAFBFC"/>
                    </a:solidFill>
                  </a:tcPr>
                </a:tc>
                <a:tc>
                  <a:txBody>
                    <a:bodyPr wrap="square"/>
                    <a:lstStyle/>
                    <a:p>
                      <a:pPr algn="r"/>
                      <a:r>
                        <a:rPr sz="1000" b="0">
                          <a:solidFill>
                            <a:srgbClr val="14202E"/>
                          </a:solidFill>
                          <a:latin typeface="Calibri"/>
                        </a:rPr>
                        <a:t>9,9 %</a:t>
                      </a:r>
                    </a:p>
                  </a:txBody>
                  <a:tcPr marL="54864" marR="54864" marT="22860" marB="22860" anchor="ctr">
                    <a:solidFill>
                      <a:srgbClr val="FAFBFC"/>
                    </a:solidFill>
                  </a:tcPr>
                </a:tc>
                <a:tc>
                  <a:txBody>
                    <a:bodyPr wrap="square"/>
                    <a:lstStyle/>
                    <a:p>
                      <a:pPr algn="r"/>
                      <a:r>
                        <a:rPr sz="1000" b="0">
                          <a:solidFill>
                            <a:srgbClr val="14202E"/>
                          </a:solidFill>
                          <a:latin typeface="Calibri"/>
                        </a:rPr>
                        <a:t>9,6 %</a:t>
                      </a:r>
                    </a:p>
                  </a:txBody>
                  <a:tcPr marL="54864" marR="54864" marT="22860" marB="22860" anchor="ctr">
                    <a:solidFill>
                      <a:srgbClr val="FAFBFC"/>
                    </a:solidFill>
                  </a:tcPr>
                </a:tc>
                <a:tc>
                  <a:txBody>
                    <a:bodyPr wrap="square"/>
                    <a:lstStyle/>
                    <a:p>
                      <a:pPr algn="r"/>
                      <a:r>
                        <a:rPr sz="1000" b="0">
                          <a:solidFill>
                            <a:srgbClr val="14202E"/>
                          </a:solidFill>
                          <a:latin typeface="Calibri"/>
                        </a:rPr>
                        <a:t>12,1 %</a:t>
                      </a:r>
                    </a:p>
                  </a:txBody>
                  <a:tcPr marL="54864" marR="54864" marT="22860" marB="22860" anchor="ctr">
                    <a:solidFill>
                      <a:srgbClr val="FAFBFC"/>
                    </a:solidFill>
                  </a:tcPr>
                </a:tc>
              </a:tr>
              <a:tr h="256032">
                <a:tc>
                  <a:txBody>
                    <a:bodyPr wrap="square"/>
                    <a:lstStyle/>
                    <a:p>
                      <a:r>
                        <a:rPr sz="1000" b="0">
                          <a:solidFill>
                            <a:srgbClr val="14202E"/>
                          </a:solidFill>
                          <a:latin typeface="Calibri"/>
                        </a:rPr>
                        <a:t>Succession, testament et dévolution</a:t>
                      </a:r>
                    </a:p>
                  </a:txBody>
                  <a:tcPr marL="54864" marR="54864" marT="22860" marB="22860" anchor="ctr">
                    <a:solidFill>
                      <a:srgbClr val="FFFFFF"/>
                    </a:solidFill>
                  </a:tcPr>
                </a:tc>
                <a:tc>
                  <a:txBody>
                    <a:bodyPr wrap="square"/>
                    <a:lstStyle/>
                    <a:p>
                      <a:pPr algn="r"/>
                      <a:r>
                        <a:rPr sz="1000" b="0">
                          <a:solidFill>
                            <a:srgbClr val="14202E"/>
                          </a:solidFill>
                          <a:latin typeface="Calibri"/>
                        </a:rPr>
                        <a:t>7,2 %</a:t>
                      </a:r>
                    </a:p>
                  </a:txBody>
                  <a:tcPr marL="54864" marR="54864" marT="22860" marB="22860" anchor="ctr">
                    <a:solidFill>
                      <a:srgbClr val="FFFFFF"/>
                    </a:solidFill>
                  </a:tcPr>
                </a:tc>
                <a:tc>
                  <a:txBody>
                    <a:bodyPr wrap="square"/>
                    <a:lstStyle/>
                    <a:p>
                      <a:pPr algn="r"/>
                      <a:r>
                        <a:rPr sz="1000" b="0">
                          <a:solidFill>
                            <a:srgbClr val="14202E"/>
                          </a:solidFill>
                          <a:latin typeface="Calibri"/>
                        </a:rPr>
                        <a:t>11,3 %</a:t>
                      </a:r>
                    </a:p>
                  </a:txBody>
                  <a:tcPr marL="54864" marR="54864" marT="22860" marB="22860" anchor="ctr">
                    <a:solidFill>
                      <a:srgbClr val="FFFFFF"/>
                    </a:solidFill>
                  </a:tcPr>
                </a:tc>
                <a:tc>
                  <a:txBody>
                    <a:bodyPr wrap="square"/>
                    <a:lstStyle/>
                    <a:p>
                      <a:pPr algn="r"/>
                      <a:r>
                        <a:rPr sz="1000" b="0">
                          <a:solidFill>
                            <a:srgbClr val="14202E"/>
                          </a:solidFill>
                          <a:latin typeface="Calibri"/>
                        </a:rPr>
                        <a:t>10,1 %</a:t>
                      </a:r>
                    </a:p>
                  </a:txBody>
                  <a:tcPr marL="54864" marR="54864" marT="22860" marB="22860" anchor="ctr">
                    <a:solidFill>
                      <a:srgbClr val="FFFFFF"/>
                    </a:solidFill>
                  </a:tcPr>
                </a:tc>
              </a:tr>
              <a:tr h="256032">
                <a:tc>
                  <a:txBody>
                    <a:bodyPr wrap="square"/>
                    <a:lstStyle/>
                    <a:p>
                      <a:r>
                        <a:rPr sz="1000" b="0">
                          <a:solidFill>
                            <a:srgbClr val="14202E"/>
                          </a:solidFill>
                          <a:latin typeface="Calibri"/>
                        </a:rPr>
                        <a:t>Acte notarié et registre foncier</a:t>
                      </a:r>
                    </a:p>
                  </a:txBody>
                  <a:tcPr marL="54864" marR="54864" marT="22860" marB="22860" anchor="ctr">
                    <a:solidFill>
                      <a:srgbClr val="FAFBFC"/>
                    </a:solidFill>
                  </a:tcPr>
                </a:tc>
                <a:tc>
                  <a:txBody>
                    <a:bodyPr wrap="square"/>
                    <a:lstStyle/>
                    <a:p>
                      <a:pPr algn="r"/>
                      <a:r>
                        <a:rPr sz="1000" b="0">
                          <a:solidFill>
                            <a:srgbClr val="14202E"/>
                          </a:solidFill>
                          <a:latin typeface="Calibri"/>
                        </a:rPr>
                        <a:t>3,9 %</a:t>
                      </a:r>
                    </a:p>
                  </a:txBody>
                  <a:tcPr marL="54864" marR="54864" marT="22860" marB="22860" anchor="ctr">
                    <a:solidFill>
                      <a:srgbClr val="FAFBFC"/>
                    </a:solidFill>
                  </a:tcPr>
                </a:tc>
                <a:tc>
                  <a:txBody>
                    <a:bodyPr wrap="square"/>
                    <a:lstStyle/>
                    <a:p>
                      <a:pPr algn="r"/>
                      <a:r>
                        <a:rPr sz="1000" b="0">
                          <a:solidFill>
                            <a:srgbClr val="14202E"/>
                          </a:solidFill>
                          <a:latin typeface="Calibri"/>
                        </a:rPr>
                        <a:t>4,0 %</a:t>
                      </a:r>
                    </a:p>
                  </a:txBody>
                  <a:tcPr marL="54864" marR="54864" marT="22860" marB="22860" anchor="ctr">
                    <a:solidFill>
                      <a:srgbClr val="FAFBFC"/>
                    </a:solidFill>
                  </a:tcPr>
                </a:tc>
                <a:tc>
                  <a:txBody>
                    <a:bodyPr wrap="square"/>
                    <a:lstStyle/>
                    <a:p>
                      <a:pPr algn="r"/>
                      <a:r>
                        <a:rPr sz="1000" b="0">
                          <a:solidFill>
                            <a:srgbClr val="14202E"/>
                          </a:solidFill>
                          <a:latin typeface="Calibri"/>
                        </a:rPr>
                        <a:t>8,0 %</a:t>
                      </a:r>
                    </a:p>
                  </a:txBody>
                  <a:tcPr marL="54864" marR="54864" marT="22860" marB="22860" anchor="ctr">
                    <a:solidFill>
                      <a:srgbClr val="FAFBFC"/>
                    </a:solidFill>
                  </a:tcPr>
                </a:tc>
              </a:tr>
              <a:tr h="256032">
                <a:tc>
                  <a:txBody>
                    <a:bodyPr wrap="square"/>
                    <a:lstStyle/>
                    <a:p>
                      <a:r>
                        <a:rPr sz="1000" b="0">
                          <a:solidFill>
                            <a:srgbClr val="14202E"/>
                          </a:solidFill>
                          <a:latin typeface="Calibri"/>
                        </a:rPr>
                        <a:t>TVA, comptabilité, gestion et IS</a:t>
                      </a:r>
                    </a:p>
                  </a:txBody>
                  <a:tcPr marL="54864" marR="54864" marT="22860" marB="22860" anchor="ctr">
                    <a:solidFill>
                      <a:srgbClr val="FFFFFF"/>
                    </a:solidFill>
                  </a:tcPr>
                </a:tc>
                <a:tc>
                  <a:txBody>
                    <a:bodyPr wrap="square"/>
                    <a:lstStyle/>
                    <a:p>
                      <a:pPr algn="r"/>
                      <a:r>
                        <a:rPr sz="1000" b="0">
                          <a:solidFill>
                            <a:srgbClr val="14202E"/>
                          </a:solidFill>
                          <a:latin typeface="Calibri"/>
                        </a:rPr>
                        <a:t>4,8 %</a:t>
                      </a:r>
                    </a:p>
                  </a:txBody>
                  <a:tcPr marL="54864" marR="54864" marT="22860" marB="22860" anchor="ctr">
                    <a:solidFill>
                      <a:srgbClr val="FFFFFF"/>
                    </a:solidFill>
                  </a:tcPr>
                </a:tc>
                <a:tc>
                  <a:txBody>
                    <a:bodyPr wrap="square"/>
                    <a:lstStyle/>
                    <a:p>
                      <a:pPr algn="r"/>
                      <a:r>
                        <a:rPr sz="1000" b="0">
                          <a:solidFill>
                            <a:srgbClr val="14202E"/>
                          </a:solidFill>
                          <a:latin typeface="Calibri"/>
                        </a:rPr>
                        <a:t>7,3 %</a:t>
                      </a:r>
                    </a:p>
                  </a:txBody>
                  <a:tcPr marL="54864" marR="54864" marT="22860" marB="22860" anchor="ctr">
                    <a:solidFill>
                      <a:srgbClr val="FFFFFF"/>
                    </a:solidFill>
                  </a:tcPr>
                </a:tc>
                <a:tc>
                  <a:txBody>
                    <a:bodyPr wrap="square"/>
                    <a:lstStyle/>
                    <a:p>
                      <a:pPr algn="r"/>
                      <a:r>
                        <a:rPr sz="1000" b="0">
                          <a:solidFill>
                            <a:srgbClr val="14202E"/>
                          </a:solidFill>
                          <a:latin typeface="Calibri"/>
                        </a:rPr>
                        <a:t>7,5 %</a:t>
                      </a:r>
                    </a:p>
                  </a:txBody>
                  <a:tcPr marL="54864" marR="54864" marT="22860" marB="22860" anchor="ctr">
                    <a:solidFill>
                      <a:srgbClr val="FFFFFF"/>
                    </a:solidFill>
                  </a:tcPr>
                </a:tc>
              </a:tr>
              <a:tr h="256032">
                <a:tc>
                  <a:txBody>
                    <a:bodyPr wrap="square"/>
                    <a:lstStyle/>
                    <a:p>
                      <a:r>
                        <a:rPr sz="1000" b="0">
                          <a:solidFill>
                            <a:srgbClr val="14202E"/>
                          </a:solidFill>
                          <a:latin typeface="Calibri"/>
                        </a:rPr>
                        <a:t>Visa consulaire</a:t>
                      </a:r>
                    </a:p>
                  </a:txBody>
                  <a:tcPr marL="54864" marR="54864" marT="22860" marB="22860" anchor="ctr">
                    <a:solidFill>
                      <a:srgbClr val="FAFBFC"/>
                    </a:solidFill>
                  </a:tcPr>
                </a:tc>
                <a:tc>
                  <a:txBody>
                    <a:bodyPr wrap="square"/>
                    <a:lstStyle/>
                    <a:p>
                      <a:pPr algn="r"/>
                      <a:r>
                        <a:rPr sz="1000" b="0">
                          <a:solidFill>
                            <a:srgbClr val="14202E"/>
                          </a:solidFill>
                          <a:latin typeface="Calibri"/>
                        </a:rPr>
                        <a:t>6,0 %</a:t>
                      </a:r>
                    </a:p>
                  </a:txBody>
                  <a:tcPr marL="54864" marR="54864" marT="22860" marB="22860" anchor="ctr">
                    <a:solidFill>
                      <a:srgbClr val="FAFBFC"/>
                    </a:solidFill>
                  </a:tcPr>
                </a:tc>
                <a:tc>
                  <a:txBody>
                    <a:bodyPr wrap="square"/>
                    <a:lstStyle/>
                    <a:p>
                      <a:pPr algn="r"/>
                      <a:r>
                        <a:rPr sz="1000" b="0">
                          <a:solidFill>
                            <a:srgbClr val="14202E"/>
                          </a:solidFill>
                          <a:latin typeface="Calibri"/>
                        </a:rPr>
                        <a:t>5,1 %</a:t>
                      </a:r>
                    </a:p>
                  </a:txBody>
                  <a:tcPr marL="54864" marR="54864" marT="22860" marB="22860" anchor="ctr">
                    <a:solidFill>
                      <a:srgbClr val="FAFBFC"/>
                    </a:solidFill>
                  </a:tcPr>
                </a:tc>
                <a:tc>
                  <a:txBody>
                    <a:bodyPr wrap="square"/>
                    <a:lstStyle/>
                    <a:p>
                      <a:pPr algn="r"/>
                      <a:r>
                        <a:rPr sz="1000" b="0">
                          <a:solidFill>
                            <a:srgbClr val="14202E"/>
                          </a:solidFill>
                          <a:latin typeface="Calibri"/>
                        </a:rPr>
                        <a:t>7,0 %</a:t>
                      </a:r>
                    </a:p>
                  </a:txBody>
                  <a:tcPr marL="54864" marR="54864" marT="22860" marB="22860" anchor="ctr">
                    <a:solidFill>
                      <a:srgbClr val="FAFBFC"/>
                    </a:solidFill>
                  </a:tcPr>
                </a:tc>
              </a:tr>
            </a:tbl>
          </a:graphicData>
        </a:graphic>
      </p:graphicFrame>
      <p:sp>
        <p:nvSpPr>
          <p:cNvPr id="14" name="TextBox 13"/>
          <p:cNvSpPr txBox="1"/>
          <p:nvPr/>
        </p:nvSpPr>
        <p:spPr>
          <a:xfrm>
            <a:off x="548640" y="6199632"/>
            <a:ext cx="10972800" cy="22860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Trois périodes de taille différente ; les pourcentages comparent le poids relatif, pas le volume.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Arbre des spécialités face à la demande (1/4)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11</a:t>
            </a:r>
          </a:p>
        </p:txBody>
      </p:sp>
      <p:sp>
        <p:nvSpPr>
          <p:cNvPr id="7" name="TextBox 6"/>
          <p:cNvSpPr txBox="1"/>
          <p:nvPr/>
        </p:nvSpPr>
        <p:spPr>
          <a:xfrm>
            <a:off x="548640" y="1463040"/>
            <a:ext cx="11064240" cy="45720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Les 6 domaines et 17 pages sont ceux de dlvibe.delaguialuzon.fr. « Mentions » compte les demandes qui ont au moins un sous-thème de cette page (une demande peut compter plusieurs fois). Les lignes marquées en orange sont des pages proposées : il y a de la demande et elles n'existent pas aujourd'hui.</a:t>
            </a:r>
          </a:p>
        </p:txBody>
      </p:sp>
      <p:sp>
        <p:nvSpPr>
          <p:cNvPr id="8" name="TextBox 7"/>
          <p:cNvSpPr txBox="1"/>
          <p:nvPr/>
        </p:nvSpPr>
        <p:spPr>
          <a:xfrm>
            <a:off x="548640" y="196596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Installation et vie en Espagne (droit des étrangers) · Les quatre pages du droit des étrangers totalisent 432 mentions. Parcours proposés pour EXT-4 : (1) visas de résidence : nomade numérique, non lucratif, travail, entrepreneur ; (2) regroupement et famille ; (3) nationalité et régularisation ; (4) refus, demandes de pièces et recours ; (5) séjour irrégulier et 90 jours. NIE et TIE, aujourd'hui le sous-thème le plus demandé, s'accorde mieux avec la page installation (EXT-1).</a:t>
            </a:r>
          </a:p>
        </p:txBody>
      </p:sp>
      <p:graphicFrame>
        <p:nvGraphicFramePr>
          <p:cNvPr id="9" name="Table 8"/>
          <p:cNvGraphicFramePr>
            <a:graphicFrameLocks noGrp="1"/>
          </p:cNvGraphicFramePr>
          <p:nvPr/>
        </p:nvGraphicFramePr>
        <p:xfrm>
          <a:off x="548640" y="2834640"/>
          <a:ext cx="11064240" cy="22860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Page</a:t>
                      </a:r>
                    </a:p>
                  </a:txBody>
                  <a:tcPr marL="54864" marR="54864" marT="22860" marB="22860" anchor="ctr">
                    <a:solidFill>
                      <a:srgbClr val="0B5C7A"/>
                    </a:solidFill>
                  </a:tcPr>
                </a:tc>
                <a:tc>
                  <a:txBody>
                    <a:bodyPr wrap="square"/>
                    <a:lstStyle/>
                    <a:p>
                      <a:pPr algn="r"/>
                      <a:r>
                        <a:rPr sz="1100" b="1">
                          <a:solidFill>
                            <a:srgbClr val="FFFFFF"/>
                          </a:solidFill>
                          <a:latin typeface="Calibri"/>
                        </a:rPr>
                        <a:t>Mentions</a:t>
                      </a:r>
                    </a:p>
                  </a:txBody>
                  <a:tcPr marL="54864" marR="54864" marT="22860" marB="22860" anchor="ctr">
                    <a:solidFill>
                      <a:srgbClr val="0B5C7A"/>
                    </a:solidFill>
                  </a:tcPr>
                </a:tc>
                <a:tc>
                  <a:txBody>
                    <a:bodyPr wrap="square"/>
                    <a:lstStyle/>
                    <a:p>
                      <a:pPr algn="r"/>
                      <a:r>
                        <a:rPr sz="1100" b="1">
                          <a:solidFill>
                            <a:srgbClr val="FFFFFF"/>
                          </a:solidFill>
                          <a:latin typeface="Calibri"/>
                        </a:rPr>
                        <a:t>Thème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Sous-spécialisation demandée (sous-thèmes avec leur n°)</a:t>
                      </a:r>
                    </a:p>
                  </a:txBody>
                  <a:tcPr marL="54864" marR="54864" marT="22860" marB="22860" anchor="ctr">
                    <a:solidFill>
                      <a:srgbClr val="0B5C7A"/>
                    </a:solidFill>
                  </a:tcPr>
                </a:tc>
              </a:tr>
              <a:tr h="457200">
                <a:tc>
                  <a:txBody>
                    <a:bodyPr wrap="square"/>
                    <a:lstStyle/>
                    <a:p>
                      <a:r>
                        <a:rPr sz="1100" b="0">
                          <a:solidFill>
                            <a:srgbClr val="14202E"/>
                          </a:solidFill>
                          <a:latin typeface="Calibri"/>
                        </a:rPr>
                        <a:t>Accompagnement à l'installation administrative</a:t>
                      </a:r>
                    </a:p>
                  </a:txBody>
                  <a:tcPr marL="54864" marR="54864" marT="22860" marB="22860" anchor="ctr">
                    <a:solidFill>
                      <a:srgbClr val="FFFFFF"/>
                    </a:solidFill>
                  </a:tcPr>
                </a:tc>
                <a:tc>
                  <a:txBody>
                    <a:bodyPr wrap="square"/>
                    <a:lstStyle/>
                    <a:p>
                      <a:pPr algn="r"/>
                      <a:r>
                        <a:rPr sz="1100" b="0">
                          <a:solidFill>
                            <a:srgbClr val="14202E"/>
                          </a:solidFill>
                          <a:latin typeface="Calibri"/>
                        </a:rPr>
                        <a:t>66</a:t>
                      </a:r>
                    </a:p>
                  </a:txBody>
                  <a:tcPr marL="54864" marR="54864" marT="22860" marB="22860" anchor="ctr">
                    <a:solidFill>
                      <a:srgbClr val="FFFFFF"/>
                    </a:solidFill>
                  </a:tcPr>
                </a:tc>
                <a:tc>
                  <a:txBody>
                    <a:bodyPr wrap="square"/>
                    <a:lstStyle/>
                    <a:p>
                      <a:pPr algn="r"/>
                      <a:r>
                        <a:rPr sz="1100" b="0">
                          <a:solidFill>
                            <a:srgbClr val="14202E"/>
                          </a:solidFill>
                          <a:latin typeface="Calibri"/>
                        </a:rPr>
                        <a:t>13</a:t>
                      </a:r>
                    </a:p>
                  </a:txBody>
                  <a:tcPr marL="54864" marR="54864" marT="22860" marB="22860" anchor="ctr">
                    <a:solidFill>
                      <a:srgbClr val="FFFFFF"/>
                    </a:solidFill>
                  </a:tcPr>
                </a:tc>
                <a:tc>
                  <a:txBody>
                    <a:bodyPr wrap="square"/>
                    <a:lstStyle/>
                    <a:p>
                      <a:pPr algn="r"/>
                      <a:r>
                        <a:rPr sz="1100" b="0">
                          <a:solidFill>
                            <a:srgbClr val="14202E"/>
                          </a:solidFill>
                          <a:latin typeface="Calibri"/>
                        </a:rPr>
                        <a:t>19 · 6 · 41</a:t>
                      </a:r>
                    </a:p>
                  </a:txBody>
                  <a:tcPr marL="54864" marR="54864" marT="22860" marB="22860" anchor="ctr">
                    <a:solidFill>
                      <a:srgbClr val="FFFFFF"/>
                    </a:solidFill>
                  </a:tcPr>
                </a:tc>
                <a:tc>
                  <a:txBody>
                    <a:bodyPr wrap="square"/>
                    <a:lstStyle/>
                    <a:p>
                      <a:r>
                        <a:rPr sz="1000" b="0">
                          <a:solidFill>
                            <a:srgbClr val="14202E"/>
                          </a:solidFill>
                          <a:latin typeface="Calibri"/>
                        </a:rPr>
                        <a:t>Déménagement et installation en Espagne 41 · Inscription au padrón 23 · Carte de santé / n° de Sécurité sociale 7 · Équivalence de diplômes 3</a:t>
                      </a:r>
                    </a:p>
                  </a:txBody>
                  <a:tcPr marL="54864" marR="54864" marT="22860" marB="22860" anchor="ctr">
                    <a:solidFill>
                      <a:srgbClr val="FFFFFF"/>
                    </a:solidFill>
                  </a:tcPr>
                </a:tc>
              </a:tr>
              <a:tr h="457200">
                <a:tc>
                  <a:txBody>
                    <a:bodyPr wrap="square"/>
                    <a:lstStyle/>
                    <a:p>
                      <a:r>
                        <a:rPr sz="1100" b="0">
                          <a:solidFill>
                            <a:srgbClr val="14202E"/>
                          </a:solidFill>
                          <a:latin typeface="Calibri"/>
                        </a:rPr>
                        <a:t>Protection sociale et retraite en Espagne</a:t>
                      </a:r>
                    </a:p>
                  </a:txBody>
                  <a:tcPr marL="54864" marR="54864" marT="22860" marB="22860" anchor="ctr">
                    <a:solidFill>
                      <a:srgbClr val="FAFBFC"/>
                    </a:solidFill>
                  </a:tcPr>
                </a:tc>
                <a:tc>
                  <a:txBody>
                    <a:bodyPr wrap="square"/>
                    <a:lstStyle/>
                    <a:p>
                      <a:pPr algn="r"/>
                      <a:r>
                        <a:rPr sz="1100" b="0">
                          <a:solidFill>
                            <a:srgbClr val="14202E"/>
                          </a:solidFill>
                          <a:latin typeface="Calibri"/>
                        </a:rPr>
                        <a:t>44</a:t>
                      </a:r>
                    </a:p>
                  </a:txBody>
                  <a:tcPr marL="54864" marR="54864" marT="22860" marB="22860" anchor="ctr">
                    <a:solidFill>
                      <a:srgbClr val="FAFBFC"/>
                    </a:solidFill>
                  </a:tcPr>
                </a:tc>
                <a:tc>
                  <a:txBody>
                    <a:bodyPr wrap="square"/>
                    <a:lstStyle/>
                    <a:p>
                      <a:pPr algn="r"/>
                      <a:r>
                        <a:rPr sz="1100" b="0">
                          <a:solidFill>
                            <a:srgbClr val="14202E"/>
                          </a:solidFill>
                          <a:latin typeface="Calibri"/>
                        </a:rPr>
                        <a:t>19</a:t>
                      </a:r>
                    </a:p>
                  </a:txBody>
                  <a:tcPr marL="54864" marR="54864" marT="22860" marB="22860" anchor="ctr">
                    <a:solidFill>
                      <a:srgbClr val="FAFBFC"/>
                    </a:solidFill>
                  </a:tcPr>
                </a:tc>
                <a:tc>
                  <a:txBody>
                    <a:bodyPr wrap="square"/>
                    <a:lstStyle/>
                    <a:p>
                      <a:pPr algn="r"/>
                      <a:r>
                        <a:rPr sz="1100" b="0">
                          <a:solidFill>
                            <a:srgbClr val="14202E"/>
                          </a:solidFill>
                          <a:latin typeface="Calibri"/>
                        </a:rPr>
                        <a:t>16 · 2 · 26</a:t>
                      </a:r>
                    </a:p>
                  </a:txBody>
                  <a:tcPr marL="54864" marR="54864" marT="22860" marB="22860" anchor="ctr">
                    <a:solidFill>
                      <a:srgbClr val="FAFBFC"/>
                    </a:solidFill>
                  </a:tcPr>
                </a:tc>
                <a:tc>
                  <a:txBody>
                    <a:bodyPr wrap="square"/>
                    <a:lstStyle/>
                    <a:p>
                      <a:r>
                        <a:rPr sz="1000" b="0">
                          <a:solidFill>
                            <a:srgbClr val="14202E"/>
                          </a:solidFill>
                          <a:latin typeface="Calibri"/>
                        </a:rPr>
                        <a:t>Retraite, pensions et prestations 39 · Assurance santé 6</a:t>
                      </a:r>
                    </a:p>
                  </a:txBody>
                  <a:tcPr marL="54864" marR="54864" marT="22860" marB="22860" anchor="ctr">
                    <a:solidFill>
                      <a:srgbClr val="FAFBFC"/>
                    </a:solidFill>
                  </a:tcPr>
                </a:tc>
              </a:tr>
              <a:tr h="457200">
                <a:tc>
                  <a:txBody>
                    <a:bodyPr wrap="square"/>
                    <a:lstStyle/>
                    <a:p>
                      <a:r>
                        <a:rPr sz="1100" b="0">
                          <a:solidFill>
                            <a:srgbClr val="14202E"/>
                          </a:solidFill>
                          <a:latin typeface="Calibri"/>
                        </a:rPr>
                        <a:t>Conseil bancaire et financier</a:t>
                      </a:r>
                    </a:p>
                  </a:txBody>
                  <a:tcPr marL="54864" marR="54864" marT="22860" marB="22860" anchor="ctr">
                    <a:solidFill>
                      <a:srgbClr val="FFFFFF"/>
                    </a:solidFill>
                  </a:tcPr>
                </a:tc>
                <a:tc>
                  <a:txBody>
                    <a:bodyPr wrap="square"/>
                    <a:lstStyle/>
                    <a:p>
                      <a:pPr algn="r"/>
                      <a:r>
                        <a:rPr sz="1100" b="0">
                          <a:solidFill>
                            <a:srgbClr val="14202E"/>
                          </a:solidFill>
                          <a:latin typeface="Calibri"/>
                        </a:rPr>
                        <a:t>15</a:t>
                      </a:r>
                    </a:p>
                  </a:txBody>
                  <a:tcPr marL="54864" marR="54864" marT="22860" marB="22860" anchor="ctr">
                    <a:solidFill>
                      <a:srgbClr val="FFFFFF"/>
                    </a:solidFill>
                  </a:tcPr>
                </a:tc>
                <a:tc>
                  <a:txBody>
                    <a:bodyPr wrap="square"/>
                    <a:lstStyle/>
                    <a:p>
                      <a:pPr algn="r"/>
                      <a:r>
                        <a:rPr sz="1100" b="0">
                          <a:solidFill>
                            <a:srgbClr val="14202E"/>
                          </a:solidFill>
                          <a:latin typeface="Calibri"/>
                        </a:rPr>
                        <a:t>4</a:t>
                      </a:r>
                    </a:p>
                  </a:txBody>
                  <a:tcPr marL="54864" marR="54864" marT="22860" marB="22860" anchor="ctr">
                    <a:solidFill>
                      <a:srgbClr val="FFFFFF"/>
                    </a:solidFill>
                  </a:tcPr>
                </a:tc>
                <a:tc>
                  <a:txBody>
                    <a:bodyPr wrap="square"/>
                    <a:lstStyle/>
                    <a:p>
                      <a:pPr algn="r"/>
                      <a:r>
                        <a:rPr sz="1100" b="0">
                          <a:solidFill>
                            <a:srgbClr val="14202E"/>
                          </a:solidFill>
                          <a:latin typeface="Calibri"/>
                        </a:rPr>
                        <a:t>5 · 0 · 10</a:t>
                      </a:r>
                    </a:p>
                  </a:txBody>
                  <a:tcPr marL="54864" marR="54864" marT="22860" marB="22860" anchor="ctr">
                    <a:solidFill>
                      <a:srgbClr val="FFFFFF"/>
                    </a:solidFill>
                  </a:tcPr>
                </a:tc>
                <a:tc>
                  <a:txBody>
                    <a:bodyPr wrap="square"/>
                    <a:lstStyle/>
                    <a:p>
                      <a:r>
                        <a:rPr sz="1000" b="0">
                          <a:solidFill>
                            <a:srgbClr val="14202E"/>
                          </a:solidFill>
                          <a:latin typeface="Calibri"/>
                        </a:rPr>
                        <a:t>Compte bancaire, virements, financement 15</a:t>
                      </a:r>
                    </a:p>
                  </a:txBody>
                  <a:tcPr marL="54864" marR="54864" marT="22860" marB="22860" anchor="ctr">
                    <a:solidFill>
                      <a:srgbClr val="FFFFFF"/>
                    </a:solidFill>
                  </a:tcPr>
                </a:tc>
              </a:tr>
              <a:tr h="457200">
                <a:tc>
                  <a:txBody>
                    <a:bodyPr wrap="square"/>
                    <a:lstStyle/>
                    <a:p>
                      <a:r>
                        <a:rPr sz="1100" b="0">
                          <a:solidFill>
                            <a:srgbClr val="14202E"/>
                          </a:solidFill>
                          <a:latin typeface="Calibri"/>
                        </a:rPr>
                        <a:t>Droit des étrangers : résidence, nationalité, regroupement</a:t>
                      </a:r>
                    </a:p>
                  </a:txBody>
                  <a:tcPr marL="54864" marR="54864" marT="22860" marB="22860" anchor="ctr">
                    <a:solidFill>
                      <a:srgbClr val="FAFBFC"/>
                    </a:solidFill>
                  </a:tcPr>
                </a:tc>
                <a:tc>
                  <a:txBody>
                    <a:bodyPr wrap="square"/>
                    <a:lstStyle/>
                    <a:p>
                      <a:pPr algn="r"/>
                      <a:r>
                        <a:rPr sz="1100" b="0">
                          <a:solidFill>
                            <a:srgbClr val="14202E"/>
                          </a:solidFill>
                          <a:latin typeface="Calibri"/>
                        </a:rPr>
                        <a:t>307</a:t>
                      </a:r>
                    </a:p>
                  </a:txBody>
                  <a:tcPr marL="54864" marR="54864" marT="22860" marB="22860" anchor="ctr">
                    <a:solidFill>
                      <a:srgbClr val="FAFBFC"/>
                    </a:solidFill>
                  </a:tcPr>
                </a:tc>
                <a:tc>
                  <a:txBody>
                    <a:bodyPr wrap="square"/>
                    <a:lstStyle/>
                    <a:p>
                      <a:pPr algn="r"/>
                      <a:r>
                        <a:rPr sz="1100" b="0">
                          <a:solidFill>
                            <a:srgbClr val="14202E"/>
                          </a:solidFill>
                          <a:latin typeface="Calibri"/>
                        </a:rPr>
                        <a:t>209</a:t>
                      </a:r>
                    </a:p>
                  </a:txBody>
                  <a:tcPr marL="54864" marR="54864" marT="22860" marB="22860" anchor="ctr">
                    <a:solidFill>
                      <a:srgbClr val="FAFBFC"/>
                    </a:solidFill>
                  </a:tcPr>
                </a:tc>
                <a:tc>
                  <a:txBody>
                    <a:bodyPr wrap="square"/>
                    <a:lstStyle/>
                    <a:p>
                      <a:pPr algn="r"/>
                      <a:r>
                        <a:rPr sz="1100" b="0">
                          <a:solidFill>
                            <a:srgbClr val="14202E"/>
                          </a:solidFill>
                          <a:latin typeface="Calibri"/>
                        </a:rPr>
                        <a:t>94 · 28 · 185</a:t>
                      </a:r>
                    </a:p>
                  </a:txBody>
                  <a:tcPr marL="54864" marR="54864" marT="22860" marB="22860" anchor="ctr">
                    <a:solidFill>
                      <a:srgbClr val="FAFBFC"/>
                    </a:solidFill>
                  </a:tcPr>
                </a:tc>
                <a:tc>
                  <a:txBody>
                    <a:bodyPr wrap="square"/>
                    <a:lstStyle/>
                    <a:p>
                      <a:r>
                        <a:rPr sz="1000" b="0">
                          <a:solidFill>
                            <a:srgbClr val="14202E"/>
                          </a:solidFill>
                          <a:latin typeface="Calibri"/>
                        </a:rPr>
                        <a:t>NIE et TIE (carte) 77 · Visa consulaire 47 · Séjour irrégulier / dépassement / 90 jours 40 · Refus, recours 37</a:t>
                      </a:r>
                    </a:p>
                  </a:txBody>
                  <a:tcPr marL="54864" marR="54864" marT="22860" marB="22860" anchor="ctr">
                    <a:solidFill>
                      <a:srgbClr val="FAFB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Arbre des spécialités face à la demande (2/4)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12</a:t>
            </a:r>
          </a:p>
        </p:txBody>
      </p:sp>
      <p:sp>
        <p:nvSpPr>
          <p:cNvPr id="7" name="TextBox 6"/>
          <p:cNvSpPr txBox="1"/>
          <p:nvPr/>
        </p:nvSpPr>
        <p:spPr>
          <a:xfrm>
            <a:off x="548640" y="146304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Fiscalité et comptabilité · FIS-2 reçoit 163 mentions, réparties entre TVA et comptabilité, déclaration de revenus, non-résidents (Modèle 210), Beckham, Modèle 720 et plus-values. FIS-1 (convention et résidence fiscale) apparaît dans 62.</a:t>
            </a:r>
          </a:p>
        </p:txBody>
      </p:sp>
      <p:graphicFrame>
        <p:nvGraphicFramePr>
          <p:cNvPr id="8" name="Table 7"/>
          <p:cNvGraphicFramePr>
            <a:graphicFrameLocks noGrp="1"/>
          </p:cNvGraphicFramePr>
          <p:nvPr/>
        </p:nvGraphicFramePr>
        <p:xfrm>
          <a:off x="548640" y="2331720"/>
          <a:ext cx="11064240" cy="18288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Page</a:t>
                      </a:r>
                    </a:p>
                  </a:txBody>
                  <a:tcPr marL="54864" marR="54864" marT="22860" marB="22860" anchor="ctr">
                    <a:solidFill>
                      <a:srgbClr val="0B5C7A"/>
                    </a:solidFill>
                  </a:tcPr>
                </a:tc>
                <a:tc>
                  <a:txBody>
                    <a:bodyPr wrap="square"/>
                    <a:lstStyle/>
                    <a:p>
                      <a:pPr algn="r"/>
                      <a:r>
                        <a:rPr sz="1100" b="1">
                          <a:solidFill>
                            <a:srgbClr val="FFFFFF"/>
                          </a:solidFill>
                          <a:latin typeface="Calibri"/>
                        </a:rPr>
                        <a:t>Mentions</a:t>
                      </a:r>
                    </a:p>
                  </a:txBody>
                  <a:tcPr marL="54864" marR="54864" marT="22860" marB="22860" anchor="ctr">
                    <a:solidFill>
                      <a:srgbClr val="0B5C7A"/>
                    </a:solidFill>
                  </a:tcPr>
                </a:tc>
                <a:tc>
                  <a:txBody>
                    <a:bodyPr wrap="square"/>
                    <a:lstStyle/>
                    <a:p>
                      <a:pPr algn="r"/>
                      <a:r>
                        <a:rPr sz="1100" b="1">
                          <a:solidFill>
                            <a:srgbClr val="FFFFFF"/>
                          </a:solidFill>
                          <a:latin typeface="Calibri"/>
                        </a:rPr>
                        <a:t>Thème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Sous-spécialisation demandée (sous-thèmes avec leur n°)</a:t>
                      </a:r>
                    </a:p>
                  </a:txBody>
                  <a:tcPr marL="54864" marR="54864" marT="22860" marB="22860" anchor="ctr">
                    <a:solidFill>
                      <a:srgbClr val="0B5C7A"/>
                    </a:solidFill>
                  </a:tcPr>
                </a:tc>
              </a:tr>
              <a:tr h="457200">
                <a:tc>
                  <a:txBody>
                    <a:bodyPr wrap="square"/>
                    <a:lstStyle/>
                    <a:p>
                      <a:r>
                        <a:rPr sz="1100" b="0">
                          <a:solidFill>
                            <a:srgbClr val="14202E"/>
                          </a:solidFill>
                          <a:latin typeface="Calibri"/>
                        </a:rPr>
                        <a:t>Fiscalité franco-espagnole</a:t>
                      </a:r>
                    </a:p>
                  </a:txBody>
                  <a:tcPr marL="54864" marR="54864" marT="22860" marB="22860" anchor="ctr">
                    <a:solidFill>
                      <a:srgbClr val="FFFFFF"/>
                    </a:solidFill>
                  </a:tcPr>
                </a:tc>
                <a:tc>
                  <a:txBody>
                    <a:bodyPr wrap="square"/>
                    <a:lstStyle/>
                    <a:p>
                      <a:pPr algn="r"/>
                      <a:r>
                        <a:rPr sz="1100" b="0">
                          <a:solidFill>
                            <a:srgbClr val="14202E"/>
                          </a:solidFill>
                          <a:latin typeface="Calibri"/>
                        </a:rPr>
                        <a:t>62</a:t>
                      </a:r>
                    </a:p>
                  </a:txBody>
                  <a:tcPr marL="54864" marR="54864" marT="22860" marB="22860" anchor="ctr">
                    <a:solidFill>
                      <a:srgbClr val="FFFFFF"/>
                    </a:solidFill>
                  </a:tcPr>
                </a:tc>
                <a:tc>
                  <a:txBody>
                    <a:bodyPr wrap="square"/>
                    <a:lstStyle/>
                    <a:p>
                      <a:pPr algn="r"/>
                      <a:r>
                        <a:rPr sz="1100" b="0">
                          <a:solidFill>
                            <a:srgbClr val="14202E"/>
                          </a:solidFill>
                          <a:latin typeface="Calibri"/>
                        </a:rPr>
                        <a:t>29</a:t>
                      </a:r>
                    </a:p>
                  </a:txBody>
                  <a:tcPr marL="54864" marR="54864" marT="22860" marB="22860" anchor="ctr">
                    <a:solidFill>
                      <a:srgbClr val="FFFFFF"/>
                    </a:solidFill>
                  </a:tcPr>
                </a:tc>
                <a:tc>
                  <a:txBody>
                    <a:bodyPr wrap="square"/>
                    <a:lstStyle/>
                    <a:p>
                      <a:pPr algn="r"/>
                      <a:r>
                        <a:rPr sz="1100" b="0">
                          <a:solidFill>
                            <a:srgbClr val="14202E"/>
                          </a:solidFill>
                          <a:latin typeface="Calibri"/>
                        </a:rPr>
                        <a:t>25 · 2 · 35</a:t>
                      </a:r>
                    </a:p>
                  </a:txBody>
                  <a:tcPr marL="54864" marR="54864" marT="22860" marB="22860" anchor="ctr">
                    <a:solidFill>
                      <a:srgbClr val="FFFFFF"/>
                    </a:solidFill>
                  </a:tcPr>
                </a:tc>
                <a:tc>
                  <a:txBody>
                    <a:bodyPr wrap="square"/>
                    <a:lstStyle/>
                    <a:p>
                      <a:r>
                        <a:rPr sz="1000" b="0">
                          <a:solidFill>
                            <a:srgbClr val="14202E"/>
                          </a:solidFill>
                          <a:latin typeface="Calibri"/>
                        </a:rPr>
                        <a:t>Convention fiscale / résidence fiscale 62</a:t>
                      </a:r>
                    </a:p>
                  </a:txBody>
                  <a:tcPr marL="54864" marR="54864" marT="22860" marB="22860" anchor="ctr">
                    <a:solidFill>
                      <a:srgbClr val="FFFFFF"/>
                    </a:solidFill>
                  </a:tcPr>
                </a:tc>
              </a:tr>
              <a:tr h="457200">
                <a:tc>
                  <a:txBody>
                    <a:bodyPr wrap="square"/>
                    <a:lstStyle/>
                    <a:p>
                      <a:r>
                        <a:rPr sz="1100" b="0">
                          <a:solidFill>
                            <a:srgbClr val="14202E"/>
                          </a:solidFill>
                          <a:latin typeface="Calibri"/>
                        </a:rPr>
                        <a:t>Conseil fiscal à Valence</a:t>
                      </a:r>
                    </a:p>
                  </a:txBody>
                  <a:tcPr marL="54864" marR="54864" marT="22860" marB="22860" anchor="ctr">
                    <a:solidFill>
                      <a:srgbClr val="FAFBFC"/>
                    </a:solidFill>
                  </a:tcPr>
                </a:tc>
                <a:tc>
                  <a:txBody>
                    <a:bodyPr wrap="square"/>
                    <a:lstStyle/>
                    <a:p>
                      <a:pPr algn="r"/>
                      <a:r>
                        <a:rPr sz="1100" b="0">
                          <a:solidFill>
                            <a:srgbClr val="14202E"/>
                          </a:solidFill>
                          <a:latin typeface="Calibri"/>
                        </a:rPr>
                        <a:t>163</a:t>
                      </a:r>
                    </a:p>
                  </a:txBody>
                  <a:tcPr marL="54864" marR="54864" marT="22860" marB="22860" anchor="ctr">
                    <a:solidFill>
                      <a:srgbClr val="FAFBFC"/>
                    </a:solidFill>
                  </a:tcPr>
                </a:tc>
                <a:tc>
                  <a:txBody>
                    <a:bodyPr wrap="square"/>
                    <a:lstStyle/>
                    <a:p>
                      <a:pPr algn="r"/>
                      <a:r>
                        <a:rPr sz="1100" b="0">
                          <a:solidFill>
                            <a:srgbClr val="14202E"/>
                          </a:solidFill>
                          <a:latin typeface="Calibri"/>
                        </a:rPr>
                        <a:t>99</a:t>
                      </a:r>
                    </a:p>
                  </a:txBody>
                  <a:tcPr marL="54864" marR="54864" marT="22860" marB="22860" anchor="ctr">
                    <a:solidFill>
                      <a:srgbClr val="FAFBFC"/>
                    </a:solidFill>
                  </a:tcPr>
                </a:tc>
                <a:tc>
                  <a:txBody>
                    <a:bodyPr wrap="square"/>
                    <a:lstStyle/>
                    <a:p>
                      <a:pPr algn="r"/>
                      <a:r>
                        <a:rPr sz="1100" b="0">
                          <a:solidFill>
                            <a:srgbClr val="14202E"/>
                          </a:solidFill>
                          <a:latin typeface="Calibri"/>
                        </a:rPr>
                        <a:t>58 · 7 · 98</a:t>
                      </a:r>
                    </a:p>
                  </a:txBody>
                  <a:tcPr marL="54864" marR="54864" marT="22860" marB="22860" anchor="ctr">
                    <a:solidFill>
                      <a:srgbClr val="FAFBFC"/>
                    </a:solidFill>
                  </a:tcPr>
                </a:tc>
                <a:tc>
                  <a:txBody>
                    <a:bodyPr wrap="square"/>
                    <a:lstStyle/>
                    <a:p>
                      <a:r>
                        <a:rPr sz="1000" b="0">
                          <a:solidFill>
                            <a:srgbClr val="14202E"/>
                          </a:solidFill>
                          <a:latin typeface="Calibri"/>
                        </a:rPr>
                        <a:t>Déclaration de revenus (IRPF) 45 · TVA, comptabilité, gestion et IS 44 · Fiscalité (général) 31 · Non-résidents (Modèle 210 / IRNR) 23</a:t>
                      </a:r>
                    </a:p>
                  </a:txBody>
                  <a:tcPr marL="54864" marR="54864" marT="22860" marB="22860" anchor="ctr">
                    <a:solidFill>
                      <a:srgbClr val="FAFBFC"/>
                    </a:solidFill>
                  </a:tcPr>
                </a:tc>
              </a:tr>
              <a:tr h="457200">
                <a:tc>
                  <a:txBody>
                    <a:bodyPr wrap="square"/>
                    <a:lstStyle/>
                    <a:p>
                      <a:r>
                        <a:rPr sz="1100" b="0">
                          <a:solidFill>
                            <a:srgbClr val="14202E"/>
                          </a:solidFill>
                          <a:latin typeface="Calibri"/>
                        </a:rPr>
                        <a:t>Successions et planification patrimoniale</a:t>
                      </a:r>
                    </a:p>
                  </a:txBody>
                  <a:tcPr marL="54864" marR="54864" marT="22860" marB="22860" anchor="ctr">
                    <a:solidFill>
                      <a:srgbClr val="FFFFFF"/>
                    </a:solidFill>
                  </a:tcPr>
                </a:tc>
                <a:tc>
                  <a:txBody>
                    <a:bodyPr wrap="square"/>
                    <a:lstStyle/>
                    <a:p>
                      <a:pPr algn="r"/>
                      <a:r>
                        <a:rPr sz="1100" b="0">
                          <a:solidFill>
                            <a:srgbClr val="14202E"/>
                          </a:solidFill>
                          <a:latin typeface="Calibri"/>
                        </a:rPr>
                        <a:t>41</a:t>
                      </a:r>
                    </a:p>
                  </a:txBody>
                  <a:tcPr marL="54864" marR="54864" marT="22860" marB="22860" anchor="ctr">
                    <a:solidFill>
                      <a:srgbClr val="FFFFFF"/>
                    </a:solidFill>
                  </a:tcPr>
                </a:tc>
                <a:tc>
                  <a:txBody>
                    <a:bodyPr wrap="square"/>
                    <a:lstStyle/>
                    <a:p>
                      <a:pPr algn="r"/>
                      <a:r>
                        <a:rPr sz="1100" b="0">
                          <a:solidFill>
                            <a:srgbClr val="14202E"/>
                          </a:solidFill>
                          <a:latin typeface="Calibri"/>
                        </a:rPr>
                        <a:t>21</a:t>
                      </a:r>
                    </a:p>
                  </a:txBody>
                  <a:tcPr marL="54864" marR="54864" marT="22860" marB="22860" anchor="ctr">
                    <a:solidFill>
                      <a:srgbClr val="FFFFFF"/>
                    </a:solidFill>
                  </a:tcPr>
                </a:tc>
                <a:tc>
                  <a:txBody>
                    <a:bodyPr wrap="square"/>
                    <a:lstStyle/>
                    <a:p>
                      <a:pPr algn="r"/>
                      <a:r>
                        <a:rPr sz="1100" b="0">
                          <a:solidFill>
                            <a:srgbClr val="14202E"/>
                          </a:solidFill>
                          <a:latin typeface="Calibri"/>
                        </a:rPr>
                        <a:t>15 · 1 · 25</a:t>
                      </a:r>
                    </a:p>
                  </a:txBody>
                  <a:tcPr marL="54864" marR="54864" marT="22860" marB="22860" anchor="ctr">
                    <a:solidFill>
                      <a:srgbClr val="FFFFFF"/>
                    </a:solidFill>
                  </a:tcPr>
                </a:tc>
                <a:tc>
                  <a:txBody>
                    <a:bodyPr wrap="square"/>
                    <a:lstStyle/>
                    <a:p>
                      <a:r>
                        <a:rPr sz="1000" b="0">
                          <a:solidFill>
                            <a:srgbClr val="14202E"/>
                          </a:solidFill>
                          <a:latin typeface="Calibri"/>
                        </a:rPr>
                        <a:t>Droits de succession et donation 22 · Planification patrimoniale et holding 19</a:t>
                      </a:r>
                    </a:p>
                  </a:txBody>
                  <a:tcPr marL="54864" marR="54864" marT="22860" marB="22860" anchor="ctr">
                    <a:solidFill>
                      <a:srgbClr val="FFFFFF"/>
                    </a:solidFill>
                  </a:tcPr>
                </a:tc>
              </a:tr>
            </a:tbl>
          </a:graphicData>
        </a:graphic>
      </p:graphicFrame>
      <p:sp>
        <p:nvSpPr>
          <p:cNvPr id="9" name="TextBox 8"/>
          <p:cNvSpPr txBox="1"/>
          <p:nvPr/>
        </p:nvSpPr>
        <p:spPr>
          <a:xfrm>
            <a:off x="548640" y="434340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Droit immobilier · Une seule page reçoit 174 mentions. Parcours : achat, notaire et registre, location, travaux et urbanisme, vente, copropriété, location touristique, prêt immobilier.</a:t>
            </a:r>
          </a:p>
        </p:txBody>
      </p:sp>
      <p:graphicFrame>
        <p:nvGraphicFramePr>
          <p:cNvPr id="10" name="Table 9"/>
          <p:cNvGraphicFramePr>
            <a:graphicFrameLocks noGrp="1"/>
          </p:cNvGraphicFramePr>
          <p:nvPr/>
        </p:nvGraphicFramePr>
        <p:xfrm>
          <a:off x="548640" y="4892040"/>
          <a:ext cx="11064240" cy="9144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Page</a:t>
                      </a:r>
                    </a:p>
                  </a:txBody>
                  <a:tcPr marL="54864" marR="54864" marT="22860" marB="22860" anchor="ctr">
                    <a:solidFill>
                      <a:srgbClr val="0B5C7A"/>
                    </a:solidFill>
                  </a:tcPr>
                </a:tc>
                <a:tc>
                  <a:txBody>
                    <a:bodyPr wrap="square"/>
                    <a:lstStyle/>
                    <a:p>
                      <a:pPr algn="r"/>
                      <a:r>
                        <a:rPr sz="1100" b="1">
                          <a:solidFill>
                            <a:srgbClr val="FFFFFF"/>
                          </a:solidFill>
                          <a:latin typeface="Calibri"/>
                        </a:rPr>
                        <a:t>Mentions</a:t>
                      </a:r>
                    </a:p>
                  </a:txBody>
                  <a:tcPr marL="54864" marR="54864" marT="22860" marB="22860" anchor="ctr">
                    <a:solidFill>
                      <a:srgbClr val="0B5C7A"/>
                    </a:solidFill>
                  </a:tcPr>
                </a:tc>
                <a:tc>
                  <a:txBody>
                    <a:bodyPr wrap="square"/>
                    <a:lstStyle/>
                    <a:p>
                      <a:pPr algn="r"/>
                      <a:r>
                        <a:rPr sz="1100" b="1">
                          <a:solidFill>
                            <a:srgbClr val="FFFFFF"/>
                          </a:solidFill>
                          <a:latin typeface="Calibri"/>
                        </a:rPr>
                        <a:t>Thème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Sous-spécialisation demandée (sous-thèmes avec leur n°)</a:t>
                      </a:r>
                    </a:p>
                  </a:txBody>
                  <a:tcPr marL="54864" marR="54864" marT="22860" marB="22860" anchor="ctr">
                    <a:solidFill>
                      <a:srgbClr val="0B5C7A"/>
                    </a:solidFill>
                  </a:tcPr>
                </a:tc>
              </a:tr>
              <a:tr h="457200">
                <a:tc>
                  <a:txBody>
                    <a:bodyPr wrap="square"/>
                    <a:lstStyle/>
                    <a:p>
                      <a:r>
                        <a:rPr sz="1100" b="0">
                          <a:solidFill>
                            <a:srgbClr val="14202E"/>
                          </a:solidFill>
                          <a:latin typeface="Calibri"/>
                        </a:rPr>
                        <a:t>Acquisition immobilière et droit de la propriété</a:t>
                      </a:r>
                    </a:p>
                  </a:txBody>
                  <a:tcPr marL="54864" marR="54864" marT="22860" marB="22860" anchor="ctr">
                    <a:solidFill>
                      <a:srgbClr val="FFFFFF"/>
                    </a:solidFill>
                  </a:tcPr>
                </a:tc>
                <a:tc>
                  <a:txBody>
                    <a:bodyPr wrap="square"/>
                    <a:lstStyle/>
                    <a:p>
                      <a:pPr algn="r"/>
                      <a:r>
                        <a:rPr sz="1100" b="0">
                          <a:solidFill>
                            <a:srgbClr val="14202E"/>
                          </a:solidFill>
                          <a:latin typeface="Calibri"/>
                        </a:rPr>
                        <a:t>174</a:t>
                      </a:r>
                    </a:p>
                  </a:txBody>
                  <a:tcPr marL="54864" marR="54864" marT="22860" marB="22860" anchor="ctr">
                    <a:solidFill>
                      <a:srgbClr val="FFFFFF"/>
                    </a:solidFill>
                  </a:tcPr>
                </a:tc>
                <a:tc>
                  <a:txBody>
                    <a:bodyPr wrap="square"/>
                    <a:lstStyle/>
                    <a:p>
                      <a:pPr algn="r"/>
                      <a:r>
                        <a:rPr sz="1100" b="0">
                          <a:solidFill>
                            <a:srgbClr val="14202E"/>
                          </a:solidFill>
                          <a:latin typeface="Calibri"/>
                        </a:rPr>
                        <a:t>120</a:t>
                      </a:r>
                    </a:p>
                  </a:txBody>
                  <a:tcPr marL="54864" marR="54864" marT="22860" marB="22860" anchor="ctr">
                    <a:solidFill>
                      <a:srgbClr val="FFFFFF"/>
                    </a:solidFill>
                  </a:tcPr>
                </a:tc>
                <a:tc>
                  <a:txBody>
                    <a:bodyPr wrap="square"/>
                    <a:lstStyle/>
                    <a:p>
                      <a:pPr algn="r"/>
                      <a:r>
                        <a:rPr sz="1100" b="0">
                          <a:solidFill>
                            <a:srgbClr val="14202E"/>
                          </a:solidFill>
                          <a:latin typeface="Calibri"/>
                        </a:rPr>
                        <a:t>68 · 0 · 106</a:t>
                      </a:r>
                    </a:p>
                  </a:txBody>
                  <a:tcPr marL="54864" marR="54864" marT="22860" marB="22860" anchor="ctr">
                    <a:solidFill>
                      <a:srgbClr val="FFFFFF"/>
                    </a:solidFill>
                  </a:tcPr>
                </a:tc>
                <a:tc>
                  <a:txBody>
                    <a:bodyPr wrap="square"/>
                    <a:lstStyle/>
                    <a:p>
                      <a:r>
                        <a:rPr sz="1000" b="0">
                          <a:solidFill>
                            <a:srgbClr val="14202E"/>
                          </a:solidFill>
                          <a:latin typeface="Calibri"/>
                        </a:rPr>
                        <a:t>Achat de bien immobilier 84 · Acte notarié et registre foncier 36 · Location et bail 32 · Travaux, permis et urbanisme 16</a:t>
                      </a:r>
                    </a:p>
                  </a:txBody>
                  <a:tcPr marL="54864" marR="54864" marT="22860" marB="2286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Arbre des spécialités face à la demande (3/4)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13</a:t>
            </a:r>
          </a:p>
        </p:txBody>
      </p:sp>
      <p:sp>
        <p:nvSpPr>
          <p:cNvPr id="7" name="TextBox 6"/>
          <p:cNvSpPr txBox="1"/>
          <p:nvPr/>
        </p:nvSpPr>
        <p:spPr>
          <a:xfrm>
            <a:off x="548640" y="146304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Droit des successions et contentieux · Successions et testaments (64) et famille (20) n'ont pas de page ; médiation et litiges reçoit 24.</a:t>
            </a:r>
          </a:p>
        </p:txBody>
      </p:sp>
      <p:graphicFrame>
        <p:nvGraphicFramePr>
          <p:cNvPr id="8" name="Table 7"/>
          <p:cNvGraphicFramePr>
            <a:graphicFrameLocks noGrp="1"/>
          </p:cNvGraphicFramePr>
          <p:nvPr/>
        </p:nvGraphicFramePr>
        <p:xfrm>
          <a:off x="548640" y="2011680"/>
          <a:ext cx="11064240" cy="18288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Page</a:t>
                      </a:r>
                    </a:p>
                  </a:txBody>
                  <a:tcPr marL="54864" marR="54864" marT="22860" marB="22860" anchor="ctr">
                    <a:solidFill>
                      <a:srgbClr val="0B5C7A"/>
                    </a:solidFill>
                  </a:tcPr>
                </a:tc>
                <a:tc>
                  <a:txBody>
                    <a:bodyPr wrap="square"/>
                    <a:lstStyle/>
                    <a:p>
                      <a:pPr algn="r"/>
                      <a:r>
                        <a:rPr sz="1100" b="1">
                          <a:solidFill>
                            <a:srgbClr val="FFFFFF"/>
                          </a:solidFill>
                          <a:latin typeface="Calibri"/>
                        </a:rPr>
                        <a:t>Mentions</a:t>
                      </a:r>
                    </a:p>
                  </a:txBody>
                  <a:tcPr marL="54864" marR="54864" marT="22860" marB="22860" anchor="ctr">
                    <a:solidFill>
                      <a:srgbClr val="0B5C7A"/>
                    </a:solidFill>
                  </a:tcPr>
                </a:tc>
                <a:tc>
                  <a:txBody>
                    <a:bodyPr wrap="square"/>
                    <a:lstStyle/>
                    <a:p>
                      <a:pPr algn="r"/>
                      <a:r>
                        <a:rPr sz="1100" b="1">
                          <a:solidFill>
                            <a:srgbClr val="FFFFFF"/>
                          </a:solidFill>
                          <a:latin typeface="Calibri"/>
                        </a:rPr>
                        <a:t>Thème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Sous-spécialisation demandée (sous-thèmes avec leur n°)</a:t>
                      </a:r>
                    </a:p>
                  </a:txBody>
                  <a:tcPr marL="54864" marR="54864" marT="22860" marB="22860" anchor="ctr">
                    <a:solidFill>
                      <a:srgbClr val="0B5C7A"/>
                    </a:solidFill>
                  </a:tcPr>
                </a:tc>
              </a:tr>
              <a:tr h="457200">
                <a:tc>
                  <a:txBody>
                    <a:bodyPr wrap="square"/>
                    <a:lstStyle/>
                    <a:p>
                      <a:r>
                        <a:rPr sz="1100" b="1">
                          <a:solidFill>
                            <a:srgbClr val="A24A07"/>
                          </a:solidFill>
                          <a:latin typeface="Calibri"/>
                        </a:rPr>
                        <a:t>Successions et testaments (proposé : pas de page dédiée)  [proposée]</a:t>
                      </a:r>
                    </a:p>
                  </a:txBody>
                  <a:tcPr marL="54864" marR="54864" marT="22860" marB="22860" anchor="ctr">
                    <a:solidFill>
                      <a:srgbClr val="FFFFFF"/>
                    </a:solidFill>
                  </a:tcPr>
                </a:tc>
                <a:tc>
                  <a:txBody>
                    <a:bodyPr wrap="square"/>
                    <a:lstStyle/>
                    <a:p>
                      <a:pPr algn="r"/>
                      <a:r>
                        <a:rPr sz="1100" b="0">
                          <a:solidFill>
                            <a:srgbClr val="14202E"/>
                          </a:solidFill>
                          <a:latin typeface="Calibri"/>
                        </a:rPr>
                        <a:t>64</a:t>
                      </a:r>
                    </a:p>
                  </a:txBody>
                  <a:tcPr marL="54864" marR="54864" marT="22860" marB="22860" anchor="ctr">
                    <a:solidFill>
                      <a:srgbClr val="FFFFFF"/>
                    </a:solidFill>
                  </a:tcPr>
                </a:tc>
                <a:tc>
                  <a:txBody>
                    <a:bodyPr wrap="square"/>
                    <a:lstStyle/>
                    <a:p>
                      <a:pPr algn="r"/>
                      <a:r>
                        <a:rPr sz="1100" b="0">
                          <a:solidFill>
                            <a:srgbClr val="14202E"/>
                          </a:solidFill>
                          <a:latin typeface="Calibri"/>
                        </a:rPr>
                        <a:t>44</a:t>
                      </a:r>
                    </a:p>
                  </a:txBody>
                  <a:tcPr marL="54864" marR="54864" marT="22860" marB="22860" anchor="ctr">
                    <a:solidFill>
                      <a:srgbClr val="FFFFFF"/>
                    </a:solidFill>
                  </a:tcPr>
                </a:tc>
                <a:tc>
                  <a:txBody>
                    <a:bodyPr wrap="square"/>
                    <a:lstStyle/>
                    <a:p>
                      <a:pPr algn="r"/>
                      <a:r>
                        <a:rPr sz="1100" b="0">
                          <a:solidFill>
                            <a:srgbClr val="14202E"/>
                          </a:solidFill>
                          <a:latin typeface="Calibri"/>
                        </a:rPr>
                        <a:t>24 · 0 · 40</a:t>
                      </a:r>
                    </a:p>
                  </a:txBody>
                  <a:tcPr marL="54864" marR="54864" marT="22860" marB="22860" anchor="ctr">
                    <a:solidFill>
                      <a:srgbClr val="FFFFFF"/>
                    </a:solidFill>
                  </a:tcPr>
                </a:tc>
                <a:tc>
                  <a:txBody>
                    <a:bodyPr wrap="square"/>
                    <a:lstStyle/>
                    <a:p>
                      <a:r>
                        <a:rPr sz="1000" b="0">
                          <a:solidFill>
                            <a:srgbClr val="14202E"/>
                          </a:solidFill>
                          <a:latin typeface="Calibri"/>
                        </a:rPr>
                        <a:t>Succession, testament et dévolution 64</a:t>
                      </a:r>
                    </a:p>
                  </a:txBody>
                  <a:tcPr marL="54864" marR="54864" marT="22860" marB="22860" anchor="ctr">
                    <a:solidFill>
                      <a:srgbClr val="FFFFFF"/>
                    </a:solidFill>
                  </a:tcPr>
                </a:tc>
              </a:tr>
              <a:tr h="457200">
                <a:tc>
                  <a:txBody>
                    <a:bodyPr wrap="square"/>
                    <a:lstStyle/>
                    <a:p>
                      <a:r>
                        <a:rPr sz="1100" b="0">
                          <a:solidFill>
                            <a:srgbClr val="14202E"/>
                          </a:solidFill>
                          <a:latin typeface="Calibri"/>
                        </a:rPr>
                        <a:t>Médiation et résolution des litiges</a:t>
                      </a:r>
                    </a:p>
                  </a:txBody>
                  <a:tcPr marL="54864" marR="54864" marT="22860" marB="22860" anchor="ctr">
                    <a:solidFill>
                      <a:srgbClr val="FAFBFC"/>
                    </a:solidFill>
                  </a:tcPr>
                </a:tc>
                <a:tc>
                  <a:txBody>
                    <a:bodyPr wrap="square"/>
                    <a:lstStyle/>
                    <a:p>
                      <a:pPr algn="r"/>
                      <a:r>
                        <a:rPr sz="1100" b="0">
                          <a:solidFill>
                            <a:srgbClr val="14202E"/>
                          </a:solidFill>
                          <a:latin typeface="Calibri"/>
                        </a:rPr>
                        <a:t>24</a:t>
                      </a:r>
                    </a:p>
                  </a:txBody>
                  <a:tcPr marL="54864" marR="54864" marT="22860" marB="22860" anchor="ctr">
                    <a:solidFill>
                      <a:srgbClr val="FAFBFC"/>
                    </a:solidFill>
                  </a:tcPr>
                </a:tc>
                <a:tc>
                  <a:txBody>
                    <a:bodyPr wrap="square"/>
                    <a:lstStyle/>
                    <a:p>
                      <a:pPr algn="r"/>
                      <a:r>
                        <a:rPr sz="1100" b="0">
                          <a:solidFill>
                            <a:srgbClr val="14202E"/>
                          </a:solidFill>
                          <a:latin typeface="Calibri"/>
                        </a:rPr>
                        <a:t>10</a:t>
                      </a:r>
                    </a:p>
                  </a:txBody>
                  <a:tcPr marL="54864" marR="54864" marT="22860" marB="22860" anchor="ctr">
                    <a:solidFill>
                      <a:srgbClr val="FAFBFC"/>
                    </a:solidFill>
                  </a:tcPr>
                </a:tc>
                <a:tc>
                  <a:txBody>
                    <a:bodyPr wrap="square"/>
                    <a:lstStyle/>
                    <a:p>
                      <a:pPr algn="r"/>
                      <a:r>
                        <a:rPr sz="1100" b="0">
                          <a:solidFill>
                            <a:srgbClr val="14202E"/>
                          </a:solidFill>
                          <a:latin typeface="Calibri"/>
                        </a:rPr>
                        <a:t>14 · 0 · 10</a:t>
                      </a:r>
                    </a:p>
                  </a:txBody>
                  <a:tcPr marL="54864" marR="54864" marT="22860" marB="22860" anchor="ctr">
                    <a:solidFill>
                      <a:srgbClr val="FAFBFC"/>
                    </a:solidFill>
                  </a:tcPr>
                </a:tc>
                <a:tc>
                  <a:txBody>
                    <a:bodyPr wrap="square"/>
                    <a:lstStyle/>
                    <a:p>
                      <a:r>
                        <a:rPr sz="1000" b="0">
                          <a:solidFill>
                            <a:srgbClr val="14202E"/>
                          </a:solidFill>
                          <a:latin typeface="Calibri"/>
                        </a:rPr>
                        <a:t>Litige, réclamation et médiation 22 · Pénal / pénal des affaires 5</a:t>
                      </a:r>
                    </a:p>
                  </a:txBody>
                  <a:tcPr marL="54864" marR="54864" marT="22860" marB="22860" anchor="ctr">
                    <a:solidFill>
                      <a:srgbClr val="FAFBFC"/>
                    </a:solidFill>
                  </a:tcPr>
                </a:tc>
              </a:tr>
              <a:tr h="457200">
                <a:tc>
                  <a:txBody>
                    <a:bodyPr wrap="square"/>
                    <a:lstStyle/>
                    <a:p>
                      <a:r>
                        <a:rPr sz="1100" b="1">
                          <a:solidFill>
                            <a:srgbClr val="A24A07"/>
                          </a:solidFill>
                          <a:latin typeface="Calibri"/>
                        </a:rPr>
                        <a:t>Droit de la famille : divorce, garde (proposé)  [proposée]</a:t>
                      </a:r>
                    </a:p>
                  </a:txBody>
                  <a:tcPr marL="54864" marR="54864" marT="22860" marB="22860" anchor="ctr">
                    <a:solidFill>
                      <a:srgbClr val="FFFFFF"/>
                    </a:solidFill>
                  </a:tcPr>
                </a:tc>
                <a:tc>
                  <a:txBody>
                    <a:bodyPr wrap="square"/>
                    <a:lstStyle/>
                    <a:p>
                      <a:pPr algn="r"/>
                      <a:r>
                        <a:rPr sz="1100" b="0">
                          <a:solidFill>
                            <a:srgbClr val="14202E"/>
                          </a:solidFill>
                          <a:latin typeface="Calibri"/>
                        </a:rPr>
                        <a:t>20</a:t>
                      </a:r>
                    </a:p>
                  </a:txBody>
                  <a:tcPr marL="54864" marR="54864" marT="22860" marB="22860" anchor="ctr">
                    <a:solidFill>
                      <a:srgbClr val="FFFFFF"/>
                    </a:solidFill>
                  </a:tcPr>
                </a:tc>
                <a:tc>
                  <a:txBody>
                    <a:bodyPr wrap="square"/>
                    <a:lstStyle/>
                    <a:p>
                      <a:pPr algn="r"/>
                      <a:r>
                        <a:rPr sz="1100" b="0">
                          <a:solidFill>
                            <a:srgbClr val="14202E"/>
                          </a:solidFill>
                          <a:latin typeface="Calibri"/>
                        </a:rPr>
                        <a:t>9</a:t>
                      </a:r>
                    </a:p>
                  </a:txBody>
                  <a:tcPr marL="54864" marR="54864" marT="22860" marB="22860" anchor="ctr">
                    <a:solidFill>
                      <a:srgbClr val="FFFFFF"/>
                    </a:solidFill>
                  </a:tcPr>
                </a:tc>
                <a:tc>
                  <a:txBody>
                    <a:bodyPr wrap="square"/>
                    <a:lstStyle/>
                    <a:p>
                      <a:pPr algn="r"/>
                      <a:r>
                        <a:rPr sz="1100" b="0">
                          <a:solidFill>
                            <a:srgbClr val="14202E"/>
                          </a:solidFill>
                          <a:latin typeface="Calibri"/>
                        </a:rPr>
                        <a:t>9 · 0 · 11</a:t>
                      </a:r>
                    </a:p>
                  </a:txBody>
                  <a:tcPr marL="54864" marR="54864" marT="22860" marB="22860" anchor="ctr">
                    <a:solidFill>
                      <a:srgbClr val="FFFFFF"/>
                    </a:solidFill>
                  </a:tcPr>
                </a:tc>
                <a:tc>
                  <a:txBody>
                    <a:bodyPr wrap="square"/>
                    <a:lstStyle/>
                    <a:p>
                      <a:r>
                        <a:rPr sz="1000" b="0">
                          <a:solidFill>
                            <a:srgbClr val="14202E"/>
                          </a:solidFill>
                          <a:latin typeface="Calibri"/>
                        </a:rPr>
                        <a:t>Famille : divorce, garde, régime matrimonial 20</a:t>
                      </a:r>
                    </a:p>
                  </a:txBody>
                  <a:tcPr marL="54864" marR="54864" marT="22860" marB="22860" anchor="ctr">
                    <a:solidFill>
                      <a:srgbClr val="FFFFFF"/>
                    </a:solidFill>
                  </a:tcPr>
                </a:tc>
              </a:tr>
            </a:tbl>
          </a:graphicData>
        </a:graphic>
      </p:graphicFrame>
      <p:sp>
        <p:nvSpPr>
          <p:cNvPr id="9" name="TextBox 8"/>
          <p:cNvSpPr txBox="1"/>
          <p:nvPr/>
        </p:nvSpPr>
        <p:spPr>
          <a:xfrm>
            <a:off x="548640" y="402336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Droit commercial et entrepreneuriat · MER-1 domine (99) ; MER-2, MER-3 et MER-4 apparaissent à peine (9, 7 et 3). « Statut d'autónomo » pèse autant que la création de société et mérite son parcours.</a:t>
            </a:r>
          </a:p>
        </p:txBody>
      </p:sp>
      <p:graphicFrame>
        <p:nvGraphicFramePr>
          <p:cNvPr id="10" name="Table 9"/>
          <p:cNvGraphicFramePr>
            <a:graphicFrameLocks noGrp="1"/>
          </p:cNvGraphicFramePr>
          <p:nvPr/>
        </p:nvGraphicFramePr>
        <p:xfrm>
          <a:off x="548640" y="4572000"/>
          <a:ext cx="11064240" cy="22860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Page</a:t>
                      </a:r>
                    </a:p>
                  </a:txBody>
                  <a:tcPr marL="54864" marR="54864" marT="22860" marB="22860" anchor="ctr">
                    <a:solidFill>
                      <a:srgbClr val="0B5C7A"/>
                    </a:solidFill>
                  </a:tcPr>
                </a:tc>
                <a:tc>
                  <a:txBody>
                    <a:bodyPr wrap="square"/>
                    <a:lstStyle/>
                    <a:p>
                      <a:pPr algn="r"/>
                      <a:r>
                        <a:rPr sz="1100" b="1">
                          <a:solidFill>
                            <a:srgbClr val="FFFFFF"/>
                          </a:solidFill>
                          <a:latin typeface="Calibri"/>
                        </a:rPr>
                        <a:t>Mentions</a:t>
                      </a:r>
                    </a:p>
                  </a:txBody>
                  <a:tcPr marL="54864" marR="54864" marT="22860" marB="22860" anchor="ctr">
                    <a:solidFill>
                      <a:srgbClr val="0B5C7A"/>
                    </a:solidFill>
                  </a:tcPr>
                </a:tc>
                <a:tc>
                  <a:txBody>
                    <a:bodyPr wrap="square"/>
                    <a:lstStyle/>
                    <a:p>
                      <a:pPr algn="r"/>
                      <a:r>
                        <a:rPr sz="1100" b="1">
                          <a:solidFill>
                            <a:srgbClr val="FFFFFF"/>
                          </a:solidFill>
                          <a:latin typeface="Calibri"/>
                        </a:rPr>
                        <a:t>Thème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Sous-spécialisation demandée (sous-thèmes avec leur n°)</a:t>
                      </a:r>
                    </a:p>
                  </a:txBody>
                  <a:tcPr marL="54864" marR="54864" marT="22860" marB="22860" anchor="ctr">
                    <a:solidFill>
                      <a:srgbClr val="0B5C7A"/>
                    </a:solidFill>
                  </a:tcPr>
                </a:tc>
              </a:tr>
              <a:tr h="457200">
                <a:tc>
                  <a:txBody>
                    <a:bodyPr wrap="square"/>
                    <a:lstStyle/>
                    <a:p>
                      <a:r>
                        <a:rPr sz="1100" b="0">
                          <a:solidFill>
                            <a:srgbClr val="14202E"/>
                          </a:solidFill>
                          <a:latin typeface="Calibri"/>
                        </a:rPr>
                        <a:t>Création d'entreprise en Espagne</a:t>
                      </a:r>
                    </a:p>
                  </a:txBody>
                  <a:tcPr marL="54864" marR="54864" marT="22860" marB="22860" anchor="ctr">
                    <a:solidFill>
                      <a:srgbClr val="FFFFFF"/>
                    </a:solidFill>
                  </a:tcPr>
                </a:tc>
                <a:tc>
                  <a:txBody>
                    <a:bodyPr wrap="square"/>
                    <a:lstStyle/>
                    <a:p>
                      <a:pPr algn="r"/>
                      <a:r>
                        <a:rPr sz="1100" b="0">
                          <a:solidFill>
                            <a:srgbClr val="14202E"/>
                          </a:solidFill>
                          <a:latin typeface="Calibri"/>
                        </a:rPr>
                        <a:t>99</a:t>
                      </a:r>
                    </a:p>
                  </a:txBody>
                  <a:tcPr marL="54864" marR="54864" marT="22860" marB="22860" anchor="ctr">
                    <a:solidFill>
                      <a:srgbClr val="FFFFFF"/>
                    </a:solidFill>
                  </a:tcPr>
                </a:tc>
                <a:tc>
                  <a:txBody>
                    <a:bodyPr wrap="square"/>
                    <a:lstStyle/>
                    <a:p>
                      <a:pPr algn="r"/>
                      <a:r>
                        <a:rPr sz="1100" b="0">
                          <a:solidFill>
                            <a:srgbClr val="14202E"/>
                          </a:solidFill>
                          <a:latin typeface="Calibri"/>
                        </a:rPr>
                        <a:t>70</a:t>
                      </a:r>
                    </a:p>
                  </a:txBody>
                  <a:tcPr marL="54864" marR="54864" marT="22860" marB="22860" anchor="ctr">
                    <a:solidFill>
                      <a:srgbClr val="FFFFFF"/>
                    </a:solidFill>
                  </a:tcPr>
                </a:tc>
                <a:tc>
                  <a:txBody>
                    <a:bodyPr wrap="square"/>
                    <a:lstStyle/>
                    <a:p>
                      <a:pPr algn="r"/>
                      <a:r>
                        <a:rPr sz="1100" b="0">
                          <a:solidFill>
                            <a:srgbClr val="14202E"/>
                          </a:solidFill>
                          <a:latin typeface="Calibri"/>
                        </a:rPr>
                        <a:t>27 · 5 · 67</a:t>
                      </a:r>
                    </a:p>
                  </a:txBody>
                  <a:tcPr marL="54864" marR="54864" marT="22860" marB="22860" anchor="ctr">
                    <a:solidFill>
                      <a:srgbClr val="FFFFFF"/>
                    </a:solidFill>
                  </a:tcPr>
                </a:tc>
                <a:tc>
                  <a:txBody>
                    <a:bodyPr wrap="square"/>
                    <a:lstStyle/>
                    <a:p>
                      <a:r>
                        <a:rPr sz="1000" b="0">
                          <a:solidFill>
                            <a:srgbClr val="14202E"/>
                          </a:solidFill>
                          <a:latin typeface="Calibri"/>
                        </a:rPr>
                        <a:t>Créer une société / ouvrir une activité 78 · Statut d'autónomo / indépendant / auto-entrepreneur 27 · Implantation / investissement en Espagne 4</a:t>
                      </a:r>
                    </a:p>
                  </a:txBody>
                  <a:tcPr marL="54864" marR="54864" marT="22860" marB="22860" anchor="ctr">
                    <a:solidFill>
                      <a:srgbClr val="FFFFFF"/>
                    </a:solidFill>
                  </a:tcPr>
                </a:tc>
              </a:tr>
              <a:tr h="457200">
                <a:tc>
                  <a:txBody>
                    <a:bodyPr wrap="square"/>
                    <a:lstStyle/>
                    <a:p>
                      <a:r>
                        <a:rPr sz="1100" b="0">
                          <a:solidFill>
                            <a:srgbClr val="14202E"/>
                          </a:solidFill>
                          <a:latin typeface="Calibri"/>
                        </a:rPr>
                        <a:t>Droit commercial et contrats commerciaux</a:t>
                      </a:r>
                    </a:p>
                  </a:txBody>
                  <a:tcPr marL="54864" marR="54864" marT="22860" marB="22860" anchor="ctr">
                    <a:solidFill>
                      <a:srgbClr val="FAFBFC"/>
                    </a:solidFill>
                  </a:tcPr>
                </a:tc>
                <a:tc>
                  <a:txBody>
                    <a:bodyPr wrap="square"/>
                    <a:lstStyle/>
                    <a:p>
                      <a:pPr algn="r"/>
                      <a:r>
                        <a:rPr sz="1100" b="0">
                          <a:solidFill>
                            <a:srgbClr val="14202E"/>
                          </a:solidFill>
                          <a:latin typeface="Calibri"/>
                        </a:rPr>
                        <a:t>9</a:t>
                      </a:r>
                    </a:p>
                  </a:txBody>
                  <a:tcPr marL="54864" marR="54864" marT="22860" marB="22860" anchor="ctr">
                    <a:solidFill>
                      <a:srgbClr val="FAFBFC"/>
                    </a:solidFill>
                  </a:tcPr>
                </a:tc>
                <a:tc>
                  <a:txBody>
                    <a:bodyPr wrap="square"/>
                    <a:lstStyle/>
                    <a:p>
                      <a:pPr algn="r"/>
                      <a:r>
                        <a:rPr sz="1100" b="0">
                          <a:solidFill>
                            <a:srgbClr val="14202E"/>
                          </a:solidFill>
                          <a:latin typeface="Calibri"/>
                        </a:rPr>
                        <a:t>1</a:t>
                      </a:r>
                    </a:p>
                  </a:txBody>
                  <a:tcPr marL="54864" marR="54864" marT="22860" marB="22860" anchor="ctr">
                    <a:solidFill>
                      <a:srgbClr val="FAFBFC"/>
                    </a:solidFill>
                  </a:tcPr>
                </a:tc>
                <a:tc>
                  <a:txBody>
                    <a:bodyPr wrap="square"/>
                    <a:lstStyle/>
                    <a:p>
                      <a:pPr algn="r"/>
                      <a:r>
                        <a:rPr sz="1100" b="0">
                          <a:solidFill>
                            <a:srgbClr val="14202E"/>
                          </a:solidFill>
                          <a:latin typeface="Calibri"/>
                        </a:rPr>
                        <a:t>6 · 0 · 3</a:t>
                      </a:r>
                    </a:p>
                  </a:txBody>
                  <a:tcPr marL="54864" marR="54864" marT="22860" marB="22860" anchor="ctr">
                    <a:solidFill>
                      <a:srgbClr val="FAFBFC"/>
                    </a:solidFill>
                  </a:tcPr>
                </a:tc>
                <a:tc>
                  <a:txBody>
                    <a:bodyPr wrap="square"/>
                    <a:lstStyle/>
                    <a:p>
                      <a:r>
                        <a:rPr sz="1000" b="0">
                          <a:solidFill>
                            <a:srgbClr val="14202E"/>
                          </a:solidFill>
                          <a:latin typeface="Calibri"/>
                        </a:rPr>
                        <a:t>Marque, propriété intellectuelle, RGPD 6 · Contrats commerciaux et de distribution 3</a:t>
                      </a:r>
                    </a:p>
                  </a:txBody>
                  <a:tcPr marL="54864" marR="54864" marT="22860" marB="22860" anchor="ctr">
                    <a:solidFill>
                      <a:srgbClr val="FAFBFC"/>
                    </a:solidFill>
                  </a:tcPr>
                </a:tc>
              </a:tr>
              <a:tr h="457200">
                <a:tc>
                  <a:txBody>
                    <a:bodyPr wrap="square"/>
                    <a:lstStyle/>
                    <a:p>
                      <a:r>
                        <a:rPr sz="1100" b="0">
                          <a:solidFill>
                            <a:srgbClr val="14202E"/>
                          </a:solidFill>
                          <a:latin typeface="Calibri"/>
                        </a:rPr>
                        <a:t>Audit et restructuration d'entreprise</a:t>
                      </a:r>
                    </a:p>
                  </a:txBody>
                  <a:tcPr marL="54864" marR="54864" marT="22860" marB="22860" anchor="ctr">
                    <a:solidFill>
                      <a:srgbClr val="FFFFFF"/>
                    </a:solidFill>
                  </a:tcPr>
                </a:tc>
                <a:tc>
                  <a:txBody>
                    <a:bodyPr wrap="square"/>
                    <a:lstStyle/>
                    <a:p>
                      <a:pPr algn="r"/>
                      <a:r>
                        <a:rPr sz="1100" b="0">
                          <a:solidFill>
                            <a:srgbClr val="14202E"/>
                          </a:solidFill>
                          <a:latin typeface="Calibri"/>
                        </a:rPr>
                        <a:t>7</a:t>
                      </a:r>
                    </a:p>
                  </a:txBody>
                  <a:tcPr marL="54864" marR="54864" marT="22860" marB="22860" anchor="ctr">
                    <a:solidFill>
                      <a:srgbClr val="FFFFFF"/>
                    </a:solidFill>
                  </a:tcPr>
                </a:tc>
                <a:tc>
                  <a:txBody>
                    <a:bodyPr wrap="square"/>
                    <a:lstStyle/>
                    <a:p>
                      <a:pPr algn="r"/>
                      <a:r>
                        <a:rPr sz="1100" b="0">
                          <a:solidFill>
                            <a:srgbClr val="14202E"/>
                          </a:solidFill>
                          <a:latin typeface="Calibri"/>
                        </a:rPr>
                        <a:t>1</a:t>
                      </a:r>
                    </a:p>
                  </a:txBody>
                  <a:tcPr marL="54864" marR="54864" marT="22860" marB="22860" anchor="ctr">
                    <a:solidFill>
                      <a:srgbClr val="FFFFFF"/>
                    </a:solidFill>
                  </a:tcPr>
                </a:tc>
                <a:tc>
                  <a:txBody>
                    <a:bodyPr wrap="square"/>
                    <a:lstStyle/>
                    <a:p>
                      <a:pPr algn="r"/>
                      <a:r>
                        <a:rPr sz="1100" b="0">
                          <a:solidFill>
                            <a:srgbClr val="14202E"/>
                          </a:solidFill>
                          <a:latin typeface="Calibri"/>
                        </a:rPr>
                        <a:t>3 · 0 · 4</a:t>
                      </a:r>
                    </a:p>
                  </a:txBody>
                  <a:tcPr marL="54864" marR="54864" marT="22860" marB="22860" anchor="ctr">
                    <a:solidFill>
                      <a:srgbClr val="FFFFFF"/>
                    </a:solidFill>
                  </a:tcPr>
                </a:tc>
                <a:tc>
                  <a:txBody>
                    <a:bodyPr wrap="square"/>
                    <a:lstStyle/>
                    <a:p>
                      <a:r>
                        <a:rPr sz="1000" b="0">
                          <a:solidFill>
                            <a:srgbClr val="14202E"/>
                          </a:solidFill>
                          <a:latin typeface="Calibri"/>
                        </a:rPr>
                        <a:t>Insolvabilité, redressement et restructuration 7</a:t>
                      </a:r>
                    </a:p>
                  </a:txBody>
                  <a:tcPr marL="54864" marR="54864" marT="22860" marB="22860" anchor="ctr">
                    <a:solidFill>
                      <a:srgbClr val="FFFFFF"/>
                    </a:solidFill>
                  </a:tcPr>
                </a:tc>
              </a:tr>
              <a:tr h="457200">
                <a:tc>
                  <a:txBody>
                    <a:bodyPr wrap="square"/>
                    <a:lstStyle/>
                    <a:p>
                      <a:r>
                        <a:rPr sz="1100" b="0">
                          <a:solidFill>
                            <a:srgbClr val="14202E"/>
                          </a:solidFill>
                          <a:latin typeface="Calibri"/>
                        </a:rPr>
                        <a:t>Développement de réseaux de franchise</a:t>
                      </a:r>
                    </a:p>
                  </a:txBody>
                  <a:tcPr marL="54864" marR="54864" marT="22860" marB="22860" anchor="ctr">
                    <a:solidFill>
                      <a:srgbClr val="FAFBFC"/>
                    </a:solidFill>
                  </a:tcPr>
                </a:tc>
                <a:tc>
                  <a:txBody>
                    <a:bodyPr wrap="square"/>
                    <a:lstStyle/>
                    <a:p>
                      <a:pPr algn="r"/>
                      <a:r>
                        <a:rPr sz="1100" b="0">
                          <a:solidFill>
                            <a:srgbClr val="14202E"/>
                          </a:solidFill>
                          <a:latin typeface="Calibri"/>
                        </a:rPr>
                        <a:t>3</a:t>
                      </a:r>
                    </a:p>
                  </a:txBody>
                  <a:tcPr marL="54864" marR="54864" marT="22860" marB="22860" anchor="ctr">
                    <a:solidFill>
                      <a:srgbClr val="FAFBFC"/>
                    </a:solidFill>
                  </a:tcPr>
                </a:tc>
                <a:tc>
                  <a:txBody>
                    <a:bodyPr wrap="square"/>
                    <a:lstStyle/>
                    <a:p>
                      <a:pPr algn="r"/>
                      <a:r>
                        <a:rPr sz="1100" b="0">
                          <a:solidFill>
                            <a:srgbClr val="14202E"/>
                          </a:solidFill>
                          <a:latin typeface="Calibri"/>
                        </a:rPr>
                        <a:t>3</a:t>
                      </a:r>
                    </a:p>
                  </a:txBody>
                  <a:tcPr marL="54864" marR="54864" marT="22860" marB="22860" anchor="ctr">
                    <a:solidFill>
                      <a:srgbClr val="FAFBFC"/>
                    </a:solidFill>
                  </a:tcPr>
                </a:tc>
                <a:tc>
                  <a:txBody>
                    <a:bodyPr wrap="square"/>
                    <a:lstStyle/>
                    <a:p>
                      <a:pPr algn="r"/>
                      <a:r>
                        <a:rPr sz="1100" b="0">
                          <a:solidFill>
                            <a:srgbClr val="14202E"/>
                          </a:solidFill>
                          <a:latin typeface="Calibri"/>
                        </a:rPr>
                        <a:t>3 · 0 · 0</a:t>
                      </a:r>
                    </a:p>
                  </a:txBody>
                  <a:tcPr marL="54864" marR="54864" marT="22860" marB="22860" anchor="ctr">
                    <a:solidFill>
                      <a:srgbClr val="FAFBFC"/>
                    </a:solidFill>
                  </a:tcPr>
                </a:tc>
                <a:tc>
                  <a:txBody>
                    <a:bodyPr wrap="square"/>
                    <a:lstStyle/>
                    <a:p>
                      <a:r>
                        <a:rPr sz="1000" b="0">
                          <a:solidFill>
                            <a:srgbClr val="14202E"/>
                          </a:solidFill>
                          <a:latin typeface="Calibri"/>
                        </a:rPr>
                        <a:t>Franchise 3</a:t>
                      </a:r>
                    </a:p>
                  </a:txBody>
                  <a:tcPr marL="54864" marR="54864" marT="22860" marB="22860" anchor="ctr">
                    <a:solidFill>
                      <a:srgbClr val="FAFB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Arbre des spécialités face à la demande (4/4)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14</a:t>
            </a:r>
          </a:p>
        </p:txBody>
      </p:sp>
      <p:sp>
        <p:nvSpPr>
          <p:cNvPr id="7" name="TextBox 6"/>
          <p:cNvSpPr txBox="1"/>
          <p:nvPr/>
        </p:nvSpPr>
        <p:spPr>
          <a:xfrm>
            <a:off x="548640" y="146304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Droit du travail et RH · La demande en droit du travail vient de personnes (licenciement, contrat, salaire : 47 mentions), pas d'entreprises (RH, compliance et conseil aux entreprises : 19). Il faut repenser les pages mises en avant.</a:t>
            </a:r>
          </a:p>
        </p:txBody>
      </p:sp>
      <p:graphicFrame>
        <p:nvGraphicFramePr>
          <p:cNvPr id="8" name="Table 7"/>
          <p:cNvGraphicFramePr>
            <a:graphicFrameLocks noGrp="1"/>
          </p:cNvGraphicFramePr>
          <p:nvPr/>
        </p:nvGraphicFramePr>
        <p:xfrm>
          <a:off x="548640" y="2331720"/>
          <a:ext cx="11064240" cy="22860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Page</a:t>
                      </a:r>
                    </a:p>
                  </a:txBody>
                  <a:tcPr marL="54864" marR="54864" marT="22860" marB="22860" anchor="ctr">
                    <a:solidFill>
                      <a:srgbClr val="0B5C7A"/>
                    </a:solidFill>
                  </a:tcPr>
                </a:tc>
                <a:tc>
                  <a:txBody>
                    <a:bodyPr wrap="square"/>
                    <a:lstStyle/>
                    <a:p>
                      <a:pPr algn="r"/>
                      <a:r>
                        <a:rPr sz="1100" b="1">
                          <a:solidFill>
                            <a:srgbClr val="FFFFFF"/>
                          </a:solidFill>
                          <a:latin typeface="Calibri"/>
                        </a:rPr>
                        <a:t>Mentions</a:t>
                      </a:r>
                    </a:p>
                  </a:txBody>
                  <a:tcPr marL="54864" marR="54864" marT="22860" marB="22860" anchor="ctr">
                    <a:solidFill>
                      <a:srgbClr val="0B5C7A"/>
                    </a:solidFill>
                  </a:tcPr>
                </a:tc>
                <a:tc>
                  <a:txBody>
                    <a:bodyPr wrap="square"/>
                    <a:lstStyle/>
                    <a:p>
                      <a:pPr algn="r"/>
                      <a:r>
                        <a:rPr sz="1100" b="1">
                          <a:solidFill>
                            <a:srgbClr val="FFFFFF"/>
                          </a:solidFill>
                          <a:latin typeface="Calibri"/>
                        </a:rPr>
                        <a:t>Thème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Sous-spécialisation demandée (sous-thèmes avec leur n°)</a:t>
                      </a:r>
                    </a:p>
                  </a:txBody>
                  <a:tcPr marL="54864" marR="54864" marT="22860" marB="22860" anchor="ctr">
                    <a:solidFill>
                      <a:srgbClr val="0B5C7A"/>
                    </a:solidFill>
                  </a:tcPr>
                </a:tc>
              </a:tr>
              <a:tr h="457200">
                <a:tc>
                  <a:txBody>
                    <a:bodyPr wrap="square"/>
                    <a:lstStyle/>
                    <a:p>
                      <a:r>
                        <a:rPr sz="1100" b="0">
                          <a:solidFill>
                            <a:srgbClr val="14202E"/>
                          </a:solidFill>
                          <a:latin typeface="Calibri"/>
                        </a:rPr>
                        <a:t>Conseil en droit du travail et recrutement</a:t>
                      </a:r>
                    </a:p>
                  </a:txBody>
                  <a:tcPr marL="54864" marR="54864" marT="22860" marB="22860" anchor="ctr">
                    <a:solidFill>
                      <a:srgbClr val="FFFFFF"/>
                    </a:solidFill>
                  </a:tcPr>
                </a:tc>
                <a:tc>
                  <a:txBody>
                    <a:bodyPr wrap="square"/>
                    <a:lstStyle/>
                    <a:p>
                      <a:pPr algn="r"/>
                      <a:r>
                        <a:rPr sz="1100" b="0">
                          <a:solidFill>
                            <a:srgbClr val="14202E"/>
                          </a:solidFill>
                          <a:latin typeface="Calibri"/>
                        </a:rPr>
                        <a:t>47</a:t>
                      </a:r>
                    </a:p>
                  </a:txBody>
                  <a:tcPr marL="54864" marR="54864" marT="22860" marB="22860" anchor="ctr">
                    <a:solidFill>
                      <a:srgbClr val="FFFFFF"/>
                    </a:solidFill>
                  </a:tcPr>
                </a:tc>
                <a:tc>
                  <a:txBody>
                    <a:bodyPr wrap="square"/>
                    <a:lstStyle/>
                    <a:p>
                      <a:pPr algn="r"/>
                      <a:r>
                        <a:rPr sz="1100" b="0">
                          <a:solidFill>
                            <a:srgbClr val="14202E"/>
                          </a:solidFill>
                          <a:latin typeface="Calibri"/>
                        </a:rPr>
                        <a:t>39</a:t>
                      </a:r>
                    </a:p>
                  </a:txBody>
                  <a:tcPr marL="54864" marR="54864" marT="22860" marB="22860" anchor="ctr">
                    <a:solidFill>
                      <a:srgbClr val="FFFFFF"/>
                    </a:solidFill>
                  </a:tcPr>
                </a:tc>
                <a:tc>
                  <a:txBody>
                    <a:bodyPr wrap="square"/>
                    <a:lstStyle/>
                    <a:p>
                      <a:pPr algn="r"/>
                      <a:r>
                        <a:rPr sz="1100" b="0">
                          <a:solidFill>
                            <a:srgbClr val="14202E"/>
                          </a:solidFill>
                          <a:latin typeface="Calibri"/>
                        </a:rPr>
                        <a:t>29 · 0 · 18</a:t>
                      </a:r>
                    </a:p>
                  </a:txBody>
                  <a:tcPr marL="54864" marR="54864" marT="22860" marB="22860" anchor="ctr">
                    <a:solidFill>
                      <a:srgbClr val="FFFFFF"/>
                    </a:solidFill>
                  </a:tcPr>
                </a:tc>
                <a:tc>
                  <a:txBody>
                    <a:bodyPr wrap="square"/>
                    <a:lstStyle/>
                    <a:p>
                      <a:r>
                        <a:rPr sz="1000" b="0">
                          <a:solidFill>
                            <a:srgbClr val="14202E"/>
                          </a:solidFill>
                          <a:latin typeface="Calibri"/>
                        </a:rPr>
                        <a:t>Contrat de travail, convention, temps de travail 30 · Salaires impayés, réclamations 13 · Licenciement, solde de tout compte et indemnités 12 · Accident du travail, arrêt maladie, invalidité 7</a:t>
                      </a:r>
                    </a:p>
                  </a:txBody>
                  <a:tcPr marL="54864" marR="54864" marT="22860" marB="22860" anchor="ctr">
                    <a:solidFill>
                      <a:srgbClr val="FFFFFF"/>
                    </a:solidFill>
                  </a:tcPr>
                </a:tc>
              </a:tr>
              <a:tr h="457200">
                <a:tc>
                  <a:txBody>
                    <a:bodyPr wrap="square"/>
                    <a:lstStyle/>
                    <a:p>
                      <a:r>
                        <a:rPr sz="1100" b="0">
                          <a:solidFill>
                            <a:srgbClr val="14202E"/>
                          </a:solidFill>
                          <a:latin typeface="Calibri"/>
                        </a:rPr>
                        <a:t>Conseil en ressources humaines</a:t>
                      </a:r>
                    </a:p>
                  </a:txBody>
                  <a:tcPr marL="54864" marR="54864" marT="22860" marB="22860" anchor="ctr">
                    <a:solidFill>
                      <a:srgbClr val="FAFBFC"/>
                    </a:solidFill>
                  </a:tcPr>
                </a:tc>
                <a:tc>
                  <a:txBody>
                    <a:bodyPr wrap="square"/>
                    <a:lstStyle/>
                    <a:p>
                      <a:pPr algn="r"/>
                      <a:r>
                        <a:rPr sz="1100" b="0">
                          <a:solidFill>
                            <a:srgbClr val="14202E"/>
                          </a:solidFill>
                          <a:latin typeface="Calibri"/>
                        </a:rPr>
                        <a:t>4</a:t>
                      </a:r>
                    </a:p>
                  </a:txBody>
                  <a:tcPr marL="54864" marR="54864" marT="22860" marB="22860" anchor="ctr">
                    <a:solidFill>
                      <a:srgbClr val="FAFBFC"/>
                    </a:solidFill>
                  </a:tcPr>
                </a:tc>
                <a:tc>
                  <a:txBody>
                    <a:bodyPr wrap="square"/>
                    <a:lstStyle/>
                    <a:p>
                      <a:pPr algn="r"/>
                      <a:r>
                        <a:rPr sz="1100" b="0">
                          <a:solidFill>
                            <a:srgbClr val="14202E"/>
                          </a:solidFill>
                          <a:latin typeface="Calibri"/>
                        </a:rPr>
                        <a:t>1</a:t>
                      </a:r>
                    </a:p>
                  </a:txBody>
                  <a:tcPr marL="54864" marR="54864" marT="22860" marB="22860" anchor="ctr">
                    <a:solidFill>
                      <a:srgbClr val="FAFBFC"/>
                    </a:solidFill>
                  </a:tcPr>
                </a:tc>
                <a:tc>
                  <a:txBody>
                    <a:bodyPr wrap="square"/>
                    <a:lstStyle/>
                    <a:p>
                      <a:pPr algn="r"/>
                      <a:r>
                        <a:rPr sz="1100" b="0">
                          <a:solidFill>
                            <a:srgbClr val="14202E"/>
                          </a:solidFill>
                          <a:latin typeface="Calibri"/>
                        </a:rPr>
                        <a:t>1 · 0 · 3</a:t>
                      </a:r>
                    </a:p>
                  </a:txBody>
                  <a:tcPr marL="54864" marR="54864" marT="22860" marB="22860" anchor="ctr">
                    <a:solidFill>
                      <a:srgbClr val="FAFBFC"/>
                    </a:solidFill>
                  </a:tcPr>
                </a:tc>
                <a:tc>
                  <a:txBody>
                    <a:bodyPr wrap="square"/>
                    <a:lstStyle/>
                    <a:p>
                      <a:r>
                        <a:rPr sz="1000" b="0">
                          <a:solidFill>
                            <a:srgbClr val="14202E"/>
                          </a:solidFill>
                          <a:latin typeface="Calibri"/>
                        </a:rPr>
                        <a:t>Ressources humaines (recrutement, politiques) 4</a:t>
                      </a:r>
                    </a:p>
                  </a:txBody>
                  <a:tcPr marL="54864" marR="54864" marT="22860" marB="22860" anchor="ctr">
                    <a:solidFill>
                      <a:srgbClr val="FAFBFC"/>
                    </a:solidFill>
                  </a:tcPr>
                </a:tc>
              </a:tr>
              <a:tr h="457200">
                <a:tc>
                  <a:txBody>
                    <a:bodyPr wrap="square"/>
                    <a:lstStyle/>
                    <a:p>
                      <a:r>
                        <a:rPr sz="1100" b="0">
                          <a:solidFill>
                            <a:srgbClr val="14202E"/>
                          </a:solidFill>
                          <a:latin typeface="Calibri"/>
                        </a:rPr>
                        <a:t>Compliance social</a:t>
                      </a:r>
                    </a:p>
                  </a:txBody>
                  <a:tcPr marL="54864" marR="54864" marT="22860" marB="22860" anchor="ctr">
                    <a:solidFill>
                      <a:srgbClr val="FFFFFF"/>
                    </a:solidFill>
                  </a:tcPr>
                </a:tc>
                <a:tc>
                  <a:txBody>
                    <a:bodyPr wrap="square"/>
                    <a:lstStyle/>
                    <a:p>
                      <a:pPr algn="r"/>
                      <a:r>
                        <a:rPr sz="1100" b="0">
                          <a:solidFill>
                            <a:srgbClr val="14202E"/>
                          </a:solidFill>
                          <a:latin typeface="Calibri"/>
                        </a:rPr>
                        <a:t>4</a:t>
                      </a:r>
                    </a:p>
                  </a:txBody>
                  <a:tcPr marL="54864" marR="54864" marT="22860" marB="22860" anchor="ctr">
                    <a:solidFill>
                      <a:srgbClr val="FFFFFF"/>
                    </a:solidFill>
                  </a:tcPr>
                </a:tc>
                <a:tc>
                  <a:txBody>
                    <a:bodyPr wrap="square"/>
                    <a:lstStyle/>
                    <a:p>
                      <a:pPr algn="r"/>
                      <a:r>
                        <a:rPr sz="1100" b="0">
                          <a:solidFill>
                            <a:srgbClr val="14202E"/>
                          </a:solidFill>
                          <a:latin typeface="Calibri"/>
                        </a:rPr>
                        <a:t>0</a:t>
                      </a:r>
                    </a:p>
                  </a:txBody>
                  <a:tcPr marL="54864" marR="54864" marT="22860" marB="22860" anchor="ctr">
                    <a:solidFill>
                      <a:srgbClr val="FFFFFF"/>
                    </a:solidFill>
                  </a:tcPr>
                </a:tc>
                <a:tc>
                  <a:txBody>
                    <a:bodyPr wrap="square"/>
                    <a:lstStyle/>
                    <a:p>
                      <a:pPr algn="r"/>
                      <a:r>
                        <a:rPr sz="1100" b="0">
                          <a:solidFill>
                            <a:srgbClr val="14202E"/>
                          </a:solidFill>
                          <a:latin typeface="Calibri"/>
                        </a:rPr>
                        <a:t>4 · 0 · 0</a:t>
                      </a:r>
                    </a:p>
                  </a:txBody>
                  <a:tcPr marL="54864" marR="54864" marT="22860" marB="22860" anchor="ctr">
                    <a:solidFill>
                      <a:srgbClr val="FFFFFF"/>
                    </a:solidFill>
                  </a:tcPr>
                </a:tc>
                <a:tc>
                  <a:txBody>
                    <a:bodyPr wrap="square"/>
                    <a:lstStyle/>
                    <a:p>
                      <a:r>
                        <a:rPr sz="1000" b="0">
                          <a:solidFill>
                            <a:srgbClr val="14202E"/>
                          </a:solidFill>
                          <a:latin typeface="Calibri"/>
                        </a:rPr>
                        <a:t>Compliance social (égalité, alerte, temps de travail) 4</a:t>
                      </a:r>
                    </a:p>
                  </a:txBody>
                  <a:tcPr marL="54864" marR="54864" marT="22860" marB="22860" anchor="ctr">
                    <a:solidFill>
                      <a:srgbClr val="FFFFFF"/>
                    </a:solidFill>
                  </a:tcPr>
                </a:tc>
              </a:tr>
              <a:tr h="457200">
                <a:tc>
                  <a:txBody>
                    <a:bodyPr wrap="square"/>
                    <a:lstStyle/>
                    <a:p>
                      <a:r>
                        <a:rPr sz="1100" b="0">
                          <a:solidFill>
                            <a:srgbClr val="14202E"/>
                          </a:solidFill>
                          <a:latin typeface="Calibri"/>
                        </a:rPr>
                        <a:t>Conseil social pour entreprises</a:t>
                      </a:r>
                    </a:p>
                  </a:txBody>
                  <a:tcPr marL="54864" marR="54864" marT="22860" marB="22860" anchor="ctr">
                    <a:solidFill>
                      <a:srgbClr val="FAFBFC"/>
                    </a:solidFill>
                  </a:tcPr>
                </a:tc>
                <a:tc>
                  <a:txBody>
                    <a:bodyPr wrap="square"/>
                    <a:lstStyle/>
                    <a:p>
                      <a:pPr algn="r"/>
                      <a:r>
                        <a:rPr sz="1100" b="0">
                          <a:solidFill>
                            <a:srgbClr val="14202E"/>
                          </a:solidFill>
                          <a:latin typeface="Calibri"/>
                        </a:rPr>
                        <a:t>11</a:t>
                      </a:r>
                    </a:p>
                  </a:txBody>
                  <a:tcPr marL="54864" marR="54864" marT="22860" marB="22860" anchor="ctr">
                    <a:solidFill>
                      <a:srgbClr val="FAFBFC"/>
                    </a:solidFill>
                  </a:tcPr>
                </a:tc>
                <a:tc>
                  <a:txBody>
                    <a:bodyPr wrap="square"/>
                    <a:lstStyle/>
                    <a:p>
                      <a:pPr algn="r"/>
                      <a:r>
                        <a:rPr sz="1100" b="0">
                          <a:solidFill>
                            <a:srgbClr val="14202E"/>
                          </a:solidFill>
                          <a:latin typeface="Calibri"/>
                        </a:rPr>
                        <a:t>3</a:t>
                      </a:r>
                    </a:p>
                  </a:txBody>
                  <a:tcPr marL="54864" marR="54864" marT="22860" marB="22860" anchor="ctr">
                    <a:solidFill>
                      <a:srgbClr val="FAFBFC"/>
                    </a:solidFill>
                  </a:tcPr>
                </a:tc>
                <a:tc>
                  <a:txBody>
                    <a:bodyPr wrap="square"/>
                    <a:lstStyle/>
                    <a:p>
                      <a:pPr algn="r"/>
                      <a:r>
                        <a:rPr sz="1100" b="0">
                          <a:solidFill>
                            <a:srgbClr val="14202E"/>
                          </a:solidFill>
                          <a:latin typeface="Calibri"/>
                        </a:rPr>
                        <a:t>3 · 0 · 8</a:t>
                      </a:r>
                    </a:p>
                  </a:txBody>
                  <a:tcPr marL="54864" marR="54864" marT="22860" marB="22860" anchor="ctr">
                    <a:solidFill>
                      <a:srgbClr val="FAFBFC"/>
                    </a:solidFill>
                  </a:tcPr>
                </a:tc>
                <a:tc>
                  <a:txBody>
                    <a:bodyPr wrap="square"/>
                    <a:lstStyle/>
                    <a:p>
                      <a:r>
                        <a:rPr sz="1000" b="0">
                          <a:solidFill>
                            <a:srgbClr val="14202E"/>
                          </a:solidFill>
                          <a:latin typeface="Calibri"/>
                        </a:rPr>
                        <a:t>Conseil social entreprise (affiliations, détachés, inspections) 11</a:t>
                      </a:r>
                    </a:p>
                  </a:txBody>
                  <a:tcPr marL="54864" marR="54864" marT="22860" marB="22860" anchor="ctr">
                    <a:solidFill>
                      <a:srgbClr val="FAFB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Thèmes combinés et étiquettes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15</a:t>
            </a:r>
          </a:p>
        </p:txBody>
      </p:sp>
      <p:sp>
        <p:nvSpPr>
          <p:cNvPr id="7" name="TextBox 6"/>
          <p:cNvSpPr txBox="1"/>
          <p:nvPr/>
        </p:nvSpPr>
        <p:spPr>
          <a:xfrm>
            <a:off x="548640" y="1417320"/>
            <a:ext cx="11064240" cy="50292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Paires de sous-thèmes qui apparaissent ensemble dans la même demande. Chaque paire est une étiquette combinée candidate et un parcours avec des questions partagées dans le formulaire. Le CSV contient le champ combo_label et la liste complète des sous-thèmes par demande.</a:t>
            </a:r>
          </a:p>
        </p:txBody>
      </p:sp>
      <p:graphicFrame>
        <p:nvGraphicFramePr>
          <p:cNvPr id="8" name="Table 7"/>
          <p:cNvGraphicFramePr>
            <a:graphicFrameLocks noGrp="1"/>
          </p:cNvGraphicFramePr>
          <p:nvPr/>
        </p:nvGraphicFramePr>
        <p:xfrm>
          <a:off x="548640" y="2011680"/>
          <a:ext cx="11064238" cy="4279392"/>
        </p:xfrm>
        <a:graphic>
          <a:graphicData uri="http://schemas.openxmlformats.org/drawingml/2006/table">
            <a:tbl>
              <a:tblPr firstRow="1" bandRow="1">
                <a:tableStyleId>{5C22544A-7EE6-4342-B048-85BDC9FD1C3A}</a:tableStyleId>
              </a:tblPr>
              <a:tblGrid>
                <a:gridCol w="7255239"/>
                <a:gridCol w="1088285"/>
                <a:gridCol w="2720714"/>
              </a:tblGrid>
              <a:tr h="329184">
                <a:tc>
                  <a:txBody>
                    <a:bodyPr wrap="square"/>
                    <a:lstStyle/>
                    <a:p>
                      <a:r>
                        <a:rPr sz="1000" b="1">
                          <a:solidFill>
                            <a:srgbClr val="FFFFFF"/>
                          </a:solidFill>
                          <a:latin typeface="Calibri"/>
                        </a:rPr>
                        <a:t>Combinaison</a:t>
                      </a:r>
                    </a:p>
                  </a:txBody>
                  <a:tcPr marL="54864" marR="54864" marT="22860" marB="22860" anchor="ctr">
                    <a:solidFill>
                      <a:srgbClr val="0B5C7A"/>
                    </a:solidFill>
                  </a:tcPr>
                </a:tc>
                <a:tc>
                  <a:txBody>
                    <a:bodyPr wrap="square"/>
                    <a:lstStyle/>
                    <a:p>
                      <a:pPr algn="r"/>
                      <a:r>
                        <a:rPr sz="1000" b="1">
                          <a:solidFill>
                            <a:srgbClr val="FFFFFF"/>
                          </a:solidFill>
                          <a:latin typeface="Calibri"/>
                        </a:rPr>
                        <a:t>Demandes</a:t>
                      </a:r>
                    </a:p>
                  </a:txBody>
                  <a:tcPr marL="54864" marR="54864" marT="22860" marB="22860" anchor="ctr">
                    <a:solidFill>
                      <a:srgbClr val="0B5C7A"/>
                    </a:solidFill>
                  </a:tcPr>
                </a:tc>
                <a:tc>
                  <a:txBody>
                    <a:bodyPr wrap="square"/>
                    <a:lstStyle/>
                    <a:p>
                      <a:r>
                        <a:rPr sz="1000" b="1">
                          <a:solidFill>
                            <a:srgbClr val="FFFFFF"/>
                          </a:solidFill>
                          <a:latin typeface="Calibri"/>
                        </a:rPr>
                        <a:t>Nom proposé</a:t>
                      </a:r>
                    </a:p>
                  </a:txBody>
                  <a:tcPr marL="54864" marR="54864" marT="22860" marB="22860" anchor="ctr">
                    <a:solidFill>
                      <a:srgbClr val="0B5C7A"/>
                    </a:solidFill>
                  </a:tcPr>
                </a:tc>
              </a:tr>
              <a:tr h="329184">
                <a:tc>
                  <a:txBody>
                    <a:bodyPr wrap="square"/>
                    <a:lstStyle/>
                    <a:p>
                      <a:r>
                        <a:rPr sz="1000" b="0">
                          <a:solidFill>
                            <a:srgbClr val="14202E"/>
                          </a:solidFill>
                          <a:latin typeface="Calibri"/>
                        </a:rPr>
                        <a:t>Inscription au padrón + NIE et TIE (carte)</a:t>
                      </a:r>
                    </a:p>
                  </a:txBody>
                  <a:tcPr marL="54864" marR="54864" marT="22860" marB="22860" anchor="ctr">
                    <a:solidFill>
                      <a:srgbClr val="FFFFFF"/>
                    </a:solidFill>
                  </a:tcPr>
                </a:tc>
                <a:tc>
                  <a:txBody>
                    <a:bodyPr wrap="square"/>
                    <a:lstStyle/>
                    <a:p>
                      <a:pPr algn="r"/>
                      <a:r>
                        <a:rPr sz="1000" b="0">
                          <a:solidFill>
                            <a:srgbClr val="14202E"/>
                          </a:solidFill>
                          <a:latin typeface="Calibri"/>
                        </a:rPr>
                        <a:t>15</a:t>
                      </a:r>
                    </a:p>
                  </a:txBody>
                  <a:tcPr marL="54864" marR="54864" marT="22860" marB="22860" anchor="ctr">
                    <a:solidFill>
                      <a:srgbClr val="FFFFFF"/>
                    </a:solidFill>
                  </a:tcPr>
                </a:tc>
                <a:tc>
                  <a:txBody>
                    <a:bodyPr wrap="square"/>
                    <a:lstStyle/>
                    <a:p>
                      <a:r>
                        <a:rPr sz="1000" b="0">
                          <a:solidFill>
                            <a:srgbClr val="14202E"/>
                          </a:solidFill>
                          <a:latin typeface="Calibri"/>
                        </a:rPr>
                        <a:t>Pack arrivée</a:t>
                      </a:r>
                    </a:p>
                  </a:txBody>
                  <a:tcPr marL="54864" marR="54864" marT="22860" marB="22860" anchor="ctr">
                    <a:solidFill>
                      <a:srgbClr val="FFFFFF"/>
                    </a:solidFill>
                  </a:tcPr>
                </a:tc>
              </a:tr>
              <a:tr h="329184">
                <a:tc>
                  <a:txBody>
                    <a:bodyPr wrap="square"/>
                    <a:lstStyle/>
                    <a:p>
                      <a:r>
                        <a:rPr sz="1000" b="0">
                          <a:solidFill>
                            <a:srgbClr val="14202E"/>
                          </a:solidFill>
                          <a:latin typeface="Calibri"/>
                        </a:rPr>
                        <a:t>Convention fiscale / résidence fiscale + Déclaration de revenus (IRPF)</a:t>
                      </a:r>
                    </a:p>
                  </a:txBody>
                  <a:tcPr marL="54864" marR="54864" marT="22860" marB="22860" anchor="ctr">
                    <a:solidFill>
                      <a:srgbClr val="FAFBFC"/>
                    </a:solidFill>
                  </a:tcPr>
                </a:tc>
                <a:tc>
                  <a:txBody>
                    <a:bodyPr wrap="square"/>
                    <a:lstStyle/>
                    <a:p>
                      <a:pPr algn="r"/>
                      <a:r>
                        <a:rPr sz="1000" b="0">
                          <a:solidFill>
                            <a:srgbClr val="14202E"/>
                          </a:solidFill>
                          <a:latin typeface="Calibri"/>
                        </a:rPr>
                        <a:t>15</a:t>
                      </a:r>
                    </a:p>
                  </a:txBody>
                  <a:tcPr marL="54864" marR="54864" marT="22860" marB="22860" anchor="ctr">
                    <a:solidFill>
                      <a:srgbClr val="FAFBFC"/>
                    </a:solidFill>
                  </a:tcPr>
                </a:tc>
                <a:tc>
                  <a:txBody>
                    <a:bodyPr wrap="square"/>
                    <a:lstStyle/>
                    <a:p>
                      <a:r>
                        <a:rPr sz="1000" b="0">
                          <a:solidFill>
                            <a:srgbClr val="14202E"/>
                          </a:solidFill>
                          <a:latin typeface="Calibri"/>
                        </a:rPr>
                        <a:t>Fiscalité de l'expatrié</a:t>
                      </a:r>
                    </a:p>
                  </a:txBody>
                  <a:tcPr marL="54864" marR="54864" marT="22860" marB="22860" anchor="ctr">
                    <a:solidFill>
                      <a:srgbClr val="FAFBFC"/>
                    </a:solidFill>
                  </a:tcPr>
                </a:tc>
              </a:tr>
              <a:tr h="329184">
                <a:tc>
                  <a:txBody>
                    <a:bodyPr wrap="square"/>
                    <a:lstStyle/>
                    <a:p>
                      <a:r>
                        <a:rPr sz="1000" b="0">
                          <a:solidFill>
                            <a:srgbClr val="14202E"/>
                          </a:solidFill>
                          <a:latin typeface="Calibri"/>
                        </a:rPr>
                        <a:t>TVA, comptabilité, gestion et IS + Créer une société / ouvrir une activité</a:t>
                      </a:r>
                    </a:p>
                  </a:txBody>
                  <a:tcPr marL="54864" marR="54864" marT="22860" marB="22860" anchor="ctr">
                    <a:solidFill>
                      <a:srgbClr val="FFFFFF"/>
                    </a:solidFill>
                  </a:tcPr>
                </a:tc>
                <a:tc>
                  <a:txBody>
                    <a:bodyPr wrap="square"/>
                    <a:lstStyle/>
                    <a:p>
                      <a:pPr algn="r"/>
                      <a:r>
                        <a:rPr sz="1000" b="0">
                          <a:solidFill>
                            <a:srgbClr val="14202E"/>
                          </a:solidFill>
                          <a:latin typeface="Calibri"/>
                        </a:rPr>
                        <a:t>13</a:t>
                      </a:r>
                    </a:p>
                  </a:txBody>
                  <a:tcPr marL="54864" marR="54864" marT="22860" marB="22860" anchor="ctr">
                    <a:solidFill>
                      <a:srgbClr val="FFFFFF"/>
                    </a:solidFill>
                  </a:tcPr>
                </a:tc>
                <a:tc>
                  <a:txBody>
                    <a:bodyPr wrap="square"/>
                    <a:lstStyle/>
                    <a:p>
                      <a:r>
                        <a:rPr sz="1000" b="0">
                          <a:solidFill>
                            <a:srgbClr val="14202E"/>
                          </a:solidFill>
                          <a:latin typeface="Calibri"/>
                        </a:rPr>
                        <a:t>Création et comptabilité</a:t>
                      </a:r>
                    </a:p>
                  </a:txBody>
                  <a:tcPr marL="54864" marR="54864" marT="22860" marB="22860" anchor="ctr">
                    <a:solidFill>
                      <a:srgbClr val="FFFFFF"/>
                    </a:solidFill>
                  </a:tcPr>
                </a:tc>
              </a:tr>
              <a:tr h="329184">
                <a:tc>
                  <a:txBody>
                    <a:bodyPr wrap="square"/>
                    <a:lstStyle/>
                    <a:p>
                      <a:r>
                        <a:rPr sz="1000" b="0">
                          <a:solidFill>
                            <a:srgbClr val="14202E"/>
                          </a:solidFill>
                          <a:latin typeface="Calibri"/>
                        </a:rPr>
                        <a:t>NIE et TIE (carte) + Créer une société / ouvrir une activité</a:t>
                      </a:r>
                    </a:p>
                  </a:txBody>
                  <a:tcPr marL="54864" marR="54864" marT="22860" marB="22860" anchor="ctr">
                    <a:solidFill>
                      <a:srgbClr val="FAFBFC"/>
                    </a:solidFill>
                  </a:tcPr>
                </a:tc>
                <a:tc>
                  <a:txBody>
                    <a:bodyPr wrap="square"/>
                    <a:lstStyle/>
                    <a:p>
                      <a:pPr algn="r"/>
                      <a:r>
                        <a:rPr sz="1000" b="0">
                          <a:solidFill>
                            <a:srgbClr val="14202E"/>
                          </a:solidFill>
                          <a:latin typeface="Calibri"/>
                        </a:rPr>
                        <a:t>13</a:t>
                      </a:r>
                    </a:p>
                  </a:txBody>
                  <a:tcPr marL="54864" marR="54864" marT="22860" marB="22860" anchor="ctr">
                    <a:solidFill>
                      <a:srgbClr val="FAFBFC"/>
                    </a:solidFill>
                  </a:tcPr>
                </a:tc>
                <a:tc>
                  <a:txBody>
                    <a:bodyPr wrap="square"/>
                    <a:lstStyle/>
                    <a:p>
                      <a:r>
                        <a:rPr sz="1000" b="0">
                          <a:solidFill>
                            <a:srgbClr val="14202E"/>
                          </a:solidFill>
                          <a:latin typeface="Calibri"/>
                        </a:rPr>
                        <a:t>Société et résidence</a:t>
                      </a:r>
                    </a:p>
                  </a:txBody>
                  <a:tcPr marL="54864" marR="54864" marT="22860" marB="22860" anchor="ctr">
                    <a:solidFill>
                      <a:srgbClr val="FAFBFC"/>
                    </a:solidFill>
                  </a:tcPr>
                </a:tc>
              </a:tr>
              <a:tr h="329184">
                <a:tc>
                  <a:txBody>
                    <a:bodyPr wrap="square"/>
                    <a:lstStyle/>
                    <a:p>
                      <a:r>
                        <a:rPr sz="1000" b="0">
                          <a:solidFill>
                            <a:srgbClr val="14202E"/>
                          </a:solidFill>
                          <a:latin typeface="Calibri"/>
                        </a:rPr>
                        <a:t>Entrepreneur / ENISA / startups + Créer une société / ouvrir une activité</a:t>
                      </a:r>
                    </a:p>
                  </a:txBody>
                  <a:tcPr marL="54864" marR="54864" marT="22860" marB="22860" anchor="ctr">
                    <a:solidFill>
                      <a:srgbClr val="FFFFFF"/>
                    </a:solidFill>
                  </a:tcPr>
                </a:tc>
                <a:tc>
                  <a:txBody>
                    <a:bodyPr wrap="square"/>
                    <a:lstStyle/>
                    <a:p>
                      <a:pPr algn="r"/>
                      <a:r>
                        <a:rPr sz="1000" b="0">
                          <a:solidFill>
                            <a:srgbClr val="14202E"/>
                          </a:solidFill>
                          <a:latin typeface="Calibri"/>
                        </a:rPr>
                        <a:t>13</a:t>
                      </a:r>
                    </a:p>
                  </a:txBody>
                  <a:tcPr marL="54864" marR="54864" marT="22860" marB="22860" anchor="ctr">
                    <a:solidFill>
                      <a:srgbClr val="FFFFFF"/>
                    </a:solidFill>
                  </a:tcPr>
                </a:tc>
                <a:tc>
                  <a:txBody>
                    <a:bodyPr wrap="square"/>
                    <a:lstStyle/>
                    <a:p>
                      <a:r>
                        <a:rPr sz="1000" b="0">
                          <a:solidFill>
                            <a:srgbClr val="14202E"/>
                          </a:solidFill>
                          <a:latin typeface="Calibri"/>
                        </a:rPr>
                        <a:t>Résidence d'entrepreneur</a:t>
                      </a:r>
                    </a:p>
                  </a:txBody>
                  <a:tcPr marL="54864" marR="54864" marT="22860" marB="22860" anchor="ctr">
                    <a:solidFill>
                      <a:srgbClr val="FFFFFF"/>
                    </a:solidFill>
                  </a:tcPr>
                </a:tc>
              </a:tr>
              <a:tr h="329184">
                <a:tc>
                  <a:txBody>
                    <a:bodyPr wrap="square"/>
                    <a:lstStyle/>
                    <a:p>
                      <a:r>
                        <a:rPr sz="1000" b="0">
                          <a:solidFill>
                            <a:srgbClr val="14202E"/>
                          </a:solidFill>
                          <a:latin typeface="Calibri"/>
                        </a:rPr>
                        <a:t>Acte notarié et registre foncier + Succession, testament et dévolution</a:t>
                      </a:r>
                    </a:p>
                  </a:txBody>
                  <a:tcPr marL="54864" marR="54864" marT="22860" marB="22860" anchor="ctr">
                    <a:solidFill>
                      <a:srgbClr val="FAFBFC"/>
                    </a:solidFill>
                  </a:tcPr>
                </a:tc>
                <a:tc>
                  <a:txBody>
                    <a:bodyPr wrap="square"/>
                    <a:lstStyle/>
                    <a:p>
                      <a:pPr algn="r"/>
                      <a:r>
                        <a:rPr sz="1000" b="0">
                          <a:solidFill>
                            <a:srgbClr val="14202E"/>
                          </a:solidFill>
                          <a:latin typeface="Calibri"/>
                        </a:rPr>
                        <a:t>12</a:t>
                      </a:r>
                    </a:p>
                  </a:txBody>
                  <a:tcPr marL="54864" marR="54864" marT="22860" marB="22860" anchor="ctr">
                    <a:solidFill>
                      <a:srgbClr val="FAFBFC"/>
                    </a:solidFill>
                  </a:tcPr>
                </a:tc>
                <a:tc>
                  <a:txBody>
                    <a:bodyPr wrap="square"/>
                    <a:lstStyle/>
                    <a:p>
                      <a:r>
                        <a:rPr sz="1000" b="0">
                          <a:solidFill>
                            <a:srgbClr val="14202E"/>
                          </a:solidFill>
                          <a:latin typeface="Calibri"/>
                        </a:rPr>
                        <a:t>Succession avec bien immobilier</a:t>
                      </a:r>
                    </a:p>
                  </a:txBody>
                  <a:tcPr marL="54864" marR="54864" marT="22860" marB="22860" anchor="ctr">
                    <a:solidFill>
                      <a:srgbClr val="FAFBFC"/>
                    </a:solidFill>
                  </a:tcPr>
                </a:tc>
              </a:tr>
              <a:tr h="329184">
                <a:tc>
                  <a:txBody>
                    <a:bodyPr wrap="square"/>
                    <a:lstStyle/>
                    <a:p>
                      <a:r>
                        <a:rPr sz="1000" b="0">
                          <a:solidFill>
                            <a:srgbClr val="14202E"/>
                          </a:solidFill>
                          <a:latin typeface="Calibri"/>
                        </a:rPr>
                        <a:t>Déménagement et installation en Espagne + NIE et TIE (carte)</a:t>
                      </a:r>
                    </a:p>
                  </a:txBody>
                  <a:tcPr marL="54864" marR="54864" marT="22860" marB="22860" anchor="ctr">
                    <a:solidFill>
                      <a:srgbClr val="FFFFFF"/>
                    </a:solidFill>
                  </a:tcPr>
                </a:tc>
                <a:tc>
                  <a:txBody>
                    <a:bodyPr wrap="square"/>
                    <a:lstStyle/>
                    <a:p>
                      <a:pPr algn="r"/>
                      <a:r>
                        <a:rPr sz="1000" b="0">
                          <a:solidFill>
                            <a:srgbClr val="14202E"/>
                          </a:solidFill>
                          <a:latin typeface="Calibri"/>
                        </a:rPr>
                        <a:t>12</a:t>
                      </a:r>
                    </a:p>
                  </a:txBody>
                  <a:tcPr marL="54864" marR="54864" marT="22860" marB="22860" anchor="ctr">
                    <a:solidFill>
                      <a:srgbClr val="FFFFFF"/>
                    </a:solidFill>
                  </a:tcPr>
                </a:tc>
                <a:tc>
                  <a:txBody>
                    <a:bodyPr wrap="square"/>
                    <a:lstStyle/>
                    <a:p>
                      <a:r>
                        <a:rPr sz="1000" b="0">
                          <a:solidFill>
                            <a:srgbClr val="14202E"/>
                          </a:solidFill>
                          <a:latin typeface="Calibri"/>
                        </a:rPr>
                        <a:t>Pack arrivée</a:t>
                      </a:r>
                    </a:p>
                  </a:txBody>
                  <a:tcPr marL="54864" marR="54864" marT="22860" marB="22860" anchor="ctr">
                    <a:solidFill>
                      <a:srgbClr val="FFFFFF"/>
                    </a:solidFill>
                  </a:tcPr>
                </a:tc>
              </a:tr>
              <a:tr h="329184">
                <a:tc>
                  <a:txBody>
                    <a:bodyPr wrap="square"/>
                    <a:lstStyle/>
                    <a:p>
                      <a:r>
                        <a:rPr sz="1000" b="0">
                          <a:solidFill>
                            <a:srgbClr val="14202E"/>
                          </a:solidFill>
                          <a:latin typeface="Calibri"/>
                        </a:rPr>
                        <a:t>NIE et TIE (carte) + TVA, comptabilité, gestion et IS</a:t>
                      </a:r>
                    </a:p>
                  </a:txBody>
                  <a:tcPr marL="54864" marR="54864" marT="22860" marB="22860" anchor="ctr">
                    <a:solidFill>
                      <a:srgbClr val="FAFBFC"/>
                    </a:solidFill>
                  </a:tcPr>
                </a:tc>
                <a:tc>
                  <a:txBody>
                    <a:bodyPr wrap="square"/>
                    <a:lstStyle/>
                    <a:p>
                      <a:pPr algn="r"/>
                      <a:r>
                        <a:rPr sz="1000" b="0">
                          <a:solidFill>
                            <a:srgbClr val="14202E"/>
                          </a:solidFill>
                          <a:latin typeface="Calibri"/>
                        </a:rPr>
                        <a:t>11</a:t>
                      </a:r>
                    </a:p>
                  </a:txBody>
                  <a:tcPr marL="54864" marR="54864" marT="22860" marB="22860" anchor="ctr">
                    <a:solidFill>
                      <a:srgbClr val="FAFBFC"/>
                    </a:solidFill>
                  </a:tcPr>
                </a:tc>
                <a:tc>
                  <a:txBody>
                    <a:bodyPr wrap="square"/>
                    <a:lstStyle/>
                    <a:p>
                      <a:r>
                        <a:rPr sz="1000" b="0">
                          <a:solidFill>
                            <a:srgbClr val="14202E"/>
                          </a:solidFill>
                          <a:latin typeface="Calibri"/>
                        </a:rPr>
                        <a:t>Arrivée et autónomo</a:t>
                      </a:r>
                    </a:p>
                  </a:txBody>
                  <a:tcPr marL="54864" marR="54864" marT="22860" marB="22860" anchor="ctr">
                    <a:solidFill>
                      <a:srgbClr val="FAFBFC"/>
                    </a:solidFill>
                  </a:tcPr>
                </a:tc>
              </a:tr>
              <a:tr h="329184">
                <a:tc>
                  <a:txBody>
                    <a:bodyPr wrap="square"/>
                    <a:lstStyle/>
                    <a:p>
                      <a:r>
                        <a:rPr sz="1000" b="0">
                          <a:solidFill>
                            <a:srgbClr val="14202E"/>
                          </a:solidFill>
                          <a:latin typeface="Calibri"/>
                        </a:rPr>
                        <a:t>NIE et TIE (carte) + Achat de bien immobilier</a:t>
                      </a:r>
                    </a:p>
                  </a:txBody>
                  <a:tcPr marL="54864" marR="54864" marT="22860" marB="22860" anchor="ctr">
                    <a:solidFill>
                      <a:srgbClr val="FFFFFF"/>
                    </a:solidFill>
                  </a:tcPr>
                </a:tc>
                <a:tc>
                  <a:txBody>
                    <a:bodyPr wrap="square"/>
                    <a:lstStyle/>
                    <a:p>
                      <a:pPr algn="r"/>
                      <a:r>
                        <a:rPr sz="1000" b="0">
                          <a:solidFill>
                            <a:srgbClr val="14202E"/>
                          </a:solidFill>
                          <a:latin typeface="Calibri"/>
                        </a:rPr>
                        <a:t>10</a:t>
                      </a:r>
                    </a:p>
                  </a:txBody>
                  <a:tcPr marL="54864" marR="54864" marT="22860" marB="22860" anchor="ctr">
                    <a:solidFill>
                      <a:srgbClr val="FFFFFF"/>
                    </a:solidFill>
                  </a:tcPr>
                </a:tc>
                <a:tc>
                  <a:txBody>
                    <a:bodyPr wrap="square"/>
                    <a:lstStyle/>
                    <a:p>
                      <a:r>
                        <a:rPr sz="1000" b="0">
                          <a:solidFill>
                            <a:srgbClr val="14202E"/>
                          </a:solidFill>
                          <a:latin typeface="Calibri"/>
                        </a:rPr>
                        <a:t>Acheter et résider</a:t>
                      </a:r>
                    </a:p>
                  </a:txBody>
                  <a:tcPr marL="54864" marR="54864" marT="22860" marB="22860" anchor="ctr">
                    <a:solidFill>
                      <a:srgbClr val="FFFFFF"/>
                    </a:solidFill>
                  </a:tcPr>
                </a:tc>
              </a:tr>
              <a:tr h="329184">
                <a:tc>
                  <a:txBody>
                    <a:bodyPr wrap="square"/>
                    <a:lstStyle/>
                    <a:p>
                      <a:r>
                        <a:rPr sz="1000" b="0">
                          <a:solidFill>
                            <a:srgbClr val="14202E"/>
                          </a:solidFill>
                          <a:latin typeface="Calibri"/>
                        </a:rPr>
                        <a:t>TVA, comptabilité, gestion et IS + Statut d'autónomo / indépendant / auto-entrepreneur</a:t>
                      </a:r>
                    </a:p>
                  </a:txBody>
                  <a:tcPr marL="54864" marR="54864" marT="22860" marB="22860" anchor="ctr">
                    <a:solidFill>
                      <a:srgbClr val="FAFBFC"/>
                    </a:solidFill>
                  </a:tcPr>
                </a:tc>
                <a:tc>
                  <a:txBody>
                    <a:bodyPr wrap="square"/>
                    <a:lstStyle/>
                    <a:p>
                      <a:pPr algn="r"/>
                      <a:r>
                        <a:rPr sz="1000" b="0">
                          <a:solidFill>
                            <a:srgbClr val="14202E"/>
                          </a:solidFill>
                          <a:latin typeface="Calibri"/>
                        </a:rPr>
                        <a:t>10</a:t>
                      </a:r>
                    </a:p>
                  </a:txBody>
                  <a:tcPr marL="54864" marR="54864" marT="22860" marB="22860" anchor="ctr">
                    <a:solidFill>
                      <a:srgbClr val="FAFBFC"/>
                    </a:solidFill>
                  </a:tcPr>
                </a:tc>
                <a:tc>
                  <a:txBody>
                    <a:bodyPr wrap="square"/>
                    <a:lstStyle/>
                    <a:p>
                      <a:r>
                        <a:rPr sz="1000" b="0">
                          <a:solidFill>
                            <a:srgbClr val="14202E"/>
                          </a:solidFill>
                          <a:latin typeface="Calibri"/>
                        </a:rPr>
                        <a:t>Autónomo et comptabilité</a:t>
                      </a:r>
                    </a:p>
                  </a:txBody>
                  <a:tcPr marL="54864" marR="54864" marT="22860" marB="22860" anchor="ctr">
                    <a:solidFill>
                      <a:srgbClr val="FAFBFC"/>
                    </a:solidFill>
                  </a:tcPr>
                </a:tc>
              </a:tr>
              <a:tr h="329184">
                <a:tc>
                  <a:txBody>
                    <a:bodyPr wrap="square"/>
                    <a:lstStyle/>
                    <a:p>
                      <a:r>
                        <a:rPr sz="1000" b="0">
                          <a:solidFill>
                            <a:srgbClr val="14202E"/>
                          </a:solidFill>
                          <a:latin typeface="Calibri"/>
                        </a:rPr>
                        <a:t>Convention fiscale / résidence fiscale + TVA, comptabilité, gestion et IS</a:t>
                      </a:r>
                    </a:p>
                  </a:txBody>
                  <a:tcPr marL="54864" marR="54864" marT="22860" marB="22860" anchor="ctr">
                    <a:solidFill>
                      <a:srgbClr val="FFFFFF"/>
                    </a:solidFill>
                  </a:tcPr>
                </a:tc>
                <a:tc>
                  <a:txBody>
                    <a:bodyPr wrap="square"/>
                    <a:lstStyle/>
                    <a:p>
                      <a:pPr algn="r"/>
                      <a:r>
                        <a:rPr sz="1000" b="0">
                          <a:solidFill>
                            <a:srgbClr val="14202E"/>
                          </a:solidFill>
                          <a:latin typeface="Calibri"/>
                        </a:rPr>
                        <a:t>10</a:t>
                      </a:r>
                    </a:p>
                  </a:txBody>
                  <a:tcPr marL="54864" marR="54864" marT="22860" marB="22860" anchor="ctr">
                    <a:solidFill>
                      <a:srgbClr val="FFFFFF"/>
                    </a:solidFill>
                  </a:tcPr>
                </a:tc>
                <a:tc>
                  <a:txBody>
                    <a:bodyPr wrap="square"/>
                    <a:lstStyle/>
                    <a:p>
                      <a:r>
                        <a:rPr sz="1000" b="0">
                          <a:solidFill>
                            <a:srgbClr val="14202E"/>
                          </a:solidFill>
                          <a:latin typeface="Calibri"/>
                        </a:rPr>
                        <a:t>Fiscalité société et expatrié</a:t>
                      </a:r>
                    </a:p>
                  </a:txBody>
                  <a:tcPr marL="54864" marR="54864" marT="22860" marB="22860" anchor="ctr">
                    <a:solidFill>
                      <a:srgbClr val="FFFFFF"/>
                    </a:solidFill>
                  </a:tcPr>
                </a:tc>
              </a:tr>
              <a:tr h="329184">
                <a:tc>
                  <a:txBody>
                    <a:bodyPr wrap="square"/>
                    <a:lstStyle/>
                    <a:p>
                      <a:r>
                        <a:rPr sz="1000" b="0">
                          <a:solidFill>
                            <a:srgbClr val="14202E"/>
                          </a:solidFill>
                          <a:latin typeface="Calibri"/>
                        </a:rPr>
                        <a:t>Déménagement et installation en Espagne + Créer une société / ouvrir une activité</a:t>
                      </a:r>
                    </a:p>
                  </a:txBody>
                  <a:tcPr marL="54864" marR="54864" marT="22860" marB="22860" anchor="ctr">
                    <a:solidFill>
                      <a:srgbClr val="FAFBFC"/>
                    </a:solidFill>
                  </a:tcPr>
                </a:tc>
                <a:tc>
                  <a:txBody>
                    <a:bodyPr wrap="square"/>
                    <a:lstStyle/>
                    <a:p>
                      <a:pPr algn="r"/>
                      <a:r>
                        <a:rPr sz="1000" b="0">
                          <a:solidFill>
                            <a:srgbClr val="14202E"/>
                          </a:solidFill>
                          <a:latin typeface="Calibri"/>
                        </a:rPr>
                        <a:t>10</a:t>
                      </a:r>
                    </a:p>
                  </a:txBody>
                  <a:tcPr marL="54864" marR="54864" marT="22860" marB="22860" anchor="ctr">
                    <a:solidFill>
                      <a:srgbClr val="FAFBFC"/>
                    </a:solidFill>
                  </a:tcPr>
                </a:tc>
                <a:tc>
                  <a:txBody>
                    <a:bodyPr wrap="square"/>
                    <a:lstStyle/>
                    <a:p>
                      <a:r>
                        <a:rPr sz="1000" b="0">
                          <a:solidFill>
                            <a:srgbClr val="14202E"/>
                          </a:solidFill>
                          <a:latin typeface="Calibri"/>
                        </a:rPr>
                        <a:t>Déménagement avec société</a:t>
                      </a:r>
                    </a:p>
                  </a:txBody>
                  <a:tcPr marL="54864" marR="54864" marT="22860" marB="22860" anchor="ctr">
                    <a:solidFill>
                      <a:srgbClr val="FAFB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Formulaire en 4 étapes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16</a:t>
            </a:r>
          </a:p>
        </p:txBody>
      </p:sp>
      <p:sp>
        <p:nvSpPr>
          <p:cNvPr id="7" name="TextBox 6"/>
          <p:cNvSpPr txBox="1"/>
          <p:nvPr/>
        </p:nvSpPr>
        <p:spPr>
          <a:xfrm>
            <a:off x="548640" y="1417320"/>
            <a:ext cx="11064240" cy="64008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La proposition remplace la liste de spécialités par des objectifs que les gens reconnaissent, accepte plusieurs réponses et préremplit les questions de chaque parcours. Les questions viennent de ce que les messages disent déjà et de ce qui manque presque toujours ; Félix et Sonia doivent les valider.</a:t>
            </a:r>
          </a:p>
        </p:txBody>
      </p:sp>
      <p:sp>
        <p:nvSpPr>
          <p:cNvPr id="8" name="Rounded Rectangle 7"/>
          <p:cNvSpPr/>
          <p:nvPr/>
        </p:nvSpPr>
        <p:spPr>
          <a:xfrm>
            <a:off x="548640"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Étape 1</a:t>
            </a:r>
          </a:p>
        </p:txBody>
      </p:sp>
      <p:sp>
        <p:nvSpPr>
          <p:cNvPr id="10" name="TextBox 9"/>
          <p:cNvSpPr txBox="1"/>
          <p:nvPr/>
        </p:nvSpPr>
        <p:spPr>
          <a:xfrm>
            <a:off x="658368"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De quoi avez-vous besoin ?</a:t>
            </a:r>
          </a:p>
        </p:txBody>
      </p:sp>
      <p:sp>
        <p:nvSpPr>
          <p:cNvPr id="11" name="TextBox 10"/>
          <p:cNvSpPr txBox="1"/>
          <p:nvPr/>
        </p:nvSpPr>
        <p:spPr>
          <a:xfrm>
            <a:off x="658368"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Cartes par objectif, pas par branche du droit</a:t>
            </a:r>
          </a:p>
          <a:p>
            <a:pPr>
              <a:spcAft>
                <a:spcPts val="400"/>
              </a:spcAft>
            </a:pPr>
            <a:r>
              <a:rPr sz="1100" b="0">
                <a:solidFill>
                  <a:srgbClr val="14202E"/>
                </a:solidFill>
                <a:latin typeface="Calibri"/>
              </a:rPr>
              <a:t>• Choix multiple (36 % mélangent les thèmes)</a:t>
            </a:r>
          </a:p>
          <a:p>
            <a:pPr>
              <a:spcAft>
                <a:spcPts val="400"/>
              </a:spcAft>
            </a:pPr>
            <a:r>
              <a:rPr sz="1100" b="0">
                <a:solidFill>
                  <a:srgbClr val="14202E"/>
                </a:solidFill>
                <a:latin typeface="Calibri"/>
              </a:rPr>
              <a:t>• Étiquettes cachées : domaine, page et sous-thème</a:t>
            </a:r>
          </a:p>
          <a:p>
            <a:pPr>
              <a:spcAft>
                <a:spcPts val="400"/>
              </a:spcAft>
            </a:pPr>
            <a:r>
              <a:rPr sz="1100" b="0">
                <a:solidFill>
                  <a:srgbClr val="14202E"/>
                </a:solidFill>
                <a:latin typeface="Calibri"/>
              </a:rPr>
              <a:t>• Après le choix : jusqu'à 3 guides du blog dans la langue de la page</a:t>
            </a:r>
          </a:p>
        </p:txBody>
      </p:sp>
      <p:sp>
        <p:nvSpPr>
          <p:cNvPr id="12" name="Rounded Rectangle 11"/>
          <p:cNvSpPr/>
          <p:nvPr/>
        </p:nvSpPr>
        <p:spPr>
          <a:xfrm>
            <a:off x="3337560"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7288"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Étape 2</a:t>
            </a:r>
          </a:p>
        </p:txBody>
      </p:sp>
      <p:sp>
        <p:nvSpPr>
          <p:cNvPr id="14" name="TextBox 13"/>
          <p:cNvSpPr txBox="1"/>
          <p:nvPr/>
        </p:nvSpPr>
        <p:spPr>
          <a:xfrm>
            <a:off x="3447288"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Votre situation</a:t>
            </a:r>
          </a:p>
        </p:txBody>
      </p:sp>
      <p:sp>
        <p:nvSpPr>
          <p:cNvPr id="15" name="TextBox 14"/>
          <p:cNvSpPr txBox="1"/>
          <p:nvPr/>
        </p:nvSpPr>
        <p:spPr>
          <a:xfrm>
            <a:off x="3447288"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Nationalité et pays de résidence (champs propres, absents aujourd'hui)</a:t>
            </a:r>
          </a:p>
          <a:p>
            <a:pPr>
              <a:spcAft>
                <a:spcPts val="400"/>
              </a:spcAft>
            </a:pPr>
            <a:r>
              <a:rPr sz="1100" b="0">
                <a:solidFill>
                  <a:srgbClr val="14202E"/>
                </a:solidFill>
                <a:latin typeface="Calibri"/>
              </a:rPr>
              <a:t>• Particulier ou entreprise</a:t>
            </a:r>
          </a:p>
          <a:p>
            <a:pPr>
              <a:spcAft>
                <a:spcPts val="400"/>
              </a:spcAft>
            </a:pPr>
            <a:r>
              <a:rPr sz="1100" b="0">
                <a:solidFill>
                  <a:srgbClr val="14202E"/>
                </a:solidFill>
                <a:latin typeface="Calibri"/>
              </a:rPr>
              <a:t>• Vivez-vous déjà en Espagne ?</a:t>
            </a:r>
          </a:p>
          <a:p>
            <a:pPr>
              <a:spcAft>
                <a:spcPts val="400"/>
              </a:spcAft>
            </a:pPr>
            <a:r>
              <a:rPr sz="1100" b="0">
                <a:solidFill>
                  <a:srgbClr val="14202E"/>
                </a:solidFill>
                <a:latin typeface="Calibri"/>
              </a:rPr>
              <a:t>• Date limite s'il y en a une</a:t>
            </a:r>
          </a:p>
        </p:txBody>
      </p:sp>
      <p:sp>
        <p:nvSpPr>
          <p:cNvPr id="16" name="Rounded Rectangle 15"/>
          <p:cNvSpPr/>
          <p:nvPr/>
        </p:nvSpPr>
        <p:spPr>
          <a:xfrm>
            <a:off x="6126479"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7"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Étape 3</a:t>
            </a:r>
          </a:p>
        </p:txBody>
      </p:sp>
      <p:sp>
        <p:nvSpPr>
          <p:cNvPr id="18" name="TextBox 17"/>
          <p:cNvSpPr txBox="1"/>
          <p:nvPr/>
        </p:nvSpPr>
        <p:spPr>
          <a:xfrm>
            <a:off x="6236207"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Détails de votre cas</a:t>
            </a:r>
          </a:p>
        </p:txBody>
      </p:sp>
      <p:sp>
        <p:nvSpPr>
          <p:cNvPr id="19" name="TextBox 18"/>
          <p:cNvSpPr txBox="1"/>
          <p:nvPr/>
        </p:nvSpPr>
        <p:spPr>
          <a:xfrm>
            <a:off x="6236207"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4 à 6 questions préremplies selon les parcours cochés</a:t>
            </a:r>
          </a:p>
          <a:p>
            <a:pPr>
              <a:spcAft>
                <a:spcPts val="400"/>
              </a:spcAft>
            </a:pPr>
            <a:r>
              <a:rPr sz="1100" b="0">
                <a:solidFill>
                  <a:srgbClr val="14202E"/>
                </a:solidFill>
                <a:latin typeface="Calibri"/>
              </a:rPr>
              <a:t>• Réponses courtes ou à choix</a:t>
            </a:r>
          </a:p>
          <a:p>
            <a:pPr>
              <a:spcAft>
                <a:spcPts val="400"/>
              </a:spcAft>
            </a:pPr>
            <a:r>
              <a:rPr sz="1100" b="0">
                <a:solidFill>
                  <a:srgbClr val="14202E"/>
                </a:solidFill>
                <a:latin typeface="Calibri"/>
              </a:rPr>
              <a:t>• Joindre la décision ou le document clé (facultatif)</a:t>
            </a:r>
          </a:p>
        </p:txBody>
      </p:sp>
      <p:sp>
        <p:nvSpPr>
          <p:cNvPr id="20" name="Rounded Rectangle 19"/>
          <p:cNvSpPr/>
          <p:nvPr/>
        </p:nvSpPr>
        <p:spPr>
          <a:xfrm>
            <a:off x="8915399"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5127"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Étape 4</a:t>
            </a:r>
          </a:p>
        </p:txBody>
      </p:sp>
      <p:sp>
        <p:nvSpPr>
          <p:cNvPr id="22" name="TextBox 21"/>
          <p:cNvSpPr txBox="1"/>
          <p:nvPr/>
        </p:nvSpPr>
        <p:spPr>
          <a:xfrm>
            <a:off x="9025127"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Contact et suite</a:t>
            </a:r>
          </a:p>
        </p:txBody>
      </p:sp>
      <p:sp>
        <p:nvSpPr>
          <p:cNvPr id="23" name="TextBox 22"/>
          <p:cNvSpPr txBox="1"/>
          <p:nvPr/>
        </p:nvSpPr>
        <p:spPr>
          <a:xfrm>
            <a:off x="9025127"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Nom, e-mail, téléphone, canal préféré</a:t>
            </a:r>
          </a:p>
          <a:p>
            <a:pPr>
              <a:spcAft>
                <a:spcPts val="400"/>
              </a:spcAft>
            </a:pPr>
            <a:r>
              <a:rPr sz="1100" b="0">
                <a:solidFill>
                  <a:srgbClr val="14202E"/>
                </a:solidFill>
                <a:latin typeface="Calibri"/>
              </a:rPr>
              <a:t>• Résumé étiqueté avant l'envoi</a:t>
            </a:r>
          </a:p>
          <a:p>
            <a:pPr>
              <a:spcAft>
                <a:spcPts val="400"/>
              </a:spcAft>
            </a:pPr>
            <a:r>
              <a:rPr sz="1100" b="0">
                <a:solidFill>
                  <a:srgbClr val="14202E"/>
                </a:solidFill>
                <a:latin typeface="Calibri"/>
              </a:rPr>
              <a:t>• Deux sorties : « Je veux une consultation » ou « Je veux seulement de l'information » (guides et abonnement)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FORMULAIRE EN 4 ÉTAPES</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450" b="1">
                <a:solidFill>
                  <a:srgbClr val="14202E"/>
                </a:solidFill>
                <a:latin typeface="Georgia"/>
              </a:rPr>
              <a:t>Parcours de l'étape 1, avec leur demande et les questions de l'étape 3</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17</a:t>
            </a:r>
          </a:p>
        </p:txBody>
      </p:sp>
      <p:sp>
        <p:nvSpPr>
          <p:cNvPr id="7" name="Rounded Rectangle 6"/>
          <p:cNvSpPr/>
          <p:nvPr/>
        </p:nvSpPr>
        <p:spPr>
          <a:xfrm>
            <a:off x="548640"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Résider, travailler ou étudier en Espagne</a:t>
            </a:r>
          </a:p>
        </p:txBody>
      </p:sp>
      <p:sp>
        <p:nvSpPr>
          <p:cNvPr id="9" name="TextBox 8"/>
          <p:cNvSpPr txBox="1"/>
          <p:nvPr/>
        </p:nvSpPr>
        <p:spPr>
          <a:xfrm>
            <a:off x="658368"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260 demandes · 35 % seulement information</a:t>
            </a:r>
          </a:p>
        </p:txBody>
      </p:sp>
      <p:sp>
        <p:nvSpPr>
          <p:cNvPr id="10" name="TextBox 9"/>
          <p:cNvSpPr txBox="1"/>
          <p:nvPr/>
        </p:nvSpPr>
        <p:spPr>
          <a:xfrm>
            <a:off x="658368" y="2377440"/>
            <a:ext cx="3383280" cy="2788920"/>
          </a:xfrm>
          <a:prstGeom prst="rect">
            <a:avLst/>
          </a:prstGeom>
          <a:noFill/>
        </p:spPr>
        <p:txBody>
          <a:bodyPr wrap="square" lIns="45720" rIns="45720" tIns="27432" bIns="27432">
            <a:spAutoFit/>
          </a:bodyPr>
          <a:lstStyle/>
          <a:p>
            <a:pPr>
              <a:spcAft>
                <a:spcPts val="400"/>
              </a:spcAft>
            </a:pPr>
            <a:r>
              <a:rPr sz="900" b="0">
                <a:solidFill>
                  <a:srgbClr val="14202E"/>
                </a:solidFill>
                <a:latin typeface="Calibri"/>
              </a:rPr>
              <a:t>1. Où êtes-vous aujourd'hui ? Hors d'Espagne · en Espagne avec un titre · en Espagne sans titre ou avec un délai dépassé · citoyen de l'UE ou proche</a:t>
            </a:r>
          </a:p>
          <a:p>
            <a:pPr>
              <a:spcAft>
                <a:spcPts val="400"/>
              </a:spcAft>
            </a:pPr>
            <a:r>
              <a:rPr sz="900" b="0">
                <a:solidFill>
                  <a:srgbClr val="14202E"/>
                </a:solidFill>
                <a:latin typeface="Calibri"/>
              </a:rPr>
              <a:t>2. Que voulez-vous faire ? Vivre sans travailler · télétravailler pour une entreprise étrangère · travailler comme salarié · monter une activité · étudier · regrouper famille ou conjoint · nationalité · régularisation · contester un refus</a:t>
            </a:r>
          </a:p>
          <a:p>
            <a:pPr>
              <a:spcAft>
                <a:spcPts val="400"/>
              </a:spcAft>
            </a:pPr>
            <a:r>
              <a:rPr sz="900" b="0">
                <a:solidFill>
                  <a:srgbClr val="14202E"/>
                </a:solidFill>
                <a:latin typeface="Calibri"/>
              </a:rPr>
              <a:t>3. Qui vous accompagne ? Conjoint, enfants, parents, et leur nationalité</a:t>
            </a:r>
          </a:p>
          <a:p>
            <a:pPr>
              <a:spcAft>
                <a:spcPts val="400"/>
              </a:spcAft>
            </a:pPr>
            <a:r>
              <a:rPr sz="900" b="0">
                <a:solidFill>
                  <a:srgbClr val="14202E"/>
                </a:solidFill>
                <a:latin typeface="Calibri"/>
              </a:rPr>
              <a:t>4. Date clé : échéance de la carte ou du visa, délai d'une demande de pièces ou arrivée prévue</a:t>
            </a:r>
          </a:p>
          <a:p>
            <a:pPr>
              <a:spcAft>
                <a:spcPts val="400"/>
              </a:spcAft>
            </a:pPr>
            <a:r>
              <a:rPr sz="900" b="0">
                <a:solidFill>
                  <a:srgbClr val="14202E"/>
                </a:solidFill>
                <a:latin typeface="Calibri"/>
              </a:rPr>
              <a:t>5. Origine et montant approximatif des revenus (seulement nomade, non lucratif et entrepreneur)</a:t>
            </a:r>
          </a:p>
          <a:p>
            <a:pPr>
              <a:spcAft>
                <a:spcPts val="400"/>
              </a:spcAft>
            </a:pPr>
            <a:r>
              <a:rPr sz="900" b="0">
                <a:solidFill>
                  <a:srgbClr val="14202E"/>
                </a:solidFill>
                <a:latin typeface="Calibri"/>
              </a:rPr>
              <a:t>6. Avez-vous reçu un refus ou une demande de pièces ? Joindre la décision</a:t>
            </a:r>
          </a:p>
        </p:txBody>
      </p:sp>
      <p:sp>
        <p:nvSpPr>
          <p:cNvPr id="11" name="TextBox 10"/>
          <p:cNvSpPr txBox="1"/>
          <p:nvPr/>
        </p:nvSpPr>
        <p:spPr>
          <a:xfrm>
            <a:off x="658368"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Renouvellement du titre de séjour non lucratif : la nouvelle condition des 183 jours (RD 1155/2024)</a:t>
            </a:r>
          </a:p>
          <a:p>
            <a:pPr>
              <a:spcAft>
                <a:spcPts val="200"/>
              </a:spcAft>
            </a:pPr>
            <a:r>
              <a:rPr sz="900" b="0">
                <a:solidFill>
                  <a:srgbClr val="14202E"/>
                </a:solidFill>
                <a:latin typeface="Calibri"/>
              </a:rPr>
              <a:t>Visa nomade digital espagnol (DNV) 2026 : guide complet pour francophones, conditions et régime Beckham étendu</a:t>
            </a:r>
          </a:p>
        </p:txBody>
      </p:sp>
      <p:sp>
        <p:nvSpPr>
          <p:cNvPr id="12" name="Rounded Rectangle 11"/>
          <p:cNvSpPr/>
          <p:nvPr/>
        </p:nvSpPr>
        <p:spPr>
          <a:xfrm>
            <a:off x="429767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Impôts et fiscalité</a:t>
            </a:r>
          </a:p>
        </p:txBody>
      </p:sp>
      <p:sp>
        <p:nvSpPr>
          <p:cNvPr id="14" name="TextBox 13"/>
          <p:cNvSpPr txBox="1"/>
          <p:nvPr/>
        </p:nvSpPr>
        <p:spPr>
          <a:xfrm>
            <a:off x="440740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193 demandes · 35 % seulement information</a:t>
            </a:r>
          </a:p>
        </p:txBody>
      </p:sp>
      <p:sp>
        <p:nvSpPr>
          <p:cNvPr id="15" name="TextBox 14"/>
          <p:cNvSpPr txBox="1"/>
          <p:nvPr/>
        </p:nvSpPr>
        <p:spPr>
          <a:xfrm>
            <a:off x="4407407" y="2377440"/>
            <a:ext cx="3383280" cy="2788920"/>
          </a:xfrm>
          <a:prstGeom prst="rect">
            <a:avLst/>
          </a:prstGeom>
          <a:noFill/>
        </p:spPr>
        <p:txBody>
          <a:bodyPr wrap="square" lIns="45720" rIns="45720" tIns="27432" bIns="27432">
            <a:spAutoFit/>
          </a:bodyPr>
          <a:lstStyle/>
          <a:p>
            <a:pPr>
              <a:spcAft>
                <a:spcPts val="400"/>
              </a:spcAft>
            </a:pPr>
            <a:r>
              <a:rPr sz="1050" b="0">
                <a:solidFill>
                  <a:srgbClr val="14202E"/>
                </a:solidFill>
                <a:latin typeface="Calibri"/>
              </a:rPr>
              <a:t>1. Profil fiscal : résident en Espagne · non-résident propriétaire · arrive cette année · doute sur la résidence fiscale</a:t>
            </a:r>
          </a:p>
          <a:p>
            <a:pPr>
              <a:spcAft>
                <a:spcPts val="400"/>
              </a:spcAft>
            </a:pPr>
            <a:r>
              <a:rPr sz="1050" b="0">
                <a:solidFill>
                  <a:srgbClr val="14202E"/>
                </a:solidFill>
                <a:latin typeface="Calibri"/>
              </a:rPr>
              <a:t>2. Pays concernés et type de revenus : salaire, loyers, indépendant, dividendes, retraite, vente d'un bien, crypto</a:t>
            </a:r>
          </a:p>
          <a:p>
            <a:pPr>
              <a:spcAft>
                <a:spcPts val="400"/>
              </a:spcAft>
            </a:pPr>
            <a:r>
              <a:rPr sz="1050" b="0">
                <a:solidFill>
                  <a:srgbClr val="14202E"/>
                </a:solidFill>
                <a:latin typeface="Calibri"/>
              </a:rPr>
              <a:t>3. Sujet : déclaration de revenus · Modèle 210 · régime Beckham · avoirs à l'étranger · plus-value · TVA et comptabilité · courrier du fisc</a:t>
            </a:r>
          </a:p>
          <a:p>
            <a:pPr>
              <a:spcAft>
                <a:spcPts val="400"/>
              </a:spcAft>
            </a:pPr>
            <a:r>
              <a:rPr sz="1050" b="0">
                <a:solidFill>
                  <a:srgbClr val="14202E"/>
                </a:solidFill>
                <a:latin typeface="Calibri"/>
              </a:rPr>
              <a:t>4. Exercices concernés et délai d'une éventuelle demande de l'administration</a:t>
            </a:r>
          </a:p>
          <a:p>
            <a:pPr>
              <a:spcAft>
                <a:spcPts val="400"/>
              </a:spcAft>
            </a:pPr>
            <a:r>
              <a:rPr sz="1050" b="0">
                <a:solidFill>
                  <a:srgbClr val="14202E"/>
                </a:solidFill>
                <a:latin typeface="Calibri"/>
              </a:rPr>
              <a:t>5. Avez-vous un patrimoine important hors d'Espagne ?</a:t>
            </a:r>
          </a:p>
        </p:txBody>
      </p:sp>
      <p:sp>
        <p:nvSpPr>
          <p:cNvPr id="16" name="TextBox 15"/>
          <p:cNvSpPr txBox="1"/>
          <p:nvPr/>
        </p:nvSpPr>
        <p:spPr>
          <a:xfrm>
            <a:off x="440740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IRPF en Espagne 2026 : barèmes, résidence fiscale et Loi Beckham</a:t>
            </a:r>
          </a:p>
          <a:p>
            <a:pPr>
              <a:spcAft>
                <a:spcPts val="200"/>
              </a:spcAft>
            </a:pPr>
            <a:r>
              <a:rPr sz="900" b="0">
                <a:solidFill>
                  <a:srgbClr val="14202E"/>
                </a:solidFill>
                <a:latin typeface="Calibri"/>
              </a:rPr>
              <a:t>Déclarer ses cryptomonnaies en Espagne 2026 : IRPF, Modelo 721, DAC8 et sanctions</a:t>
            </a:r>
          </a:p>
        </p:txBody>
      </p:sp>
      <p:sp>
        <p:nvSpPr>
          <p:cNvPr id="17" name="Rounded Rectangle 16"/>
          <p:cNvSpPr/>
          <p:nvPr/>
        </p:nvSpPr>
        <p:spPr>
          <a:xfrm>
            <a:off x="804671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Acheter, vendre ou louer un bien</a:t>
            </a:r>
          </a:p>
        </p:txBody>
      </p:sp>
      <p:sp>
        <p:nvSpPr>
          <p:cNvPr id="19" name="TextBox 18"/>
          <p:cNvSpPr txBox="1"/>
          <p:nvPr/>
        </p:nvSpPr>
        <p:spPr>
          <a:xfrm>
            <a:off x="815644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174 demandes · 29 % seulement information</a:t>
            </a:r>
          </a:p>
        </p:txBody>
      </p:sp>
      <p:sp>
        <p:nvSpPr>
          <p:cNvPr id="20" name="TextBox 19"/>
          <p:cNvSpPr txBox="1"/>
          <p:nvPr/>
        </p:nvSpPr>
        <p:spPr>
          <a:xfrm>
            <a:off x="815644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De quoi avez-vous besoin ? Acheter · vendre · louer · travaux ou permis · copropriété · location touristique · litige</a:t>
            </a:r>
          </a:p>
          <a:p>
            <a:pPr>
              <a:spcAft>
                <a:spcPts val="400"/>
              </a:spcAft>
            </a:pPr>
            <a:r>
              <a:rPr sz="1150" b="0">
                <a:solidFill>
                  <a:srgbClr val="14202E"/>
                </a:solidFill>
                <a:latin typeface="Calibri"/>
              </a:rPr>
              <a:t>2. Où en êtes-vous ? Recherche · offre ou arras faites · contrat signé · problème après coup</a:t>
            </a:r>
          </a:p>
          <a:p>
            <a:pPr>
              <a:spcAft>
                <a:spcPts val="400"/>
              </a:spcAft>
            </a:pPr>
            <a:r>
              <a:rPr sz="1150" b="0">
                <a:solidFill>
                  <a:srgbClr val="14202E"/>
                </a:solidFill>
                <a:latin typeface="Calibri"/>
              </a:rPr>
              <a:t>3. Province ou commune et type de bien</a:t>
            </a:r>
          </a:p>
          <a:p>
            <a:pPr>
              <a:spcAft>
                <a:spcPts val="400"/>
              </a:spcAft>
            </a:pPr>
            <a:r>
              <a:rPr sz="1150" b="0">
                <a:solidFill>
                  <a:srgbClr val="14202E"/>
                </a:solidFill>
                <a:latin typeface="Calibri"/>
              </a:rPr>
              <a:t>4. Achat en nom propre ou via société (SCI) ? Êtes-vous résident fiscal en Espagne ?</a:t>
            </a:r>
          </a:p>
          <a:p>
            <a:pPr>
              <a:spcAft>
                <a:spcPts val="400"/>
              </a:spcAft>
            </a:pPr>
            <a:r>
              <a:rPr sz="1150" b="0">
                <a:solidFill>
                  <a:srgbClr val="14202E"/>
                </a:solidFill>
                <a:latin typeface="Calibri"/>
              </a:rPr>
              <a:t>5. Besoin d'un prêt ou d'un financement ? Prix approximatif</a:t>
            </a:r>
          </a:p>
          <a:p>
            <a:pPr>
              <a:spcAft>
                <a:spcPts val="400"/>
              </a:spcAft>
            </a:pPr>
            <a:r>
              <a:rPr sz="1150" b="0">
                <a:solidFill>
                  <a:srgbClr val="14202E"/>
                </a:solidFill>
                <a:latin typeface="Calibri"/>
              </a:rPr>
              <a:t>6. En cas de litige : contrat ou acte à portée de main et partie adverse</a:t>
            </a:r>
          </a:p>
        </p:txBody>
      </p:sp>
      <p:sp>
        <p:nvSpPr>
          <p:cNvPr id="21" name="TextBox 20"/>
          <p:cNvSpPr txBox="1"/>
          <p:nvPr/>
        </p:nvSpPr>
        <p:spPr>
          <a:xfrm>
            <a:off x="815644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Quels impôts s’appliquent à l’achat d’un bien immobilier en Espagne ?</a:t>
            </a:r>
          </a:p>
          <a:p>
            <a:pPr>
              <a:spcAft>
                <a:spcPts val="200"/>
              </a:spcAft>
            </a:pPr>
            <a:r>
              <a:rPr sz="900" b="0">
                <a:solidFill>
                  <a:srgbClr val="14202E"/>
                </a:solidFill>
                <a:latin typeface="Calibri"/>
              </a:rPr>
              <a:t>Acquérir un bien immobilier en Espagne : un investissement avantageux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FORMULAIRE EN 4 ÉTAPES</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450" b="1">
                <a:solidFill>
                  <a:srgbClr val="14202E"/>
                </a:solidFill>
                <a:latin typeface="Georgia"/>
              </a:rPr>
              <a:t>Parcours de l'étape 1, avec leur demande et les questions de l'étape 3</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18</a:t>
            </a:r>
          </a:p>
        </p:txBody>
      </p:sp>
      <p:sp>
        <p:nvSpPr>
          <p:cNvPr id="7" name="Rounded Rectangle 6"/>
          <p:cNvSpPr/>
          <p:nvPr/>
        </p:nvSpPr>
        <p:spPr>
          <a:xfrm>
            <a:off x="548640"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Arriver et s'organiser (NIE, padrón, santé, banque)</a:t>
            </a:r>
          </a:p>
        </p:txBody>
      </p:sp>
      <p:sp>
        <p:nvSpPr>
          <p:cNvPr id="9" name="TextBox 8"/>
          <p:cNvSpPr txBox="1"/>
          <p:nvPr/>
        </p:nvSpPr>
        <p:spPr>
          <a:xfrm>
            <a:off x="658368"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131 demandes · 33 % seulement information</a:t>
            </a:r>
          </a:p>
        </p:txBody>
      </p:sp>
      <p:sp>
        <p:nvSpPr>
          <p:cNvPr id="10" name="TextBox 9"/>
          <p:cNvSpPr txBox="1"/>
          <p:nvPr/>
        </p:nvSpPr>
        <p:spPr>
          <a:xfrm>
            <a:off x="658368"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Avez-vous déjà un NIE ? Êtes-vous inscrit au padrón ?</a:t>
            </a:r>
          </a:p>
          <a:p>
            <a:pPr>
              <a:spcAft>
                <a:spcPts val="400"/>
              </a:spcAft>
            </a:pPr>
            <a:r>
              <a:rPr sz="1150" b="0">
                <a:solidFill>
                  <a:srgbClr val="14202E"/>
                </a:solidFill>
                <a:latin typeface="Calibri"/>
              </a:rPr>
              <a:t>2. Date d'arrivée ou de déménagement et ville</a:t>
            </a:r>
          </a:p>
          <a:p>
            <a:pPr>
              <a:spcAft>
                <a:spcPts val="400"/>
              </a:spcAft>
            </a:pPr>
            <a:r>
              <a:rPr sz="1150" b="0">
                <a:solidFill>
                  <a:srgbClr val="14202E"/>
                </a:solidFill>
                <a:latin typeface="Calibri"/>
              </a:rPr>
              <a:t>3. De quoi avez-vous besoin ? NIE et TIE · padrón · carte de santé et numéro de Sécurité sociale · compte bancaire · échange du permis · équivalence de diplômes</a:t>
            </a:r>
          </a:p>
          <a:p>
            <a:pPr>
              <a:spcAft>
                <a:spcPts val="400"/>
              </a:spcAft>
            </a:pPr>
            <a:r>
              <a:rPr sz="1150" b="0">
                <a:solidFill>
                  <a:srgbClr val="14202E"/>
                </a:solidFill>
                <a:latin typeface="Calibri"/>
              </a:rPr>
              <a:t>4. Venez-vous en famille ou avec des enfants scolarisés ?</a:t>
            </a:r>
          </a:p>
          <a:p>
            <a:pPr>
              <a:spcAft>
                <a:spcPts val="400"/>
              </a:spcAft>
            </a:pPr>
            <a:r>
              <a:rPr sz="1150" b="0">
                <a:solidFill>
                  <a:srgbClr val="14202E"/>
                </a:solidFill>
                <a:latin typeface="Calibri"/>
              </a:rPr>
              <a:t>5. Allez-vous créer une société ou vous déclarer autónomo ? (si oui, proposer le parcours Entreprise)</a:t>
            </a:r>
          </a:p>
        </p:txBody>
      </p:sp>
      <p:sp>
        <p:nvSpPr>
          <p:cNvPr id="11" name="TextBox 10"/>
          <p:cNvSpPr txBox="1"/>
          <p:nvPr/>
        </p:nvSpPr>
        <p:spPr>
          <a:xfrm>
            <a:off x="658368"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Calendrier fiscal espagnol : toutes les échéances pour résidents et expatriés</a:t>
            </a:r>
          </a:p>
          <a:p>
            <a:pPr>
              <a:spcAft>
                <a:spcPts val="200"/>
              </a:spcAft>
            </a:pPr>
            <a:r>
              <a:rPr sz="900" b="0">
                <a:solidFill>
                  <a:srgbClr val="14202E"/>
                </a:solidFill>
                <a:latin typeface="Calibri"/>
              </a:rPr>
              <a:t>L’assurance santé privée en Espagne pour expatriés : coûts, assureurs et exigences de visa</a:t>
            </a:r>
          </a:p>
        </p:txBody>
      </p:sp>
      <p:sp>
        <p:nvSpPr>
          <p:cNvPr id="12" name="Rounded Rectangle 11"/>
          <p:cNvSpPr/>
          <p:nvPr/>
        </p:nvSpPr>
        <p:spPr>
          <a:xfrm>
            <a:off x="429767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Créer ou gérer une entreprise</a:t>
            </a:r>
          </a:p>
        </p:txBody>
      </p:sp>
      <p:sp>
        <p:nvSpPr>
          <p:cNvPr id="14" name="TextBox 13"/>
          <p:cNvSpPr txBox="1"/>
          <p:nvPr/>
        </p:nvSpPr>
        <p:spPr>
          <a:xfrm>
            <a:off x="440740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112 demandes · 32 % seulement information</a:t>
            </a:r>
          </a:p>
        </p:txBody>
      </p:sp>
      <p:sp>
        <p:nvSpPr>
          <p:cNvPr id="15" name="TextBox 14"/>
          <p:cNvSpPr txBox="1"/>
          <p:nvPr/>
        </p:nvSpPr>
        <p:spPr>
          <a:xfrm>
            <a:off x="440740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De quoi avez-vous besoin ? Créer une société · statut d'autónomo · succursale ou filiale · holding · contrat commercial · insolvabilité ou restructuration · franchise</a:t>
            </a:r>
          </a:p>
          <a:p>
            <a:pPr>
              <a:spcAft>
                <a:spcPts val="400"/>
              </a:spcAft>
            </a:pPr>
            <a:r>
              <a:rPr sz="1150" b="0">
                <a:solidFill>
                  <a:srgbClr val="14202E"/>
                </a:solidFill>
                <a:latin typeface="Calibri"/>
              </a:rPr>
              <a:t>2. Existe-t-il déjà une société dans un autre pays ? Pays et forme juridique</a:t>
            </a:r>
          </a:p>
          <a:p>
            <a:pPr>
              <a:spcAft>
                <a:spcPts val="400"/>
              </a:spcAft>
            </a:pPr>
            <a:r>
              <a:rPr sz="1150" b="0">
                <a:solidFill>
                  <a:srgbClr val="14202E"/>
                </a:solidFill>
                <a:latin typeface="Calibri"/>
              </a:rPr>
              <a:t>3. Associés ou dirigeants et où ils résident (ont-ils besoin d'un NIE ou d'une résidence ?)</a:t>
            </a:r>
          </a:p>
          <a:p>
            <a:pPr>
              <a:spcAft>
                <a:spcPts val="400"/>
              </a:spcAft>
            </a:pPr>
            <a:r>
              <a:rPr sz="1150" b="0">
                <a:solidFill>
                  <a:srgbClr val="14202E"/>
                </a:solidFill>
                <a:latin typeface="Calibri"/>
              </a:rPr>
              <a:t>4. Activité et chiffre d'affaires prévu ; besoin d'un cabinet comptable ?</a:t>
            </a:r>
          </a:p>
          <a:p>
            <a:pPr>
              <a:spcAft>
                <a:spcPts val="400"/>
              </a:spcAft>
            </a:pPr>
            <a:r>
              <a:rPr sz="1150" b="0">
                <a:solidFill>
                  <a:srgbClr val="14202E"/>
                </a:solidFill>
                <a:latin typeface="Calibri"/>
              </a:rPr>
              <a:t>5. Délai de démarrage</a:t>
            </a:r>
          </a:p>
        </p:txBody>
      </p:sp>
      <p:sp>
        <p:nvSpPr>
          <p:cNvPr id="16" name="TextBox 15"/>
          <p:cNvSpPr txBox="1"/>
          <p:nvPr/>
        </p:nvSpPr>
        <p:spPr>
          <a:xfrm>
            <a:off x="440740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Statut juridique d’entreprise en Espagne 2026 : autónomo, SL, SA, le guide comparatif</a:t>
            </a:r>
          </a:p>
          <a:p>
            <a:pPr>
              <a:spcAft>
                <a:spcPts val="200"/>
              </a:spcAft>
            </a:pPr>
            <a:r>
              <a:rPr sz="900" b="0">
                <a:solidFill>
                  <a:srgbClr val="14202E"/>
                </a:solidFill>
                <a:latin typeface="Calibri"/>
              </a:rPr>
              <a:t>Restructuration d’entreprise en Espagne 2026 : Ley 16/2022, plan préventif et insolvabilité</a:t>
            </a:r>
          </a:p>
        </p:txBody>
      </p:sp>
      <p:sp>
        <p:nvSpPr>
          <p:cNvPr id="17" name="Rounded Rectangle 16"/>
          <p:cNvSpPr/>
          <p:nvPr/>
        </p:nvSpPr>
        <p:spPr>
          <a:xfrm>
            <a:off x="804671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Succession, testament et patrimoine</a:t>
            </a:r>
          </a:p>
        </p:txBody>
      </p:sp>
      <p:sp>
        <p:nvSpPr>
          <p:cNvPr id="19" name="TextBox 18"/>
          <p:cNvSpPr txBox="1"/>
          <p:nvPr/>
        </p:nvSpPr>
        <p:spPr>
          <a:xfrm>
            <a:off x="815644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96 demandes · 34 % seulement information</a:t>
            </a:r>
          </a:p>
        </p:txBody>
      </p:sp>
      <p:sp>
        <p:nvSpPr>
          <p:cNvPr id="20" name="TextBox 19"/>
          <p:cNvSpPr txBox="1"/>
          <p:nvPr/>
        </p:nvSpPr>
        <p:spPr>
          <a:xfrm>
            <a:off x="815644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Y a-t-il un décès ou planifiez-vous de votre vivant (testament, donation) ?</a:t>
            </a:r>
          </a:p>
          <a:p>
            <a:pPr>
              <a:spcAft>
                <a:spcPts val="400"/>
              </a:spcAft>
            </a:pPr>
            <a:r>
              <a:rPr sz="1150" b="0">
                <a:solidFill>
                  <a:srgbClr val="14202E"/>
                </a:solidFill>
                <a:latin typeface="Calibri"/>
              </a:rPr>
              <a:t>2. Pays de résidence et nationalité du défunt ou de la personne qui dispose</a:t>
            </a:r>
          </a:p>
          <a:p>
            <a:pPr>
              <a:spcAft>
                <a:spcPts val="400"/>
              </a:spcAft>
            </a:pPr>
            <a:r>
              <a:rPr sz="1150" b="0">
                <a:solidFill>
                  <a:srgbClr val="14202E"/>
                </a:solidFill>
                <a:latin typeface="Calibri"/>
              </a:rPr>
              <a:t>3. Biens en Espagne et dans d'autres pays ; héritiers et lieu de résidence</a:t>
            </a:r>
          </a:p>
          <a:p>
            <a:pPr>
              <a:spcAft>
                <a:spcPts val="400"/>
              </a:spcAft>
            </a:pPr>
            <a:r>
              <a:rPr sz="1150" b="0">
                <a:solidFill>
                  <a:srgbClr val="14202E"/>
                </a:solidFill>
                <a:latin typeface="Calibri"/>
              </a:rPr>
              <a:t>4. Existe-t-il un testament ? Y a-t-il un conflit entre héritiers ?</a:t>
            </a:r>
          </a:p>
          <a:p>
            <a:pPr>
              <a:spcAft>
                <a:spcPts val="400"/>
              </a:spcAft>
            </a:pPr>
            <a:r>
              <a:rPr sz="1150" b="0">
                <a:solidFill>
                  <a:srgbClr val="14202E"/>
                </a:solidFill>
                <a:latin typeface="Calibri"/>
              </a:rPr>
              <a:t>5. Date du décès (il existe des délais fiscaux)</a:t>
            </a:r>
          </a:p>
        </p:txBody>
      </p:sp>
      <p:sp>
        <p:nvSpPr>
          <p:cNvPr id="21" name="TextBox 20"/>
          <p:cNvSpPr txBox="1"/>
          <p:nvPr/>
        </p:nvSpPr>
        <p:spPr>
          <a:xfrm>
            <a:off x="815644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Améliorations introduites dans la communauté valencienne concernant l’impôt sur les successions et les donations</a:t>
            </a:r>
          </a:p>
          <a:p>
            <a:pPr>
              <a:spcAft>
                <a:spcPts val="200"/>
              </a:spcAft>
            </a:pPr>
            <a:r>
              <a:rPr sz="900" b="0">
                <a:solidFill>
                  <a:srgbClr val="14202E"/>
                </a:solidFill>
                <a:latin typeface="Calibri"/>
              </a:rPr>
              <a:t>Divorce en Espagne pour les expatriés: garde d’enfants et partage des biens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FORMULAIRE EN 4 ÉTAPES</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450" b="1">
                <a:solidFill>
                  <a:srgbClr val="14202E"/>
                </a:solidFill>
                <a:latin typeface="Georgia"/>
              </a:rPr>
              <a:t>Parcours de l'étape 1, avec leur demande et les questions de l'étape 3</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19</a:t>
            </a:r>
          </a:p>
        </p:txBody>
      </p:sp>
      <p:sp>
        <p:nvSpPr>
          <p:cNvPr id="7" name="Rounded Rectangle 6"/>
          <p:cNvSpPr/>
          <p:nvPr/>
        </p:nvSpPr>
        <p:spPr>
          <a:xfrm>
            <a:off x="548640"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Travail et emploi</a:t>
            </a:r>
          </a:p>
        </p:txBody>
      </p:sp>
      <p:sp>
        <p:nvSpPr>
          <p:cNvPr id="9" name="TextBox 8"/>
          <p:cNvSpPr txBox="1"/>
          <p:nvPr/>
        </p:nvSpPr>
        <p:spPr>
          <a:xfrm>
            <a:off x="658368"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56 demandes · 26 % seulement information</a:t>
            </a:r>
          </a:p>
        </p:txBody>
      </p:sp>
      <p:sp>
        <p:nvSpPr>
          <p:cNvPr id="10" name="TextBox 9"/>
          <p:cNvSpPr txBox="1"/>
          <p:nvPr/>
        </p:nvSpPr>
        <p:spPr>
          <a:xfrm>
            <a:off x="658368"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Êtes-vous salarié ou employeur ?</a:t>
            </a:r>
          </a:p>
          <a:p>
            <a:pPr>
              <a:spcAft>
                <a:spcPts val="400"/>
              </a:spcAft>
            </a:pPr>
            <a:r>
              <a:rPr sz="1150" b="0">
                <a:solidFill>
                  <a:srgbClr val="14202E"/>
                </a:solidFill>
                <a:latin typeface="Calibri"/>
              </a:rPr>
              <a:t>2. Sujet : licenciement · contrat · salaire ou solde de tout compte · arrêt ou accident · harcèlement · déclaration de salariés ou détachés · RH ou compliance</a:t>
            </a:r>
          </a:p>
          <a:p>
            <a:pPr>
              <a:spcAft>
                <a:spcPts val="400"/>
              </a:spcAft>
            </a:pPr>
            <a:r>
              <a:rPr sz="1150" b="0">
                <a:solidFill>
                  <a:srgbClr val="14202E"/>
                </a:solidFill>
                <a:latin typeface="Calibri"/>
              </a:rPr>
              <a:t>3. Date des faits (les délais pour agir sont courts)</a:t>
            </a:r>
          </a:p>
          <a:p>
            <a:pPr>
              <a:spcAft>
                <a:spcPts val="400"/>
              </a:spcAft>
            </a:pPr>
            <a:r>
              <a:rPr sz="1150" b="0">
                <a:solidFill>
                  <a:srgbClr val="14202E"/>
                </a:solidFill>
                <a:latin typeface="Calibri"/>
              </a:rPr>
              <a:t>4. Ancienneté, type de contrat et pays de l'employeur</a:t>
            </a:r>
          </a:p>
          <a:p>
            <a:pPr>
              <a:spcAft>
                <a:spcPts val="400"/>
              </a:spcAft>
            </a:pPr>
            <a:r>
              <a:rPr sz="1150" b="0">
                <a:solidFill>
                  <a:srgbClr val="14202E"/>
                </a:solidFill>
                <a:latin typeface="Calibri"/>
              </a:rPr>
              <a:t>5. Avez-vous la lettre ou des documents ?</a:t>
            </a:r>
          </a:p>
        </p:txBody>
      </p:sp>
      <p:sp>
        <p:nvSpPr>
          <p:cNvPr id="11" name="TextBox 10"/>
          <p:cNvSpPr txBox="1"/>
          <p:nvPr/>
        </p:nvSpPr>
        <p:spPr>
          <a:xfrm>
            <a:off x="658368"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SMI en Espagne 2026 : 1 221 € bruts par mois (Décret royal 126/2026)</a:t>
            </a:r>
          </a:p>
          <a:p>
            <a:pPr>
              <a:spcAft>
                <a:spcPts val="200"/>
              </a:spcAft>
            </a:pPr>
            <a:r>
              <a:rPr sz="900" b="0">
                <a:solidFill>
                  <a:srgbClr val="14202E"/>
                </a:solidFill>
                <a:latin typeface="Calibri"/>
              </a:rPr>
              <a:t>Licenciement injustifié en Espagne : indemnité, comparaison France et délais de recours</a:t>
            </a:r>
          </a:p>
        </p:txBody>
      </p:sp>
      <p:sp>
        <p:nvSpPr>
          <p:cNvPr id="12" name="Rounded Rectangle 11"/>
          <p:cNvSpPr/>
          <p:nvPr/>
        </p:nvSpPr>
        <p:spPr>
          <a:xfrm>
            <a:off x="429767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Retraite, pensions et assurance santé</a:t>
            </a:r>
          </a:p>
        </p:txBody>
      </p:sp>
      <p:sp>
        <p:nvSpPr>
          <p:cNvPr id="14" name="TextBox 13"/>
          <p:cNvSpPr txBox="1"/>
          <p:nvPr/>
        </p:nvSpPr>
        <p:spPr>
          <a:xfrm>
            <a:off x="440740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44 demandes · 32 % seulement information</a:t>
            </a:r>
          </a:p>
        </p:txBody>
      </p:sp>
      <p:sp>
        <p:nvSpPr>
          <p:cNvPr id="15" name="TextBox 14"/>
          <p:cNvSpPr txBox="1"/>
          <p:nvPr/>
        </p:nvSpPr>
        <p:spPr>
          <a:xfrm>
            <a:off x="440740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Pays où vous avez cotisé et nombre d'années approximatif</a:t>
            </a:r>
          </a:p>
          <a:p>
            <a:pPr>
              <a:spcAft>
                <a:spcPts val="400"/>
              </a:spcAft>
            </a:pPr>
            <a:r>
              <a:rPr sz="1150" b="0">
                <a:solidFill>
                  <a:srgbClr val="14202E"/>
                </a:solidFill>
                <a:latin typeface="Calibri"/>
              </a:rPr>
              <a:t>2. Âge et date de retraite prévue ; touchez-vous déjà une pension d'un autre pays ?</a:t>
            </a:r>
          </a:p>
          <a:p>
            <a:pPr>
              <a:spcAft>
                <a:spcPts val="400"/>
              </a:spcAft>
            </a:pPr>
            <a:r>
              <a:rPr sz="1150" b="0">
                <a:solidFill>
                  <a:srgbClr val="14202E"/>
                </a:solidFill>
                <a:latin typeface="Calibri"/>
              </a:rPr>
              <a:t>3. Sujet : pension de retraite ou de réversion · assurance santé · prestations</a:t>
            </a:r>
          </a:p>
          <a:p>
            <a:pPr>
              <a:spcAft>
                <a:spcPts val="400"/>
              </a:spcAft>
            </a:pPr>
            <a:r>
              <a:rPr sz="1150" b="0">
                <a:solidFill>
                  <a:srgbClr val="14202E"/>
                </a:solidFill>
                <a:latin typeface="Calibri"/>
              </a:rPr>
              <a:t>4. Résidence actuelle</a:t>
            </a:r>
          </a:p>
        </p:txBody>
      </p:sp>
      <p:sp>
        <p:nvSpPr>
          <p:cNvPr id="16" name="TextBox 15"/>
          <p:cNvSpPr txBox="1"/>
          <p:nvPr/>
        </p:nvSpPr>
        <p:spPr>
          <a:xfrm>
            <a:off x="440740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L’assurance santé privée en Espagne pour expatriés : coûts, assureurs et exigences de visa</a:t>
            </a:r>
          </a:p>
          <a:p>
            <a:pPr>
              <a:spcAft>
                <a:spcPts val="200"/>
              </a:spcAft>
            </a:pPr>
            <a:r>
              <a:rPr sz="900" b="0">
                <a:solidFill>
                  <a:srgbClr val="14202E"/>
                </a:solidFill>
                <a:latin typeface="Calibri"/>
              </a:rPr>
              <a:t>Fiscalité de la retraite en Espagne : guide pour les expatriés et investisseurs</a:t>
            </a:r>
          </a:p>
        </p:txBody>
      </p:sp>
      <p:sp>
        <p:nvSpPr>
          <p:cNvPr id="17" name="Rounded Rectangle 16"/>
          <p:cNvSpPr/>
          <p:nvPr/>
        </p:nvSpPr>
        <p:spPr>
          <a:xfrm>
            <a:off x="804671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Litige, réclamation ou famille</a:t>
            </a:r>
          </a:p>
        </p:txBody>
      </p:sp>
      <p:sp>
        <p:nvSpPr>
          <p:cNvPr id="19" name="TextBox 18"/>
          <p:cNvSpPr txBox="1"/>
          <p:nvPr/>
        </p:nvSpPr>
        <p:spPr>
          <a:xfrm>
            <a:off x="815644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44 demandes · 42 % seulement information</a:t>
            </a:r>
          </a:p>
        </p:txBody>
      </p:sp>
      <p:sp>
        <p:nvSpPr>
          <p:cNvPr id="20" name="TextBox 19"/>
          <p:cNvSpPr txBox="1"/>
          <p:nvPr/>
        </p:nvSpPr>
        <p:spPr>
          <a:xfrm>
            <a:off x="815644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Type : recouvrement d'une dette · litige commercial · voisins ou copropriété · famille (divorce, garde, adoption) · pénal ou plainte</a:t>
            </a:r>
          </a:p>
          <a:p>
            <a:pPr>
              <a:spcAft>
                <a:spcPts val="400"/>
              </a:spcAft>
            </a:pPr>
            <a:r>
              <a:rPr sz="1150" b="0">
                <a:solidFill>
                  <a:srgbClr val="14202E"/>
                </a:solidFill>
                <a:latin typeface="Calibri"/>
              </a:rPr>
              <a:t>2. Partie adverse et pays ; phase : amiable · assignation reçue · jugement</a:t>
            </a:r>
          </a:p>
          <a:p>
            <a:pPr>
              <a:spcAft>
                <a:spcPts val="400"/>
              </a:spcAft>
            </a:pPr>
            <a:r>
              <a:rPr sz="1150" b="0">
                <a:solidFill>
                  <a:srgbClr val="14202E"/>
                </a:solidFill>
                <a:latin typeface="Calibri"/>
              </a:rPr>
              <a:t>3. Montant approximatif</a:t>
            </a:r>
          </a:p>
          <a:p>
            <a:pPr>
              <a:spcAft>
                <a:spcPts val="400"/>
              </a:spcAft>
            </a:pPr>
            <a:r>
              <a:rPr sz="1150" b="0">
                <a:solidFill>
                  <a:srgbClr val="14202E"/>
                </a:solidFill>
                <a:latin typeface="Calibri"/>
              </a:rPr>
              <a:t>4. Dates limites (notification, audience)</a:t>
            </a:r>
          </a:p>
          <a:p>
            <a:pPr>
              <a:spcAft>
                <a:spcPts val="400"/>
              </a:spcAft>
            </a:pPr>
            <a:r>
              <a:rPr sz="1150" b="0">
                <a:solidFill>
                  <a:srgbClr val="14202E"/>
                </a:solidFill>
                <a:latin typeface="Calibri"/>
              </a:rPr>
              <a:t>5. Préférez-vous tenter une médiation ?</a:t>
            </a:r>
          </a:p>
        </p:txBody>
      </p:sp>
      <p:sp>
        <p:nvSpPr>
          <p:cNvPr id="21" name="TextBox 20"/>
          <p:cNvSpPr txBox="1"/>
          <p:nvPr/>
        </p:nvSpPr>
        <p:spPr>
          <a:xfrm>
            <a:off x="815644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Guides aujourd'hui (sélection automatique, à trier)</a:t>
            </a:r>
          </a:p>
          <a:p>
            <a:pPr>
              <a:spcAft>
                <a:spcPts val="200"/>
              </a:spcAft>
            </a:pPr>
            <a:r>
              <a:rPr sz="900" b="0">
                <a:solidFill>
                  <a:srgbClr val="14202E"/>
                </a:solidFill>
                <a:latin typeface="Calibri"/>
              </a:rPr>
              <a:t>Résidence par mariage avec un citoyen espagnol: ce qu’il faut savoir</a:t>
            </a:r>
          </a:p>
          <a:p>
            <a:pPr>
              <a:spcAft>
                <a:spcPts val="200"/>
              </a:spcAft>
            </a:pPr>
            <a:r>
              <a:rPr sz="900" b="0">
                <a:solidFill>
                  <a:srgbClr val="14202E"/>
                </a:solidFill>
                <a:latin typeface="Calibri"/>
              </a:rPr>
              <a:t>Divorce en Espagne pour les expatriés: garde d’enfants et partage des biens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Blog : ce qui est demandé face à ce qui est publié</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20</a:t>
            </a:r>
          </a:p>
        </p:txBody>
      </p:sp>
      <p:sp>
        <p:nvSpPr>
          <p:cNvPr id="7" name="TextBox 6"/>
          <p:cNvSpPr txBox="1"/>
          <p:nvPr/>
        </p:nvSpPr>
        <p:spPr>
          <a:xfrm>
            <a:off x="548640" y="1417320"/>
            <a:ext cx="11064240" cy="64008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Parcours enregistrés : 644 demandes sur 1 169 (depuis décembre 2024). 103 sont passées par un article du blog avant d'écrire et 73 sont entrées sur le site par un article. Le tableau croise les sous-thèmes les plus demandés avec les articles publiés dont le titre les traite (recherche automatique par titre et adresse, à vérifier).</a:t>
            </a:r>
          </a:p>
        </p:txBody>
      </p:sp>
      <p:graphicFrame>
        <p:nvGraphicFramePr>
          <p:cNvPr id="8" name="Table 7"/>
          <p:cNvGraphicFramePr>
            <a:graphicFrameLocks noGrp="1"/>
          </p:cNvGraphicFramePr>
          <p:nvPr/>
        </p:nvGraphicFramePr>
        <p:xfrm>
          <a:off x="548640" y="2057400"/>
          <a:ext cx="11064240" cy="3909045"/>
        </p:xfrm>
        <a:graphic>
          <a:graphicData uri="http://schemas.openxmlformats.org/drawingml/2006/table">
            <a:tbl>
              <a:tblPr firstRow="1" bandRow="1">
                <a:tableStyleId>{5C22544A-7EE6-4342-B048-85BDC9FD1C3A}</a:tableStyleId>
              </a:tblPr>
              <a:tblGrid>
                <a:gridCol w="5120640"/>
                <a:gridCol w="1828800"/>
                <a:gridCol w="1828800"/>
                <a:gridCol w="2286000"/>
              </a:tblGrid>
              <a:tr h="260603">
                <a:tc>
                  <a:txBody>
                    <a:bodyPr wrap="square"/>
                    <a:lstStyle/>
                    <a:p>
                      <a:r>
                        <a:rPr sz="1000" b="1">
                          <a:solidFill>
                            <a:srgbClr val="FFFFFF"/>
                          </a:solidFill>
                          <a:latin typeface="Calibri"/>
                        </a:rPr>
                        <a:t>Sous-thème</a:t>
                      </a:r>
                    </a:p>
                  </a:txBody>
                  <a:tcPr marL="54864" marR="54864" marT="22860" marB="22860" anchor="ctr">
                    <a:solidFill>
                      <a:srgbClr val="0B5C7A"/>
                    </a:solidFill>
                  </a:tcPr>
                </a:tc>
                <a:tc>
                  <a:txBody>
                    <a:bodyPr wrap="square"/>
                    <a:lstStyle/>
                    <a:p>
                      <a:pPr algn="r"/>
                      <a:r>
                        <a:rPr sz="1000" b="1">
                          <a:solidFill>
                            <a:srgbClr val="FFFFFF"/>
                          </a:solidFill>
                          <a:latin typeface="Calibri"/>
                        </a:rPr>
                        <a:t>Demandes ES · FR · EN</a:t>
                      </a:r>
                    </a:p>
                  </a:txBody>
                  <a:tcPr marL="54864" marR="54864" marT="22860" marB="22860" anchor="ctr">
                    <a:solidFill>
                      <a:srgbClr val="0B5C7A"/>
                    </a:solidFill>
                  </a:tcPr>
                </a:tc>
                <a:tc>
                  <a:txBody>
                    <a:bodyPr wrap="square"/>
                    <a:lstStyle/>
                    <a:p>
                      <a:pPr algn="r"/>
                      <a:r>
                        <a:rPr sz="1000" b="1">
                          <a:solidFill>
                            <a:srgbClr val="FFFFFF"/>
                          </a:solidFill>
                          <a:latin typeface="Calibri"/>
                        </a:rPr>
                        <a:t>Articles ES · EN · FR</a:t>
                      </a:r>
                    </a:p>
                  </a:txBody>
                  <a:tcPr marL="54864" marR="54864" marT="22860" marB="22860" anchor="ctr">
                    <a:solidFill>
                      <a:srgbClr val="0B5C7A"/>
                    </a:solidFill>
                  </a:tcPr>
                </a:tc>
                <a:tc>
                  <a:txBody>
                    <a:bodyPr wrap="square"/>
                    <a:lstStyle/>
                    <a:p>
                      <a:r>
                        <a:rPr sz="1000" b="1">
                          <a:solidFill>
                            <a:srgbClr val="FFFFFF"/>
                          </a:solidFill>
                          <a:latin typeface="Calibri"/>
                        </a:rPr>
                        <a:t/>
                      </a:r>
                    </a:p>
                  </a:txBody>
                  <a:tcPr marL="54864" marR="54864" marT="22860" marB="22860" anchor="ctr">
                    <a:solidFill>
                      <a:srgbClr val="0B5C7A"/>
                    </a:solidFill>
                  </a:tcPr>
                </a:tc>
              </a:tr>
              <a:tr h="260603">
                <a:tc>
                  <a:txBody>
                    <a:bodyPr wrap="square"/>
                    <a:lstStyle/>
                    <a:p>
                      <a:r>
                        <a:rPr sz="1000" b="0">
                          <a:solidFill>
                            <a:srgbClr val="14202E"/>
                          </a:solidFill>
                          <a:latin typeface="Calibri"/>
                        </a:rPr>
                        <a:t>Achat de bien immobilier</a:t>
                      </a:r>
                    </a:p>
                  </a:txBody>
                  <a:tcPr marL="54864" marR="54864" marT="22860" marB="22860" anchor="ctr">
                    <a:solidFill>
                      <a:srgbClr val="FFFFFF"/>
                    </a:solidFill>
                  </a:tcPr>
                </a:tc>
                <a:tc>
                  <a:txBody>
                    <a:bodyPr wrap="square"/>
                    <a:lstStyle/>
                    <a:p>
                      <a:pPr algn="r"/>
                      <a:r>
                        <a:rPr sz="1000" b="0">
                          <a:solidFill>
                            <a:srgbClr val="14202E"/>
                          </a:solidFill>
                          <a:latin typeface="Calibri"/>
                        </a:rPr>
                        <a:t>21 · 63 · 0</a:t>
                      </a:r>
                    </a:p>
                  </a:txBody>
                  <a:tcPr marL="54864" marR="54864" marT="22860" marB="22860" anchor="ctr">
                    <a:solidFill>
                      <a:srgbClr val="FFFFFF"/>
                    </a:solidFill>
                  </a:tcPr>
                </a:tc>
                <a:tc>
                  <a:txBody>
                    <a:bodyPr wrap="square"/>
                    <a:lstStyle/>
                    <a:p>
                      <a:pPr algn="r"/>
                      <a:r>
                        <a:rPr sz="1000" b="0">
                          <a:solidFill>
                            <a:srgbClr val="14202E"/>
                          </a:solidFill>
                          <a:latin typeface="Calibri"/>
                        </a:rPr>
                        <a:t>0 · 4 · 3</a:t>
                      </a:r>
                    </a:p>
                  </a:txBody>
                  <a:tcPr marL="54864" marR="54864" marT="22860" marB="22860" anchor="ctr">
                    <a:solidFill>
                      <a:srgbClr val="FFFFFF"/>
                    </a:solidFill>
                  </a:tcPr>
                </a:tc>
                <a:tc>
                  <a:txBody>
                    <a:bodyPr wrap="square"/>
                    <a:lstStyle/>
                    <a:p>
                      <a:r>
                        <a:rPr sz="1000" b="1">
                          <a:solidFill>
                            <a:srgbClr val="A24A07"/>
                          </a:solidFill>
                          <a:latin typeface="Calibri"/>
                        </a:rPr>
                        <a:t>Manque ES</a:t>
                      </a:r>
                    </a:p>
                  </a:txBody>
                  <a:tcPr marL="54864" marR="54864" marT="22860" marB="22860" anchor="ctr">
                    <a:solidFill>
                      <a:srgbClr val="FFFFFF"/>
                    </a:solidFill>
                  </a:tcPr>
                </a:tc>
              </a:tr>
              <a:tr h="260603">
                <a:tc>
                  <a:txBody>
                    <a:bodyPr wrap="square"/>
                    <a:lstStyle/>
                    <a:p>
                      <a:r>
                        <a:rPr sz="1000" b="0">
                          <a:solidFill>
                            <a:srgbClr val="14202E"/>
                          </a:solidFill>
                          <a:latin typeface="Calibri"/>
                        </a:rPr>
                        <a:t>NIE et TIE (carte)</a:t>
                      </a:r>
                    </a:p>
                  </a:txBody>
                  <a:tcPr marL="54864" marR="54864" marT="22860" marB="22860" anchor="ctr">
                    <a:solidFill>
                      <a:srgbClr val="FAFBFC"/>
                    </a:solidFill>
                  </a:tcPr>
                </a:tc>
                <a:tc>
                  <a:txBody>
                    <a:bodyPr wrap="square"/>
                    <a:lstStyle/>
                    <a:p>
                      <a:pPr algn="r"/>
                      <a:r>
                        <a:rPr sz="1000" b="0">
                          <a:solidFill>
                            <a:srgbClr val="14202E"/>
                          </a:solidFill>
                          <a:latin typeface="Calibri"/>
                        </a:rPr>
                        <a:t>16 · 58 · 3</a:t>
                      </a:r>
                    </a:p>
                  </a:txBody>
                  <a:tcPr marL="54864" marR="54864" marT="22860" marB="22860" anchor="ctr">
                    <a:solidFill>
                      <a:srgbClr val="FAFBFC"/>
                    </a:solidFill>
                  </a:tcPr>
                </a:tc>
                <a:tc>
                  <a:txBody>
                    <a:bodyPr wrap="square"/>
                    <a:lstStyle/>
                    <a:p>
                      <a:pPr algn="r"/>
                      <a:r>
                        <a:rPr sz="1000" b="0">
                          <a:solidFill>
                            <a:srgbClr val="14202E"/>
                          </a:solidFill>
                          <a:latin typeface="Calibri"/>
                        </a:rPr>
                        <a:t>1 · 4 · 2</a:t>
                      </a:r>
                    </a:p>
                  </a:txBody>
                  <a:tcPr marL="54864" marR="54864" marT="22860" marB="22860" anchor="ctr">
                    <a:solidFill>
                      <a:srgbClr val="FAFBFC"/>
                    </a:solidFill>
                  </a:tcPr>
                </a:tc>
                <a:tc>
                  <a:txBody>
                    <a:bodyPr wrap="square"/>
                    <a:lstStyle/>
                    <a:p>
                      <a:r>
                        <a:rPr sz="1000" b="1">
                          <a:solidFill>
                            <a:srgbClr val="A24A07"/>
                          </a:solidFill>
                          <a:latin typeface="Calibri"/>
                        </a:rPr>
                        <a:t>Manque ES</a:t>
                      </a:r>
                    </a:p>
                  </a:txBody>
                  <a:tcPr marL="54864" marR="54864" marT="22860" marB="22860" anchor="ctr">
                    <a:solidFill>
                      <a:srgbClr val="FAFBFC"/>
                    </a:solidFill>
                  </a:tcPr>
                </a:tc>
              </a:tr>
              <a:tr h="260603">
                <a:tc>
                  <a:txBody>
                    <a:bodyPr wrap="square"/>
                    <a:lstStyle/>
                    <a:p>
                      <a:r>
                        <a:rPr sz="1000" b="0">
                          <a:solidFill>
                            <a:srgbClr val="14202E"/>
                          </a:solidFill>
                          <a:latin typeface="Calibri"/>
                        </a:rPr>
                        <a:t>Déclaration de revenus (IRPF)</a:t>
                      </a:r>
                    </a:p>
                  </a:txBody>
                  <a:tcPr marL="54864" marR="54864" marT="22860" marB="22860" anchor="ctr">
                    <a:solidFill>
                      <a:srgbClr val="FFFFFF"/>
                    </a:solidFill>
                  </a:tcPr>
                </a:tc>
                <a:tc>
                  <a:txBody>
                    <a:bodyPr wrap="square"/>
                    <a:lstStyle/>
                    <a:p>
                      <a:pPr algn="r"/>
                      <a:r>
                        <a:rPr sz="1000" b="0">
                          <a:solidFill>
                            <a:srgbClr val="14202E"/>
                          </a:solidFill>
                          <a:latin typeface="Calibri"/>
                        </a:rPr>
                        <a:t>12 · 30 · 3</a:t>
                      </a:r>
                    </a:p>
                  </a:txBody>
                  <a:tcPr marL="54864" marR="54864" marT="22860" marB="22860" anchor="ctr">
                    <a:solidFill>
                      <a:srgbClr val="FFFFFF"/>
                    </a:solidFill>
                  </a:tcPr>
                </a:tc>
                <a:tc>
                  <a:txBody>
                    <a:bodyPr wrap="square"/>
                    <a:lstStyle/>
                    <a:p>
                      <a:pPr algn="r"/>
                      <a:r>
                        <a:rPr sz="1000" b="0">
                          <a:solidFill>
                            <a:srgbClr val="14202E"/>
                          </a:solidFill>
                          <a:latin typeface="Calibri"/>
                        </a:rPr>
                        <a:t>1 · 1 · 4</a:t>
                      </a:r>
                    </a:p>
                  </a:txBody>
                  <a:tcPr marL="54864" marR="54864" marT="22860" marB="22860" anchor="ctr">
                    <a:solidFill>
                      <a:srgbClr val="FFFFFF"/>
                    </a:solidFill>
                  </a:tcPr>
                </a:tc>
                <a:tc>
                  <a:txBody>
                    <a:bodyPr wrap="square"/>
                    <a:lstStyle/>
                    <a:p>
                      <a:r>
                        <a:rPr sz="1000" b="1">
                          <a:solidFill>
                            <a:srgbClr val="A24A07"/>
                          </a:solidFill>
                          <a:latin typeface="Calibri"/>
                        </a:rPr>
                        <a:t>Manque ES</a:t>
                      </a:r>
                    </a:p>
                  </a:txBody>
                  <a:tcPr marL="54864" marR="54864" marT="22860" marB="22860" anchor="ctr">
                    <a:solidFill>
                      <a:srgbClr val="FFFFFF"/>
                    </a:solidFill>
                  </a:tcPr>
                </a:tc>
              </a:tr>
              <a:tr h="260603">
                <a:tc>
                  <a:txBody>
                    <a:bodyPr wrap="square"/>
                    <a:lstStyle/>
                    <a:p>
                      <a:r>
                        <a:rPr sz="1000" b="0">
                          <a:solidFill>
                            <a:srgbClr val="14202E"/>
                          </a:solidFill>
                          <a:latin typeface="Calibri"/>
                        </a:rPr>
                        <a:t>Séjour irrégulier / dépassement / 90 jours</a:t>
                      </a:r>
                    </a:p>
                  </a:txBody>
                  <a:tcPr marL="54864" marR="54864" marT="22860" marB="22860" anchor="ctr">
                    <a:solidFill>
                      <a:srgbClr val="FAFBFC"/>
                    </a:solidFill>
                  </a:tcPr>
                </a:tc>
                <a:tc>
                  <a:txBody>
                    <a:bodyPr wrap="square"/>
                    <a:lstStyle/>
                    <a:p>
                      <a:pPr algn="r"/>
                      <a:r>
                        <a:rPr sz="1000" b="0">
                          <a:solidFill>
                            <a:srgbClr val="14202E"/>
                          </a:solidFill>
                          <a:latin typeface="Calibri"/>
                        </a:rPr>
                        <a:t>8 · 29 · 3</a:t>
                      </a:r>
                    </a:p>
                  </a:txBody>
                  <a:tcPr marL="54864" marR="54864" marT="22860" marB="22860" anchor="ctr">
                    <a:solidFill>
                      <a:srgbClr val="FAFBFC"/>
                    </a:solidFill>
                  </a:tcPr>
                </a:tc>
                <a:tc>
                  <a:txBody>
                    <a:bodyPr wrap="square"/>
                    <a:lstStyle/>
                    <a:p>
                      <a:pPr algn="r"/>
                      <a:r>
                        <a:rPr sz="1000" b="0">
                          <a:solidFill>
                            <a:srgbClr val="14202E"/>
                          </a:solidFill>
                          <a:latin typeface="Calibri"/>
                        </a:rPr>
                        <a:t>0 · 2 · 0</a:t>
                      </a:r>
                    </a:p>
                  </a:txBody>
                  <a:tcPr marL="54864" marR="54864" marT="22860" marB="22860" anchor="ctr">
                    <a:solidFill>
                      <a:srgbClr val="FAFBFC"/>
                    </a:solidFill>
                  </a:tcPr>
                </a:tc>
                <a:tc>
                  <a:txBody>
                    <a:bodyPr wrap="square"/>
                    <a:lstStyle/>
                    <a:p>
                      <a:r>
                        <a:rPr sz="1000" b="1">
                          <a:solidFill>
                            <a:srgbClr val="A24A07"/>
                          </a:solidFill>
                          <a:latin typeface="Calibri"/>
                        </a:rPr>
                        <a:t>Manque ES, FR</a:t>
                      </a:r>
                    </a:p>
                  </a:txBody>
                  <a:tcPr marL="54864" marR="54864" marT="22860" marB="22860" anchor="ctr">
                    <a:solidFill>
                      <a:srgbClr val="FAFBFC"/>
                    </a:solidFill>
                  </a:tcPr>
                </a:tc>
              </a:tr>
              <a:tr h="260603">
                <a:tc>
                  <a:txBody>
                    <a:bodyPr wrap="square"/>
                    <a:lstStyle/>
                    <a:p>
                      <a:r>
                        <a:rPr sz="1000" b="0">
                          <a:solidFill>
                            <a:srgbClr val="14202E"/>
                          </a:solidFill>
                          <a:latin typeface="Calibri"/>
                        </a:rPr>
                        <a:t>Retraite, pensions et prestations</a:t>
                      </a:r>
                    </a:p>
                  </a:txBody>
                  <a:tcPr marL="54864" marR="54864" marT="22860" marB="22860" anchor="ctr">
                    <a:solidFill>
                      <a:srgbClr val="FFFFFF"/>
                    </a:solidFill>
                  </a:tcPr>
                </a:tc>
                <a:tc>
                  <a:txBody>
                    <a:bodyPr wrap="square"/>
                    <a:lstStyle/>
                    <a:p>
                      <a:pPr algn="r"/>
                      <a:r>
                        <a:rPr sz="1000" b="0">
                          <a:solidFill>
                            <a:srgbClr val="14202E"/>
                          </a:solidFill>
                          <a:latin typeface="Calibri"/>
                        </a:rPr>
                        <a:t>16 · 22 · 1</a:t>
                      </a:r>
                    </a:p>
                  </a:txBody>
                  <a:tcPr marL="54864" marR="54864" marT="22860" marB="22860" anchor="ctr">
                    <a:solidFill>
                      <a:srgbClr val="FFFFFF"/>
                    </a:solidFill>
                  </a:tcPr>
                </a:tc>
                <a:tc>
                  <a:txBody>
                    <a:bodyPr wrap="square"/>
                    <a:lstStyle/>
                    <a:p>
                      <a:pPr algn="r"/>
                      <a:r>
                        <a:rPr sz="1000" b="0">
                          <a:solidFill>
                            <a:srgbClr val="14202E"/>
                          </a:solidFill>
                          <a:latin typeface="Calibri"/>
                        </a:rPr>
                        <a:t>0 · 1 · 2</a:t>
                      </a:r>
                    </a:p>
                  </a:txBody>
                  <a:tcPr marL="54864" marR="54864" marT="22860" marB="22860" anchor="ctr">
                    <a:solidFill>
                      <a:srgbClr val="FFFFFF"/>
                    </a:solidFill>
                  </a:tcPr>
                </a:tc>
                <a:tc>
                  <a:txBody>
                    <a:bodyPr wrap="square"/>
                    <a:lstStyle/>
                    <a:p>
                      <a:r>
                        <a:rPr sz="1000" b="1">
                          <a:solidFill>
                            <a:srgbClr val="A24A07"/>
                          </a:solidFill>
                          <a:latin typeface="Calibri"/>
                        </a:rPr>
                        <a:t>Manque ES</a:t>
                      </a:r>
                    </a:p>
                  </a:txBody>
                  <a:tcPr marL="54864" marR="54864" marT="22860" marB="22860" anchor="ctr">
                    <a:solidFill>
                      <a:srgbClr val="FFFFFF"/>
                    </a:solidFill>
                  </a:tcPr>
                </a:tc>
              </a:tr>
              <a:tr h="260603">
                <a:tc>
                  <a:txBody>
                    <a:bodyPr wrap="square"/>
                    <a:lstStyle/>
                    <a:p>
                      <a:r>
                        <a:rPr sz="1000" b="0">
                          <a:solidFill>
                            <a:srgbClr val="14202E"/>
                          </a:solidFill>
                          <a:latin typeface="Calibri"/>
                        </a:rPr>
                        <a:t>Refus, recours</a:t>
                      </a:r>
                    </a:p>
                  </a:txBody>
                  <a:tcPr marL="54864" marR="54864" marT="22860" marB="22860" anchor="ctr">
                    <a:solidFill>
                      <a:srgbClr val="FAFBFC"/>
                    </a:solidFill>
                  </a:tcPr>
                </a:tc>
                <a:tc>
                  <a:txBody>
                    <a:bodyPr wrap="square"/>
                    <a:lstStyle/>
                    <a:p>
                      <a:pPr algn="r"/>
                      <a:r>
                        <a:rPr sz="1000" b="0">
                          <a:solidFill>
                            <a:srgbClr val="14202E"/>
                          </a:solidFill>
                          <a:latin typeface="Calibri"/>
                        </a:rPr>
                        <a:t>14 · 22 · 1</a:t>
                      </a:r>
                    </a:p>
                  </a:txBody>
                  <a:tcPr marL="54864" marR="54864" marT="22860" marB="22860" anchor="ctr">
                    <a:solidFill>
                      <a:srgbClr val="FAFBFC"/>
                    </a:solidFill>
                  </a:tcPr>
                </a:tc>
                <a:tc>
                  <a:txBody>
                    <a:bodyPr wrap="square"/>
                    <a:lstStyle/>
                    <a:p>
                      <a:pPr algn="r"/>
                      <a:r>
                        <a:rPr sz="1000" b="0">
                          <a:solidFill>
                            <a:srgbClr val="14202E"/>
                          </a:solidFill>
                          <a:latin typeface="Calibri"/>
                        </a:rPr>
                        <a:t>0 · 0 · 1</a:t>
                      </a:r>
                    </a:p>
                  </a:txBody>
                  <a:tcPr marL="54864" marR="54864" marT="22860" marB="22860" anchor="ctr">
                    <a:solidFill>
                      <a:srgbClr val="FAFBFC"/>
                    </a:solidFill>
                  </a:tcPr>
                </a:tc>
                <a:tc>
                  <a:txBody>
                    <a:bodyPr wrap="square"/>
                    <a:lstStyle/>
                    <a:p>
                      <a:r>
                        <a:rPr sz="1000" b="1">
                          <a:solidFill>
                            <a:srgbClr val="A24A07"/>
                          </a:solidFill>
                          <a:latin typeface="Calibri"/>
                        </a:rPr>
                        <a:t>Manque ES, FR</a:t>
                      </a:r>
                    </a:p>
                  </a:txBody>
                  <a:tcPr marL="54864" marR="54864" marT="22860" marB="22860" anchor="ctr">
                    <a:solidFill>
                      <a:srgbClr val="FAFBFC"/>
                    </a:solidFill>
                  </a:tcPr>
                </a:tc>
              </a:tr>
              <a:tr h="260603">
                <a:tc>
                  <a:txBody>
                    <a:bodyPr wrap="square"/>
                    <a:lstStyle/>
                    <a:p>
                      <a:r>
                        <a:rPr sz="1000" b="0">
                          <a:solidFill>
                            <a:srgbClr val="14202E"/>
                          </a:solidFill>
                          <a:latin typeface="Calibri"/>
                        </a:rPr>
                        <a:t>Acte notarié et registre foncier</a:t>
                      </a:r>
                    </a:p>
                  </a:txBody>
                  <a:tcPr marL="54864" marR="54864" marT="22860" marB="22860" anchor="ctr">
                    <a:solidFill>
                      <a:srgbClr val="FFFFFF"/>
                    </a:solidFill>
                  </a:tcPr>
                </a:tc>
                <a:tc>
                  <a:txBody>
                    <a:bodyPr wrap="square"/>
                    <a:lstStyle/>
                    <a:p>
                      <a:pPr algn="r"/>
                      <a:r>
                        <a:rPr sz="1000" b="0">
                          <a:solidFill>
                            <a:srgbClr val="14202E"/>
                          </a:solidFill>
                          <a:latin typeface="Calibri"/>
                        </a:rPr>
                        <a:t>28 · 8 · 0</a:t>
                      </a:r>
                    </a:p>
                  </a:txBody>
                  <a:tcPr marL="54864" marR="54864" marT="22860" marB="22860" anchor="ctr">
                    <a:solidFill>
                      <a:srgbClr val="FFFFFF"/>
                    </a:solidFill>
                  </a:tcPr>
                </a:tc>
                <a:tc>
                  <a:txBody>
                    <a:bodyPr wrap="square"/>
                    <a:lstStyle/>
                    <a:p>
                      <a:pPr algn="r"/>
                      <a:r>
                        <a:rPr sz="1000" b="0">
                          <a:solidFill>
                            <a:srgbClr val="14202E"/>
                          </a:solidFill>
                          <a:latin typeface="Calibri"/>
                        </a:rPr>
                        <a:t>0 · 0 · 0</a:t>
                      </a:r>
                    </a:p>
                  </a:txBody>
                  <a:tcPr marL="54864" marR="54864" marT="22860" marB="22860" anchor="ctr">
                    <a:solidFill>
                      <a:srgbClr val="FFFFFF"/>
                    </a:solidFill>
                  </a:tcPr>
                </a:tc>
                <a:tc>
                  <a:txBody>
                    <a:bodyPr wrap="square"/>
                    <a:lstStyle/>
                    <a:p>
                      <a:r>
                        <a:rPr sz="1000" b="1">
                          <a:solidFill>
                            <a:srgbClr val="A24A07"/>
                          </a:solidFill>
                          <a:latin typeface="Calibri"/>
                        </a:rPr>
                        <a:t>Manque ES, FR</a:t>
                      </a:r>
                    </a:p>
                  </a:txBody>
                  <a:tcPr marL="54864" marR="54864" marT="22860" marB="22860" anchor="ctr">
                    <a:solidFill>
                      <a:srgbClr val="FFFFFF"/>
                    </a:solidFill>
                  </a:tcPr>
                </a:tc>
              </a:tr>
              <a:tr h="260603">
                <a:tc>
                  <a:txBody>
                    <a:bodyPr wrap="square"/>
                    <a:lstStyle/>
                    <a:p>
                      <a:r>
                        <a:rPr sz="1000" b="0">
                          <a:solidFill>
                            <a:srgbClr val="14202E"/>
                          </a:solidFill>
                          <a:latin typeface="Calibri"/>
                        </a:rPr>
                        <a:t>Location et bail</a:t>
                      </a:r>
                    </a:p>
                  </a:txBody>
                  <a:tcPr marL="54864" marR="54864" marT="22860" marB="22860" anchor="ctr">
                    <a:solidFill>
                      <a:srgbClr val="FAFBFC"/>
                    </a:solidFill>
                  </a:tcPr>
                </a:tc>
                <a:tc>
                  <a:txBody>
                    <a:bodyPr wrap="square"/>
                    <a:lstStyle/>
                    <a:p>
                      <a:pPr algn="r"/>
                      <a:r>
                        <a:rPr sz="1000" b="0">
                          <a:solidFill>
                            <a:srgbClr val="14202E"/>
                          </a:solidFill>
                          <a:latin typeface="Calibri"/>
                        </a:rPr>
                        <a:t>12 · 20 · 0</a:t>
                      </a:r>
                    </a:p>
                  </a:txBody>
                  <a:tcPr marL="54864" marR="54864" marT="22860" marB="22860" anchor="ctr">
                    <a:solidFill>
                      <a:srgbClr val="FAFBFC"/>
                    </a:solidFill>
                  </a:tcPr>
                </a:tc>
                <a:tc>
                  <a:txBody>
                    <a:bodyPr wrap="square"/>
                    <a:lstStyle/>
                    <a:p>
                      <a:pPr algn="r"/>
                      <a:r>
                        <a:rPr sz="1000" b="0">
                          <a:solidFill>
                            <a:srgbClr val="14202E"/>
                          </a:solidFill>
                          <a:latin typeface="Calibri"/>
                        </a:rPr>
                        <a:t>4 · 1 · 1</a:t>
                      </a:r>
                    </a:p>
                  </a:txBody>
                  <a:tcPr marL="54864" marR="54864" marT="22860" marB="22860" anchor="ctr">
                    <a:solidFill>
                      <a:srgbClr val="FAFBFC"/>
                    </a:solidFill>
                  </a:tcPr>
                </a:tc>
                <a:tc>
                  <a:txBody>
                    <a:bodyPr wrap="square"/>
                    <a:lstStyle/>
                    <a:p>
                      <a:r>
                        <a:rPr sz="1000" b="1">
                          <a:solidFill>
                            <a:srgbClr val="A24A07"/>
                          </a:solidFill>
                          <a:latin typeface="Calibri"/>
                        </a:rPr>
                        <a:t>Manque FR</a:t>
                      </a:r>
                    </a:p>
                  </a:txBody>
                  <a:tcPr marL="54864" marR="54864" marT="22860" marB="22860" anchor="ctr">
                    <a:solidFill>
                      <a:srgbClr val="FAFBFC"/>
                    </a:solidFill>
                  </a:tcPr>
                </a:tc>
              </a:tr>
              <a:tr h="260603">
                <a:tc>
                  <a:txBody>
                    <a:bodyPr wrap="square"/>
                    <a:lstStyle/>
                    <a:p>
                      <a:r>
                        <a:rPr sz="1000" b="0">
                          <a:solidFill>
                            <a:srgbClr val="14202E"/>
                          </a:solidFill>
                          <a:latin typeface="Calibri"/>
                        </a:rPr>
                        <a:t>Nationalité espagnole</a:t>
                      </a:r>
                    </a:p>
                  </a:txBody>
                  <a:tcPr marL="54864" marR="54864" marT="22860" marB="22860" anchor="ctr">
                    <a:solidFill>
                      <a:srgbClr val="FFFFFF"/>
                    </a:solidFill>
                  </a:tcPr>
                </a:tc>
                <a:tc>
                  <a:txBody>
                    <a:bodyPr wrap="square"/>
                    <a:lstStyle/>
                    <a:p>
                      <a:pPr algn="r"/>
                      <a:r>
                        <a:rPr sz="1000" b="0">
                          <a:solidFill>
                            <a:srgbClr val="14202E"/>
                          </a:solidFill>
                          <a:latin typeface="Calibri"/>
                        </a:rPr>
                        <a:t>11 · 18 · 2</a:t>
                      </a:r>
                    </a:p>
                  </a:txBody>
                  <a:tcPr marL="54864" marR="54864" marT="22860" marB="22860" anchor="ctr">
                    <a:solidFill>
                      <a:srgbClr val="FFFFFF"/>
                    </a:solidFill>
                  </a:tcPr>
                </a:tc>
                <a:tc>
                  <a:txBody>
                    <a:bodyPr wrap="square"/>
                    <a:lstStyle/>
                    <a:p>
                      <a:pPr algn="r"/>
                      <a:r>
                        <a:rPr sz="1000" b="0">
                          <a:solidFill>
                            <a:srgbClr val="14202E"/>
                          </a:solidFill>
                          <a:latin typeface="Calibri"/>
                        </a:rPr>
                        <a:t>0 · 2 · 0</a:t>
                      </a:r>
                    </a:p>
                  </a:txBody>
                  <a:tcPr marL="54864" marR="54864" marT="22860" marB="22860" anchor="ctr">
                    <a:solidFill>
                      <a:srgbClr val="FFFFFF"/>
                    </a:solidFill>
                  </a:tcPr>
                </a:tc>
                <a:tc>
                  <a:txBody>
                    <a:bodyPr wrap="square"/>
                    <a:lstStyle/>
                    <a:p>
                      <a:r>
                        <a:rPr sz="1000" b="1">
                          <a:solidFill>
                            <a:srgbClr val="A24A07"/>
                          </a:solidFill>
                          <a:latin typeface="Calibri"/>
                        </a:rPr>
                        <a:t>Manque ES, FR</a:t>
                      </a:r>
                    </a:p>
                  </a:txBody>
                  <a:tcPr marL="54864" marR="54864" marT="22860" marB="22860" anchor="ctr">
                    <a:solidFill>
                      <a:srgbClr val="FFFFFF"/>
                    </a:solidFill>
                  </a:tcPr>
                </a:tc>
              </a:tr>
              <a:tr h="260603">
                <a:tc>
                  <a:txBody>
                    <a:bodyPr wrap="square"/>
                    <a:lstStyle/>
                    <a:p>
                      <a:r>
                        <a:rPr sz="1000" b="0">
                          <a:solidFill>
                            <a:srgbClr val="14202E"/>
                          </a:solidFill>
                          <a:latin typeface="Calibri"/>
                        </a:rPr>
                        <a:t>Regroupement familial / conjoint / famille d'européen</a:t>
                      </a:r>
                    </a:p>
                  </a:txBody>
                  <a:tcPr marL="54864" marR="54864" marT="22860" marB="22860" anchor="ctr">
                    <a:solidFill>
                      <a:srgbClr val="FAFBFC"/>
                    </a:solidFill>
                  </a:tcPr>
                </a:tc>
                <a:tc>
                  <a:txBody>
                    <a:bodyPr wrap="square"/>
                    <a:lstStyle/>
                    <a:p>
                      <a:pPr algn="r"/>
                      <a:r>
                        <a:rPr sz="1000" b="0">
                          <a:solidFill>
                            <a:srgbClr val="14202E"/>
                          </a:solidFill>
                          <a:latin typeface="Calibri"/>
                        </a:rPr>
                        <a:t>11 · 9 · 10</a:t>
                      </a:r>
                    </a:p>
                  </a:txBody>
                  <a:tcPr marL="54864" marR="54864" marT="22860" marB="22860" anchor="ctr">
                    <a:solidFill>
                      <a:srgbClr val="FAFBFC"/>
                    </a:solidFill>
                  </a:tcPr>
                </a:tc>
                <a:tc>
                  <a:txBody>
                    <a:bodyPr wrap="square"/>
                    <a:lstStyle/>
                    <a:p>
                      <a:pPr algn="r"/>
                      <a:r>
                        <a:rPr sz="1000" b="0">
                          <a:solidFill>
                            <a:srgbClr val="14202E"/>
                          </a:solidFill>
                          <a:latin typeface="Calibri"/>
                        </a:rPr>
                        <a:t>0 · 3 · 1</a:t>
                      </a:r>
                    </a:p>
                  </a:txBody>
                  <a:tcPr marL="54864" marR="54864" marT="22860" marB="22860" anchor="ctr">
                    <a:solidFill>
                      <a:srgbClr val="FAFBFC"/>
                    </a:solidFill>
                  </a:tcPr>
                </a:tc>
                <a:tc>
                  <a:txBody>
                    <a:bodyPr wrap="square"/>
                    <a:lstStyle/>
                    <a:p>
                      <a:r>
                        <a:rPr sz="1000" b="1">
                          <a:solidFill>
                            <a:srgbClr val="A24A07"/>
                          </a:solidFill>
                          <a:latin typeface="Calibri"/>
                        </a:rPr>
                        <a:t>Manque ES, FR</a:t>
                      </a:r>
                    </a:p>
                  </a:txBody>
                  <a:tcPr marL="54864" marR="54864" marT="22860" marB="22860" anchor="ctr">
                    <a:solidFill>
                      <a:srgbClr val="FAFBFC"/>
                    </a:solidFill>
                  </a:tcPr>
                </a:tc>
              </a:tr>
              <a:tr h="260603">
                <a:tc>
                  <a:txBody>
                    <a:bodyPr wrap="square"/>
                    <a:lstStyle/>
                    <a:p>
                      <a:r>
                        <a:rPr sz="1000" b="0">
                          <a:solidFill>
                            <a:srgbClr val="14202E"/>
                          </a:solidFill>
                          <a:latin typeface="Calibri"/>
                        </a:rPr>
                        <a:t>Inscription au padrón</a:t>
                      </a:r>
                    </a:p>
                  </a:txBody>
                  <a:tcPr marL="54864" marR="54864" marT="22860" marB="22860" anchor="ctr">
                    <a:solidFill>
                      <a:srgbClr val="FFFFFF"/>
                    </a:solidFill>
                  </a:tcPr>
                </a:tc>
                <a:tc>
                  <a:txBody>
                    <a:bodyPr wrap="square"/>
                    <a:lstStyle/>
                    <a:p>
                      <a:pPr algn="r"/>
                      <a:r>
                        <a:rPr sz="1000" b="0">
                          <a:solidFill>
                            <a:srgbClr val="14202E"/>
                          </a:solidFill>
                          <a:latin typeface="Calibri"/>
                        </a:rPr>
                        <a:t>9 · 10 · 4</a:t>
                      </a:r>
                    </a:p>
                  </a:txBody>
                  <a:tcPr marL="54864" marR="54864" marT="22860" marB="22860" anchor="ctr">
                    <a:solidFill>
                      <a:srgbClr val="FFFFFF"/>
                    </a:solidFill>
                  </a:tcPr>
                </a:tc>
                <a:tc>
                  <a:txBody>
                    <a:bodyPr wrap="square"/>
                    <a:lstStyle/>
                    <a:p>
                      <a:pPr algn="r"/>
                      <a:r>
                        <a:rPr sz="1000" b="0">
                          <a:solidFill>
                            <a:srgbClr val="14202E"/>
                          </a:solidFill>
                          <a:latin typeface="Calibri"/>
                        </a:rPr>
                        <a:t>1 · 1 · 1</a:t>
                      </a:r>
                    </a:p>
                  </a:txBody>
                  <a:tcPr marL="54864" marR="54864" marT="22860" marB="22860" anchor="ctr">
                    <a:solidFill>
                      <a:srgbClr val="FFFFFF"/>
                    </a:solidFill>
                  </a:tcPr>
                </a:tc>
                <a:tc>
                  <a:txBody>
                    <a:bodyPr wrap="square"/>
                    <a:lstStyle/>
                    <a:p>
                      <a:r>
                        <a:rPr sz="1000" b="1">
                          <a:solidFill>
                            <a:srgbClr val="A24A07"/>
                          </a:solidFill>
                          <a:latin typeface="Calibri"/>
                        </a:rPr>
                        <a:t>Manque ES, FR</a:t>
                      </a:r>
                    </a:p>
                  </a:txBody>
                  <a:tcPr marL="54864" marR="54864" marT="22860" marB="22860" anchor="ctr">
                    <a:solidFill>
                      <a:srgbClr val="FFFFFF"/>
                    </a:solidFill>
                  </a:tcPr>
                </a:tc>
              </a:tr>
              <a:tr h="260603">
                <a:tc>
                  <a:txBody>
                    <a:bodyPr wrap="square"/>
                    <a:lstStyle/>
                    <a:p>
                      <a:r>
                        <a:rPr sz="1000" b="0">
                          <a:solidFill>
                            <a:srgbClr val="14202E"/>
                          </a:solidFill>
                          <a:latin typeface="Calibri"/>
                        </a:rPr>
                        <a:t>Litige, réclamation et médiation</a:t>
                      </a:r>
                    </a:p>
                  </a:txBody>
                  <a:tcPr marL="54864" marR="54864" marT="22860" marB="22860" anchor="ctr">
                    <a:solidFill>
                      <a:srgbClr val="FAFBFC"/>
                    </a:solidFill>
                  </a:tcPr>
                </a:tc>
                <a:tc>
                  <a:txBody>
                    <a:bodyPr wrap="square"/>
                    <a:lstStyle/>
                    <a:p>
                      <a:pPr algn="r"/>
                      <a:r>
                        <a:rPr sz="1000" b="0">
                          <a:solidFill>
                            <a:srgbClr val="14202E"/>
                          </a:solidFill>
                          <a:latin typeface="Calibri"/>
                        </a:rPr>
                        <a:t>13 · 9 · 0</a:t>
                      </a:r>
                    </a:p>
                  </a:txBody>
                  <a:tcPr marL="54864" marR="54864" marT="22860" marB="22860" anchor="ctr">
                    <a:solidFill>
                      <a:srgbClr val="FAFBFC"/>
                    </a:solidFill>
                  </a:tcPr>
                </a:tc>
                <a:tc>
                  <a:txBody>
                    <a:bodyPr wrap="square"/>
                    <a:lstStyle/>
                    <a:p>
                      <a:pPr algn="r"/>
                      <a:r>
                        <a:rPr sz="1000" b="0">
                          <a:solidFill>
                            <a:srgbClr val="14202E"/>
                          </a:solidFill>
                          <a:latin typeface="Calibri"/>
                        </a:rPr>
                        <a:t>5 · 2 · 1</a:t>
                      </a:r>
                    </a:p>
                  </a:txBody>
                  <a:tcPr marL="54864" marR="54864" marT="22860" marB="22860" anchor="ctr">
                    <a:solidFill>
                      <a:srgbClr val="FAFBFC"/>
                    </a:solidFill>
                  </a:tcPr>
                </a:tc>
                <a:tc>
                  <a:txBody>
                    <a:bodyPr wrap="square"/>
                    <a:lstStyle/>
                    <a:p>
                      <a:r>
                        <a:rPr sz="1000" b="1">
                          <a:solidFill>
                            <a:srgbClr val="A24A07"/>
                          </a:solidFill>
                          <a:latin typeface="Calibri"/>
                        </a:rPr>
                        <a:t>Manque FR</a:t>
                      </a:r>
                    </a:p>
                  </a:txBody>
                  <a:tcPr marL="54864" marR="54864" marT="22860" marB="22860" anchor="ctr">
                    <a:solidFill>
                      <a:srgbClr val="FAFBFC"/>
                    </a:solidFill>
                  </a:tcPr>
                </a:tc>
              </a:tr>
              <a:tr h="260603">
                <a:tc>
                  <a:txBody>
                    <a:bodyPr wrap="square"/>
                    <a:lstStyle/>
                    <a:p>
                      <a:r>
                        <a:rPr sz="1000" b="0">
                          <a:solidFill>
                            <a:srgbClr val="14202E"/>
                          </a:solidFill>
                          <a:latin typeface="Calibri"/>
                        </a:rPr>
                        <a:t>Droits de succession et donation</a:t>
                      </a:r>
                    </a:p>
                  </a:txBody>
                  <a:tcPr marL="54864" marR="54864" marT="22860" marB="22860" anchor="ctr">
                    <a:solidFill>
                      <a:srgbClr val="FFFFFF"/>
                    </a:solidFill>
                  </a:tcPr>
                </a:tc>
                <a:tc>
                  <a:txBody>
                    <a:bodyPr wrap="square"/>
                    <a:lstStyle/>
                    <a:p>
                      <a:pPr algn="r"/>
                      <a:r>
                        <a:rPr sz="1000" b="0">
                          <a:solidFill>
                            <a:srgbClr val="14202E"/>
                          </a:solidFill>
                          <a:latin typeface="Calibri"/>
                        </a:rPr>
                        <a:t>11 · 11 · 0</a:t>
                      </a:r>
                    </a:p>
                  </a:txBody>
                  <a:tcPr marL="54864" marR="54864" marT="22860" marB="22860" anchor="ctr">
                    <a:solidFill>
                      <a:srgbClr val="FFFFFF"/>
                    </a:solidFill>
                  </a:tcPr>
                </a:tc>
                <a:tc>
                  <a:txBody>
                    <a:bodyPr wrap="square"/>
                    <a:lstStyle/>
                    <a:p>
                      <a:pPr algn="r"/>
                      <a:r>
                        <a:rPr sz="1000" b="0">
                          <a:solidFill>
                            <a:srgbClr val="14202E"/>
                          </a:solidFill>
                          <a:latin typeface="Calibri"/>
                        </a:rPr>
                        <a:t>1 · 2 · 2</a:t>
                      </a:r>
                    </a:p>
                  </a:txBody>
                  <a:tcPr marL="54864" marR="54864" marT="22860" marB="22860" anchor="ctr">
                    <a:solidFill>
                      <a:srgbClr val="FFFFFF"/>
                    </a:solidFill>
                  </a:tcPr>
                </a:tc>
                <a:tc>
                  <a:txBody>
                    <a:bodyPr wrap="square"/>
                    <a:lstStyle/>
                    <a:p>
                      <a:r>
                        <a:rPr sz="1000" b="1">
                          <a:solidFill>
                            <a:srgbClr val="A24A07"/>
                          </a:solidFill>
                          <a:latin typeface="Calibri"/>
                        </a:rPr>
                        <a:t>Manque ES</a:t>
                      </a:r>
                    </a:p>
                  </a:txBody>
                  <a:tcPr marL="54864" marR="54864" marT="22860" marB="22860" anchor="ctr">
                    <a:solidFill>
                      <a:srgbClr val="FFFFFF"/>
                    </a:solidFill>
                  </a:tcPr>
                </a:tc>
              </a:tr>
              <a:tr h="260603">
                <a:tc>
                  <a:txBody>
                    <a:bodyPr wrap="square"/>
                    <a:lstStyle/>
                    <a:p>
                      <a:r>
                        <a:rPr sz="1000" b="0">
                          <a:solidFill>
                            <a:srgbClr val="14202E"/>
                          </a:solidFill>
                          <a:latin typeface="Calibri"/>
                        </a:rPr>
                        <a:t>Famille : divorce, garde, régime matrimonial</a:t>
                      </a:r>
                    </a:p>
                  </a:txBody>
                  <a:tcPr marL="54864" marR="54864" marT="22860" marB="22860" anchor="ctr">
                    <a:solidFill>
                      <a:srgbClr val="FAFBFC"/>
                    </a:solidFill>
                  </a:tcPr>
                </a:tc>
                <a:tc>
                  <a:txBody>
                    <a:bodyPr wrap="square"/>
                    <a:lstStyle/>
                    <a:p>
                      <a:pPr algn="r"/>
                      <a:r>
                        <a:rPr sz="1000" b="0">
                          <a:solidFill>
                            <a:srgbClr val="14202E"/>
                          </a:solidFill>
                          <a:latin typeface="Calibri"/>
                        </a:rPr>
                        <a:t>9 · 11 · 0</a:t>
                      </a:r>
                    </a:p>
                  </a:txBody>
                  <a:tcPr marL="54864" marR="54864" marT="22860" marB="22860" anchor="ctr">
                    <a:solidFill>
                      <a:srgbClr val="FAFBFC"/>
                    </a:solidFill>
                  </a:tcPr>
                </a:tc>
                <a:tc>
                  <a:txBody>
                    <a:bodyPr wrap="square"/>
                    <a:lstStyle/>
                    <a:p>
                      <a:pPr algn="r"/>
                      <a:r>
                        <a:rPr sz="1000" b="0">
                          <a:solidFill>
                            <a:srgbClr val="14202E"/>
                          </a:solidFill>
                          <a:latin typeface="Calibri"/>
                        </a:rPr>
                        <a:t>0 · 3 · 2</a:t>
                      </a:r>
                    </a:p>
                  </a:txBody>
                  <a:tcPr marL="54864" marR="54864" marT="22860" marB="22860" anchor="ctr">
                    <a:solidFill>
                      <a:srgbClr val="FAFBFC"/>
                    </a:solidFill>
                  </a:tcPr>
                </a:tc>
                <a:tc>
                  <a:txBody>
                    <a:bodyPr wrap="square"/>
                    <a:lstStyle/>
                    <a:p>
                      <a:r>
                        <a:rPr sz="1000" b="1">
                          <a:solidFill>
                            <a:srgbClr val="A24A07"/>
                          </a:solidFill>
                          <a:latin typeface="Calibri"/>
                        </a:rPr>
                        <a:t>Manque ES</a:t>
                      </a:r>
                    </a:p>
                  </a:txBody>
                  <a:tcPr marL="54864" marR="54864" marT="22860" marB="22860" anchor="ctr">
                    <a:solidFill>
                      <a:srgbClr val="FAFBFC"/>
                    </a:solidFill>
                  </a:tcPr>
                </a:tc>
              </a:tr>
            </a:tbl>
          </a:graphicData>
        </a:graphic>
      </p:graphicFrame>
      <p:sp>
        <p:nvSpPr>
          <p:cNvPr id="9" name="TextBox 8"/>
          <p:cNvSpPr txBox="1"/>
          <p:nvPr/>
        </p:nvSpPr>
        <p:spPr>
          <a:xfrm>
            <a:off x="548640" y="6144768"/>
            <a:ext cx="1106424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Manque : une langue avec 8 demandes ou plus sur le sous-thème et 0 ou 1 article dans cette langue. EN : le thème n'est connu que pour 33 demandes sur 376.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Recommandations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21</a:t>
            </a:r>
          </a:p>
        </p:txBody>
      </p:sp>
      <p:sp>
        <p:nvSpPr>
          <p:cNvPr id="7" name="Rounded Rectangle 6"/>
          <p:cNvSpPr/>
          <p:nvPr/>
        </p:nvSpPr>
        <p:spPr>
          <a:xfrm>
            <a:off x="548640" y="1508760"/>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Remplacer la liste déroulante par des objectifs à choix multiple</a:t>
            </a:r>
          </a:p>
        </p:txBody>
      </p:sp>
      <p:sp>
        <p:nvSpPr>
          <p:cNvPr id="9" name="TextBox 8"/>
          <p:cNvSpPr txBox="1"/>
          <p:nvPr/>
        </p:nvSpPr>
        <p:spPr>
          <a:xfrm>
            <a:off x="4297680" y="1527048"/>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Neuf cartes (voir Formulaire), avec étiquettes cachées de domaine, page et sous-thème. Cela règle les demandes mixtes (36 %) et le « Autre(s) ».</a:t>
            </a:r>
          </a:p>
        </p:txBody>
      </p:sp>
      <p:sp>
        <p:nvSpPr>
          <p:cNvPr id="10" name="Rounded Rectangle 9"/>
          <p:cNvSpPr/>
          <p:nvPr/>
        </p:nvSpPr>
        <p:spPr>
          <a:xfrm>
            <a:off x="548640" y="2203704"/>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21992"/>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Créer les pages manquantes et scinder le droit des étrangers</a:t>
            </a:r>
          </a:p>
        </p:txBody>
      </p:sp>
      <p:sp>
        <p:nvSpPr>
          <p:cNvPr id="12" name="TextBox 11"/>
          <p:cNvSpPr txBox="1"/>
          <p:nvPr/>
        </p:nvSpPr>
        <p:spPr>
          <a:xfrm>
            <a:off x="4297680" y="2221992"/>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Successions et testaments, et Famille (proposition). Scinder EXT-4 en cinq parcours. Faire du statut d'autónomo un parcours propre dans Entreprise.</a:t>
            </a:r>
          </a:p>
        </p:txBody>
      </p:sp>
      <p:sp>
        <p:nvSpPr>
          <p:cNvPr id="13" name="Rounded Rectangle 12"/>
          <p:cNvSpPr/>
          <p:nvPr/>
        </p:nvSpPr>
        <p:spPr>
          <a:xfrm>
            <a:off x="548640" y="2898648"/>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16936"/>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Recueillir pays de résidence et nationalité dans des champs propres</a:t>
            </a:r>
          </a:p>
        </p:txBody>
      </p:sp>
      <p:sp>
        <p:nvSpPr>
          <p:cNvPr id="15" name="TextBox 14"/>
          <p:cNvSpPr txBox="1"/>
          <p:nvPr/>
        </p:nvSpPr>
        <p:spPr>
          <a:xfrm>
            <a:off x="4297680" y="2916936"/>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Aujourd'hui il faut les déduire ; seulement 25 % des messages analysés déclarent la nationalité.</a:t>
            </a:r>
          </a:p>
        </p:txBody>
      </p:sp>
      <p:sp>
        <p:nvSpPr>
          <p:cNvPr id="16" name="Rounded Rectangle 15"/>
          <p:cNvSpPr/>
          <p:nvPr/>
        </p:nvSpPr>
        <p:spPr>
          <a:xfrm>
            <a:off x="548640" y="3593592"/>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611880"/>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Préremplir les questions de chaque parcours et la date limite</a:t>
            </a:r>
          </a:p>
        </p:txBody>
      </p:sp>
      <p:sp>
        <p:nvSpPr>
          <p:cNvPr id="18" name="TextBox 17"/>
          <p:cNvSpPr txBox="1"/>
          <p:nvPr/>
        </p:nvSpPr>
        <p:spPr>
          <a:xfrm>
            <a:off x="4297680" y="3611880"/>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Un seul formulaire multilingue au lieu de neuf, avec les questions de la section précédente, validées par Félix et Sonia.</a:t>
            </a:r>
          </a:p>
        </p:txBody>
      </p:sp>
      <p:sp>
        <p:nvSpPr>
          <p:cNvPr id="19" name="Rounded Rectangle 18"/>
          <p:cNvSpPr/>
          <p:nvPr/>
        </p:nvSpPr>
        <p:spPr>
          <a:xfrm>
            <a:off x="548640" y="4288536"/>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06823"/>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Ajouter la sortie vers l'information</a:t>
            </a:r>
          </a:p>
        </p:txBody>
      </p:sp>
      <p:sp>
        <p:nvSpPr>
          <p:cNvPr id="21" name="TextBox 20"/>
          <p:cNvSpPr txBox="1"/>
          <p:nvPr/>
        </p:nvSpPr>
        <p:spPr>
          <a:xfrm>
            <a:off x="4297680" y="4306823"/>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Si la personne coche « seulement de l'information », afficher des guides avant de demander le contact. Mesurer clics et envois.</a:t>
            </a:r>
          </a:p>
        </p:txBody>
      </p:sp>
      <p:sp>
        <p:nvSpPr>
          <p:cNvPr id="22" name="Rounded Rectangle 21"/>
          <p:cNvSpPr/>
          <p:nvPr/>
        </p:nvSpPr>
        <p:spPr>
          <a:xfrm>
            <a:off x="548640" y="4983479"/>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01767"/>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Combler les manques du blog dans la langue qui le demande le plus</a:t>
            </a:r>
          </a:p>
        </p:txBody>
      </p:sp>
      <p:sp>
        <p:nvSpPr>
          <p:cNvPr id="24" name="TextBox 23"/>
          <p:cNvSpPr txBox="1"/>
          <p:nvPr/>
        </p:nvSpPr>
        <p:spPr>
          <a:xfrm>
            <a:off x="4297680" y="5001767"/>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Commencer par les lignes marquées dans le tableau Blog (par exemple achat immobilier en espagnol, nationalité et séjour irrégulier en français).</a:t>
            </a:r>
          </a:p>
        </p:txBody>
      </p:sp>
      <p:sp>
        <p:nvSpPr>
          <p:cNvPr id="25" name="Rounded Rectangle 24"/>
          <p:cNvSpPr/>
          <p:nvPr/>
        </p:nvSpPr>
        <p:spPr>
          <a:xfrm>
            <a:off x="548640" y="5678424"/>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696712"/>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Compléter l'analyse de texte</a:t>
            </a:r>
          </a:p>
        </p:txBody>
      </p:sp>
      <p:sp>
        <p:nvSpPr>
          <p:cNvPr id="27" name="TextBox 26"/>
          <p:cNvSpPr txBox="1"/>
          <p:nvPr/>
        </p:nvSpPr>
        <p:spPr>
          <a:xfrm>
            <a:off x="4297680" y="5696712"/>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Les messages du formulaire EN général, RU et immigration FR manquent. L'environnement a bloqué leur lecture parce qu'ils contiennent des données personnelles ; il faut une autorisation explicite de Mike pour les lire avec les mêmes règles d'anonymisation.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ANALYSE DES FORMULAIRES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Méthode et limites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Cartographie des demandes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22</a:t>
            </a:r>
          </a:p>
        </p:txBody>
      </p:sp>
      <p:sp>
        <p:nvSpPr>
          <p:cNvPr id="7" name="TextBox 6"/>
          <p:cNvSpPr txBox="1"/>
          <p:nvPr/>
        </p:nvSpPr>
        <p:spPr>
          <a:xfrm>
            <a:off x="548640" y="1508760"/>
            <a:ext cx="11064240" cy="3931920"/>
          </a:xfrm>
          <a:prstGeom prst="rect">
            <a:avLst/>
          </a:prstGeom>
          <a:noFill/>
        </p:spPr>
        <p:txBody>
          <a:bodyPr wrap="square" lIns="45720" rIns="45720" tIns="27432" bIns="27432">
            <a:spAutoFit/>
          </a:bodyPr>
          <a:lstStyle/>
          <a:p>
            <a:pPr>
              <a:spcAft>
                <a:spcPts val="800"/>
              </a:spcAft>
            </a:pPr>
            <a:r>
              <a:rPr sz="1300" b="0">
                <a:solidFill>
                  <a:srgbClr val="14202E"/>
                </a:solidFill>
                <a:latin typeface="Calibri"/>
              </a:rPr>
              <a:t>• Source : 9 formulaires Formidable Forms, 1 169 entrées, lecture seule via AISA.</a:t>
            </a:r>
          </a:p>
          <a:p>
            <a:pPr>
              <a:spcAft>
                <a:spcPts val="800"/>
              </a:spcAft>
            </a:pPr>
            <a:r>
              <a:rPr sz="1300" b="0">
                <a:solidFill>
                  <a:srgbClr val="14202E"/>
                </a:solidFill>
                <a:latin typeface="Calibri"/>
              </a:rPr>
              <a:t>• Texte du message analysé pour 741 entrées (ES général 190, immigration ES 54, FR général 464, immigration EN 33, codées à la main). Les 428 autres ont été analysées avec les seuls champs structurés (listes, indicatif, page, parcours) : EN général 343, RU 65, immigration FR 20.</a:t>
            </a:r>
          </a:p>
          <a:p>
            <a:pPr>
              <a:spcAft>
                <a:spcPts val="800"/>
              </a:spcAft>
            </a:pPr>
            <a:r>
              <a:rPr sz="1300" b="0">
                <a:solidFill>
                  <a:srgbClr val="14202E"/>
                </a:solidFill>
                <a:latin typeface="Calibri"/>
              </a:rPr>
              <a:t>• Classement : règles multilingues (ES, FR, EN) sur l'objet et le message, avec 72 sous-thèmes rattachés aux 17 pages de dlvibe et 3 propositions. Un échantillon de 24 cas a été relu à la main : le thème principal est raisonnable dans la plupart des cas et les étiquettes secondaires sont plus bruitées.</a:t>
            </a:r>
          </a:p>
          <a:p>
            <a:pPr>
              <a:spcAft>
                <a:spcPts val="800"/>
              </a:spcAft>
            </a:pPr>
            <a:r>
              <a:rPr sz="1300" b="0">
                <a:solidFill>
                  <a:srgbClr val="14202E"/>
                </a:solidFill>
                <a:latin typeface="Calibri"/>
              </a:rPr>
              <a:t>• Pays : indicatif téléphonique, liste de localisation ou pays de résidence indiqué dans le texte. Nationalité : seulement si elle est déclarée. Les deux sont des estimations.</a:t>
            </a:r>
          </a:p>
          <a:p>
            <a:pPr>
              <a:spcAft>
                <a:spcPts val="800"/>
              </a:spcAft>
            </a:pPr>
            <a:r>
              <a:rPr sz="1300" b="0">
                <a:solidFill>
                  <a:srgbClr val="14202E"/>
                </a:solidFill>
                <a:latin typeface="Calibri"/>
              </a:rPr>
              <a:t>• Confidentialité : les CSV ne contiennent ni noms, ni e-mails, ni téléphones, ni texte des messages, seulement des champs dérivés et l'identifiant de l'entrée pour la retrouver dans Formidable.</a:t>
            </a:r>
          </a:p>
          <a:p>
            <a:pPr>
              <a:spcAft>
                <a:spcPts val="800"/>
              </a:spcAft>
            </a:pPr>
            <a:r>
              <a:rPr sz="1300" b="0">
                <a:solidFill>
                  <a:srgbClr val="14202E"/>
                </a:solidFill>
                <a:latin typeface="Calibri"/>
              </a:rPr>
              <a:t>• Période : du 21 octobre 2024 au 7 octobre 2026. Le dernier trimestre 2026 est incomplet.</a:t>
            </a:r>
          </a:p>
        </p:txBody>
      </p:sp>
      <p:sp>
        <p:nvSpPr>
          <p:cNvPr id="8" name="TextBox 7"/>
          <p:cNvSpPr txBox="1"/>
          <p:nvPr/>
        </p:nvSpPr>
        <p:spPr>
          <a:xfrm>
            <a:off x="548640" y="5486400"/>
            <a:ext cx="11064240" cy="82296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Fichiers: data/leads/leads_es.csv, leads_en.csv, leads_fr.csv, leads_ru.csv, topic_article_map.csv, leads_stats.json</a:t>
            </a:r>
          </a:p>
          <a:p>
            <a:pPr>
              <a:spcAft>
                <a:spcPts val="400"/>
              </a:spcAft>
            </a:pPr>
            <a:r>
              <a:rPr sz="1000" b="0">
                <a:solidFill>
                  <a:srgbClr val="556575"/>
                </a:solidFill>
                <a:latin typeface="Calibri"/>
              </a:rPr>
              <a:t>Rapport généré le 8 octobre 2026 à partir des formulaires du 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