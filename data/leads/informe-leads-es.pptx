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Formulario ES</c:v>
                </c:pt>
              </c:strCache>
            </c:strRef>
          </c:tx>
          <c:spPr>
            <a:solidFill>
              <a:srgbClr val="C9531A"/>
            </a:solidFill>
          </c:spPr>
          <c:cat>
            <c:strRef>
              <c:f>Sheet1!$A$2:$A$10</c:f>
              <c:strCache>
                <c:ptCount val="9"/>
                <c:pt idx="0">
                  <c:v>T4 24</c:v>
                </c:pt>
                <c:pt idx="1">
                  <c:v>T1 25</c:v>
                </c:pt>
                <c:pt idx="2">
                  <c:v>T2 25</c:v>
                </c:pt>
                <c:pt idx="3">
                  <c:v>T3 25</c:v>
                </c:pt>
                <c:pt idx="4">
                  <c:v>T4 25</c:v>
                </c:pt>
                <c:pt idx="5">
                  <c:v>T1 26</c:v>
                </c:pt>
                <c:pt idx="6">
                  <c:v>T2 26</c:v>
                </c:pt>
                <c:pt idx="7">
                  <c:v>T3 26</c:v>
                </c:pt>
                <c:pt idx="8">
                  <c:v>T4 26</c:v>
                </c:pt>
              </c:strCache>
            </c:strRef>
          </c:cat>
          <c:val>
            <c:numRef>
              <c:f>Sheet1!$B$2:$B$10</c:f>
              <c:numCache>
                <c:formatCode>General</c:formatCode>
                <c:ptCount val="9"/>
                <c:pt idx="0">
                  <c:v>5</c:v>
                </c:pt>
                <c:pt idx="1">
                  <c:v>18</c:v>
                </c:pt>
                <c:pt idx="2">
                  <c:v>23</c:v>
                </c:pt>
                <c:pt idx="3">
                  <c:v>35</c:v>
                </c:pt>
                <c:pt idx="4">
                  <c:v>33</c:v>
                </c:pt>
                <c:pt idx="5">
                  <c:v>32</c:v>
                </c:pt>
                <c:pt idx="6">
                  <c:v>42</c:v>
                </c:pt>
                <c:pt idx="7">
                  <c:v>51</c:v>
                </c:pt>
                <c:pt idx="8">
                  <c:v>5</c:v>
                </c:pt>
              </c:numCache>
            </c:numRef>
          </c:val>
        </c:ser>
        <c:ser>
          <c:idx val="1"/>
          <c:order val="1"/>
          <c:tx>
            <c:strRef>
              <c:f>Sheet1!$C$1</c:f>
              <c:strCache>
                <c:ptCount val="1"/>
                <c:pt idx="0">
                  <c:v>Formulario FR</c:v>
                </c:pt>
              </c:strCache>
            </c:strRef>
          </c:tx>
          <c:spPr>
            <a:solidFill>
              <a:srgbClr val="1F63B5"/>
            </a:solidFill>
          </c:spPr>
          <c:cat>
            <c:strRef>
              <c:f>Sheet1!$A$2:$A$10</c:f>
              <c:strCache>
                <c:ptCount val="9"/>
                <c:pt idx="0">
                  <c:v>T4 24</c:v>
                </c:pt>
                <c:pt idx="1">
                  <c:v>T1 25</c:v>
                </c:pt>
                <c:pt idx="2">
                  <c:v>T2 25</c:v>
                </c:pt>
                <c:pt idx="3">
                  <c:v>T3 25</c:v>
                </c:pt>
                <c:pt idx="4">
                  <c:v>T4 25</c:v>
                </c:pt>
                <c:pt idx="5">
                  <c:v>T1 26</c:v>
                </c:pt>
                <c:pt idx="6">
                  <c:v>T2 26</c:v>
                </c:pt>
                <c:pt idx="7">
                  <c:v>T3 26</c:v>
                </c:pt>
                <c:pt idx="8">
                  <c:v>T4 26</c:v>
                </c:pt>
              </c:strCache>
            </c:strRef>
          </c:cat>
          <c:val>
            <c:numRef>
              <c:f>Sheet1!$C$2:$C$10</c:f>
              <c:numCache>
                <c:formatCode>General</c:formatCode>
                <c:ptCount val="9"/>
                <c:pt idx="0">
                  <c:v>33</c:v>
                </c:pt>
                <c:pt idx="1">
                  <c:v>82</c:v>
                </c:pt>
                <c:pt idx="2">
                  <c:v>71</c:v>
                </c:pt>
                <c:pt idx="3">
                  <c:v>65</c:v>
                </c:pt>
                <c:pt idx="4">
                  <c:v>47</c:v>
                </c:pt>
                <c:pt idx="5">
                  <c:v>69</c:v>
                </c:pt>
                <c:pt idx="6">
                  <c:v>53</c:v>
                </c:pt>
                <c:pt idx="7">
                  <c:v>62</c:v>
                </c:pt>
                <c:pt idx="8">
                  <c:v>2</c:v>
                </c:pt>
              </c:numCache>
            </c:numRef>
          </c:val>
        </c:ser>
        <c:ser>
          <c:idx val="2"/>
          <c:order val="2"/>
          <c:tx>
            <c:strRef>
              <c:f>Sheet1!$D$1</c:f>
              <c:strCache>
                <c:ptCount val="1"/>
                <c:pt idx="0">
                  <c:v>Formulario EN</c:v>
                </c:pt>
              </c:strCache>
            </c:strRef>
          </c:tx>
          <c:spPr>
            <a:solidFill>
              <a:srgbClr val="0F8A67"/>
            </a:solidFill>
          </c:spPr>
          <c:cat>
            <c:strRef>
              <c:f>Sheet1!$A$2:$A$10</c:f>
              <c:strCache>
                <c:ptCount val="9"/>
                <c:pt idx="0">
                  <c:v>T4 24</c:v>
                </c:pt>
                <c:pt idx="1">
                  <c:v>T1 25</c:v>
                </c:pt>
                <c:pt idx="2">
                  <c:v>T2 25</c:v>
                </c:pt>
                <c:pt idx="3">
                  <c:v>T3 25</c:v>
                </c:pt>
                <c:pt idx="4">
                  <c:v>T4 25</c:v>
                </c:pt>
                <c:pt idx="5">
                  <c:v>T1 26</c:v>
                </c:pt>
                <c:pt idx="6">
                  <c:v>T2 26</c:v>
                </c:pt>
                <c:pt idx="7">
                  <c:v>T3 26</c:v>
                </c:pt>
                <c:pt idx="8">
                  <c:v>T4 26</c:v>
                </c:pt>
              </c:strCache>
            </c:strRef>
          </c:cat>
          <c:val>
            <c:numRef>
              <c:f>Sheet1!$D$2:$D$10</c:f>
              <c:numCache>
                <c:formatCode>General</c:formatCode>
                <c:ptCount val="9"/>
                <c:pt idx="0">
                  <c:v>16</c:v>
                </c:pt>
                <c:pt idx="1">
                  <c:v>47</c:v>
                </c:pt>
                <c:pt idx="2">
                  <c:v>51</c:v>
                </c:pt>
                <c:pt idx="3">
                  <c:v>25</c:v>
                </c:pt>
                <c:pt idx="4">
                  <c:v>21</c:v>
                </c:pt>
                <c:pt idx="5">
                  <c:v>62</c:v>
                </c:pt>
                <c:pt idx="6">
                  <c:v>60</c:v>
                </c:pt>
                <c:pt idx="7">
                  <c:v>89</c:v>
                </c:pt>
                <c:pt idx="8">
                  <c:v>5</c:v>
                </c:pt>
              </c:numCache>
            </c:numRef>
          </c:val>
        </c:ser>
        <c:ser>
          <c:idx val="3"/>
          <c:order val="3"/>
          <c:tx>
            <c:strRef>
              <c:f>Sheet1!$E$1</c:f>
              <c:strCache>
                <c:ptCount val="1"/>
                <c:pt idx="0">
                  <c:v>Formulario RU</c:v>
                </c:pt>
              </c:strCache>
            </c:strRef>
          </c:tx>
          <c:spPr>
            <a:solidFill>
              <a:srgbClr val="9A4A8C"/>
            </a:solidFill>
          </c:spPr>
          <c:cat>
            <c:strRef>
              <c:f>Sheet1!$A$2:$A$10</c:f>
              <c:strCache>
                <c:ptCount val="9"/>
                <c:pt idx="0">
                  <c:v>T4 24</c:v>
                </c:pt>
                <c:pt idx="1">
                  <c:v>T1 25</c:v>
                </c:pt>
                <c:pt idx="2">
                  <c:v>T2 25</c:v>
                </c:pt>
                <c:pt idx="3">
                  <c:v>T3 25</c:v>
                </c:pt>
                <c:pt idx="4">
                  <c:v>T4 25</c:v>
                </c:pt>
                <c:pt idx="5">
                  <c:v>T1 26</c:v>
                </c:pt>
                <c:pt idx="6">
                  <c:v>T2 26</c:v>
                </c:pt>
                <c:pt idx="7">
                  <c:v>T3 26</c:v>
                </c:pt>
                <c:pt idx="8">
                  <c:v>T4 26</c:v>
                </c:pt>
              </c:strCache>
            </c:strRef>
          </c:cat>
          <c:val>
            <c:numRef>
              <c:f>Sheet1!$E$2:$E$10</c:f>
              <c:numCache>
                <c:formatCode>General</c:formatCode>
                <c:ptCount val="9"/>
                <c:pt idx="0">
                  <c:v>6</c:v>
                </c:pt>
                <c:pt idx="1">
                  <c:v>11</c:v>
                </c:pt>
                <c:pt idx="2">
                  <c:v>9</c:v>
                </c:pt>
                <c:pt idx="3">
                  <c:v>4</c:v>
                </c:pt>
                <c:pt idx="4">
                  <c:v>5</c:v>
                </c:pt>
                <c:pt idx="5">
                  <c:v>10</c:v>
                </c:pt>
                <c:pt idx="6">
                  <c:v>7</c:v>
                </c:pt>
                <c:pt idx="7">
                  <c:v>13</c:v>
                </c:pt>
                <c:pt idx="8">
                  <c:v>0</c:v>
                </c:pt>
              </c:numCache>
            </c:numRef>
          </c:val>
        </c:ser>
        <c:gapWidth val="45"/>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spPr>
            <a:ln>
              <a:solidFill>
                <a:srgbClr val="D7DEE5"/>
              </a:solidFill>
            </a:ln>
          </c:spPr>
        </c:majorGridlines>
        <c:majorTickMark val="out"/>
        <c:minorTickMark val="none"/>
        <c:tickLblPos val="nextTo"/>
        <c:spPr>
          <a:ln>
            <a:noFill/>
          </a:ln>
        </c:spPr>
        <c:crossAx val="-2068027336"/>
        <c:crosses val="autoZero"/>
      </c:valAx>
    </c:plotArea>
    <c:legend>
      <c:legendPos val="b"/>
      <c:overlay val="0"/>
      <c:txPr>
        <a:bodyPr/>
        <a:lstStyle/>
        <a:p>
          <a:pPr>
            <a:defRPr sz="1000"/>
          </a:pPr>
        </a:p>
      </c:txPr>
    </c:legend>
    <c:dispBlanksAs val="gap"/>
  </c:chart>
  <c:txPr>
    <a:bodyPr/>
    <a:lstStyle/>
    <a:p>
      <a:pPr>
        <a:defRPr sz="1000">
          <a:solidFill>
            <a:srgbClr val="14202E"/>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t>Intención del primer mensaje</a:t>
            </a:r>
          </a:p>
        </c:rich>
      </c:tx>
      <c:layout/>
      <c:overlay val="0"/>
    </c:title>
    <c:autoTitleDeleted val="0"/>
    <c:plotArea>
      <c:barChart>
        <c:barDir val="bar"/>
        <c:grouping val="percentStacked"/>
        <c:ser>
          <c:idx val="0"/>
          <c:order val="0"/>
          <c:tx>
            <c:strRef>
              <c:f>Sheet1!$B$1</c:f>
              <c:strCache>
                <c:ptCount val="1"/>
                <c:pt idx="0">
                  <c:v>Urgente o con plazo</c:v>
                </c:pt>
              </c:strCache>
            </c:strRef>
          </c:tx>
          <c:spPr>
            <a:solidFill>
              <a:srgbClr val="A24A07"/>
            </a:solidFill>
          </c:spPr>
          <c:cat>
            <c:strRef>
              <c:f>Sheet1!$A$2:$A$4</c:f>
              <c:strCache>
                <c:ptCount val="3"/>
                <c:pt idx="0">
                  <c:v>Formulario ES</c:v>
                </c:pt>
                <c:pt idx="1">
                  <c:v>Formulario FR</c:v>
                </c:pt>
                <c:pt idx="2">
                  <c:v>Formulario EN</c:v>
                </c:pt>
              </c:strCache>
            </c:strRef>
          </c:cat>
          <c:val>
            <c:numRef>
              <c:f>Sheet1!$B$2:$B$4</c:f>
              <c:numCache>
                <c:formatCode>General</c:formatCode>
                <c:ptCount val="3"/>
                <c:pt idx="0">
                  <c:v>19.6</c:v>
                </c:pt>
                <c:pt idx="1">
                  <c:v>11.1</c:v>
                </c:pt>
                <c:pt idx="2">
                  <c:v>30.3</c:v>
                </c:pt>
              </c:numCache>
            </c:numRef>
          </c:val>
        </c:ser>
        <c:ser>
          <c:idx val="1"/>
          <c:order val="1"/>
          <c:tx>
            <c:strRef>
              <c:f>Sheet1!$C$1</c:f>
              <c:strCache>
                <c:ptCount val="1"/>
                <c:pt idx="0">
                  <c:v>Pide presupuesto</c:v>
                </c:pt>
              </c:strCache>
            </c:strRef>
          </c:tx>
          <c:spPr>
            <a:solidFill>
              <a:srgbClr val="1F63B5"/>
            </a:solidFill>
          </c:spPr>
          <c:cat>
            <c:strRef>
              <c:f>Sheet1!$A$2:$A$4</c:f>
              <c:strCache>
                <c:ptCount val="3"/>
                <c:pt idx="0">
                  <c:v>Formulario ES</c:v>
                </c:pt>
                <c:pt idx="1">
                  <c:v>Formulario FR</c:v>
                </c:pt>
                <c:pt idx="2">
                  <c:v>Formulario EN</c:v>
                </c:pt>
              </c:strCache>
            </c:strRef>
          </c:cat>
          <c:val>
            <c:numRef>
              <c:f>Sheet1!$C$2:$C$4</c:f>
              <c:numCache>
                <c:formatCode>General</c:formatCode>
                <c:ptCount val="3"/>
                <c:pt idx="0">
                  <c:v>20.4</c:v>
                </c:pt>
                <c:pt idx="1">
                  <c:v>18.1</c:v>
                </c:pt>
                <c:pt idx="2">
                  <c:v>15.2</c:v>
                </c:pt>
              </c:numCache>
            </c:numRef>
          </c:val>
        </c:ser>
        <c:ser>
          <c:idx val="2"/>
          <c:order val="2"/>
          <c:tx>
            <c:strRef>
              <c:f>Sheet1!$D$1</c:f>
              <c:strCache>
                <c:ptCount val="1"/>
                <c:pt idx="0">
                  <c:v>Pide cita o llamada</c:v>
                </c:pt>
              </c:strCache>
            </c:strRef>
          </c:tx>
          <c:spPr>
            <a:solidFill>
              <a:srgbClr val="0F8A67"/>
            </a:solidFill>
          </c:spPr>
          <c:cat>
            <c:strRef>
              <c:f>Sheet1!$A$2:$A$4</c:f>
              <c:strCache>
                <c:ptCount val="3"/>
                <c:pt idx="0">
                  <c:v>Formulario ES</c:v>
                </c:pt>
                <c:pt idx="1">
                  <c:v>Formulario FR</c:v>
                </c:pt>
                <c:pt idx="2">
                  <c:v>Formulario EN</c:v>
                </c:pt>
              </c:strCache>
            </c:strRef>
          </c:cat>
          <c:val>
            <c:numRef>
              <c:f>Sheet1!$D$2:$D$4</c:f>
              <c:numCache>
                <c:formatCode>General</c:formatCode>
                <c:ptCount val="3"/>
                <c:pt idx="0">
                  <c:v>15.8</c:v>
                </c:pt>
                <c:pt idx="1">
                  <c:v>10.9</c:v>
                </c:pt>
                <c:pt idx="2">
                  <c:v>24.2</c:v>
                </c:pt>
              </c:numCache>
            </c:numRef>
          </c:val>
        </c:ser>
        <c:ser>
          <c:idx val="3"/>
          <c:order val="3"/>
          <c:tx>
            <c:strRef>
              <c:f>Sheet1!$E$1</c:f>
              <c:strCache>
                <c:ptCount val="1"/>
                <c:pt idx="0">
                  <c:v>Pregunta o pide información</c:v>
                </c:pt>
              </c:strCache>
            </c:strRef>
          </c:tx>
          <c:spPr>
            <a:solidFill>
              <a:srgbClr val="8AA5B8"/>
            </a:solidFill>
          </c:spPr>
          <c:cat>
            <c:strRef>
              <c:f>Sheet1!$A$2:$A$4</c:f>
              <c:strCache>
                <c:ptCount val="3"/>
                <c:pt idx="0">
                  <c:v>Formulario ES</c:v>
                </c:pt>
                <c:pt idx="1">
                  <c:v>Formulario FR</c:v>
                </c:pt>
                <c:pt idx="2">
                  <c:v>Formulario EN</c:v>
                </c:pt>
              </c:strCache>
            </c:strRef>
          </c:cat>
          <c:val>
            <c:numRef>
              <c:f>Sheet1!$E$2:$E$4</c:f>
              <c:numCache>
                <c:formatCode>General</c:formatCode>
                <c:ptCount val="3"/>
                <c:pt idx="0">
                  <c:v>13.3</c:v>
                </c:pt>
                <c:pt idx="1">
                  <c:v>24.8</c:v>
                </c:pt>
                <c:pt idx="2">
                  <c:v>18.2</c:v>
                </c:pt>
              </c:numCache>
            </c:numRef>
          </c:val>
        </c:ser>
        <c:ser>
          <c:idx val="4"/>
          <c:order val="4"/>
          <c:tx>
            <c:strRef>
              <c:f>Sheet1!$F$1</c:f>
              <c:strCache>
                <c:ptCount val="1"/>
                <c:pt idx="0">
                  <c:v>Caso detallado</c:v>
                </c:pt>
              </c:strCache>
            </c:strRef>
          </c:tx>
          <c:spPr>
            <a:solidFill>
              <a:srgbClr val="9A4A8C"/>
            </a:solidFill>
          </c:spPr>
          <c:cat>
            <c:strRef>
              <c:f>Sheet1!$A$2:$A$4</c:f>
              <c:strCache>
                <c:ptCount val="3"/>
                <c:pt idx="0">
                  <c:v>Formulario ES</c:v>
                </c:pt>
                <c:pt idx="1">
                  <c:v>Formulario FR</c:v>
                </c:pt>
                <c:pt idx="2">
                  <c:v>Formulario EN</c:v>
                </c:pt>
              </c:strCache>
            </c:strRef>
          </c:cat>
          <c:val>
            <c:numRef>
              <c:f>Sheet1!$F$2:$F$4</c:f>
              <c:numCache>
                <c:formatCode>General</c:formatCode>
                <c:ptCount val="3"/>
                <c:pt idx="0">
                  <c:v>4.2</c:v>
                </c:pt>
                <c:pt idx="1">
                  <c:v>5.2</c:v>
                </c:pt>
                <c:pt idx="2">
                  <c:v>0.0</c:v>
                </c:pt>
              </c:numCache>
            </c:numRef>
          </c:val>
        </c:ser>
        <c:ser>
          <c:idx val="5"/>
          <c:order val="5"/>
          <c:tx>
            <c:strRef>
              <c:f>Sheet1!$G$1</c:f>
              <c:strCache>
                <c:ptCount val="1"/>
                <c:pt idx="0">
                  <c:v>Otros</c:v>
                </c:pt>
              </c:strCache>
            </c:strRef>
          </c:tx>
          <c:spPr>
            <a:solidFill>
              <a:srgbClr val="CBD9E3"/>
            </a:solidFill>
          </c:spPr>
          <c:cat>
            <c:strRef>
              <c:f>Sheet1!$A$2:$A$4</c:f>
              <c:strCache>
                <c:ptCount val="3"/>
                <c:pt idx="0">
                  <c:v>Formulario ES</c:v>
                </c:pt>
                <c:pt idx="1">
                  <c:v>Formulario FR</c:v>
                </c:pt>
                <c:pt idx="2">
                  <c:v>Formulario EN</c:v>
                </c:pt>
              </c:strCache>
            </c:strRef>
          </c:cat>
          <c:val>
            <c:numRef>
              <c:f>Sheet1!$G$2:$G$4</c:f>
              <c:numCache>
                <c:formatCode>General</c:formatCode>
                <c:ptCount val="3"/>
                <c:pt idx="0">
                  <c:v>26.7</c:v>
                </c:pt>
                <c:pt idx="1">
                  <c:v>29.8</c:v>
                </c:pt>
                <c:pt idx="2">
                  <c:v>12.1</c:v>
                </c:pt>
              </c:numCache>
            </c:numRef>
          </c:val>
        </c:ser>
        <c:gapWidth val="40"/>
        <c:overlap val="100"/>
        <c:axId val="-2068027336"/>
        <c:axId val="-2113994440"/>
      </c:barChart>
      <c:catAx>
        <c:axId val="-2068027336"/>
        <c:scaling>
          <c:orientation val="maxMin"/>
        </c:scaling>
        <c:delete val="0"/>
        <c:axPos val="l"/>
        <c:majorTickMark val="out"/>
        <c:minorTickMark val="none"/>
        <c:tickLblPos val="nextTo"/>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b"/>
      <c:overlay val="0"/>
      <c:txPr>
        <a:bodyPr/>
        <a:lstStyle/>
        <a:p>
          <a:pPr>
            <a:defRPr sz="1000"/>
          </a:pPr>
        </a:p>
      </c:txPr>
    </c:legend>
    <c:dispBlanksAs val="gap"/>
  </c:chart>
  <c:txPr>
    <a:bodyPr/>
    <a:lstStyle/>
    <a:p>
      <a:pPr>
        <a:defRPr sz="1000">
          <a:solidFill>
            <a:srgbClr val="14202E"/>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C9531A"/>
                </a:solidFill>
              </a:rPr>
              <a:t>Formulario ES</a:t>
            </a:r>
          </a:p>
        </c:rich>
      </c:tx>
      <c:layout/>
      <c:overlay val="0"/>
    </c:title>
    <c:autoTitleDeleted val="0"/>
    <c:plotArea>
      <c:barChart>
        <c:barDir val="bar"/>
        <c:grouping val="clustered"/>
        <c:ser>
          <c:idx val="0"/>
          <c:order val="0"/>
          <c:tx>
            <c:strRef>
              <c:f>Sheet1!$B$1</c:f>
              <c:strCache>
                <c:ptCount val="1"/>
                <c:pt idx="0">
                  <c:v>n</c:v>
                </c:pt>
              </c:strCache>
            </c:strRef>
          </c:tx>
          <c:spPr>
            <a:solidFill>
              <a:srgbClr val="C9531A"/>
            </a:solidFill>
          </c:spPr>
          <c:cat>
            <c:strRef>
              <c:f>Sheet1!$A$2:$A$8</c:f>
              <c:strCache>
                <c:ptCount val="7"/>
                <c:pt idx="0">
                  <c:v>España</c:v>
                </c:pt>
                <c:pt idx="1">
                  <c:v>Francia</c:v>
                </c:pt>
                <c:pt idx="2">
                  <c:v>EE. UU. / Canadá (+1)</c:v>
                </c:pt>
                <c:pt idx="3">
                  <c:v>Bélgica</c:v>
                </c:pt>
                <c:pt idx="4">
                  <c:v>Estados Unidos</c:v>
                </c:pt>
                <c:pt idx="5">
                  <c:v>Canadá</c:v>
                </c:pt>
                <c:pt idx="6">
                  <c:v>Marruecos</c:v>
                </c:pt>
              </c:strCache>
            </c:strRef>
          </c:cat>
          <c:val>
            <c:numRef>
              <c:f>Sheet1!$B$2:$B$8</c:f>
              <c:numCache>
                <c:formatCode>General</c:formatCode>
                <c:ptCount val="7"/>
                <c:pt idx="0">
                  <c:v>154</c:v>
                </c:pt>
                <c:pt idx="1">
                  <c:v>15</c:v>
                </c:pt>
                <c:pt idx="2">
                  <c:v>5</c:v>
                </c:pt>
                <c:pt idx="3">
                  <c:v>3</c:v>
                </c:pt>
                <c:pt idx="4">
                  <c:v>3</c:v>
                </c:pt>
                <c:pt idx="5">
                  <c:v>2</c:v>
                </c:pt>
                <c:pt idx="6">
                  <c:v>2</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900"/>
            </a:pPr>
          </a:p>
        </c:txPr>
        <c:crossAx val="-2113994440"/>
        <c:crosses val="autoZero"/>
        <c:auto val="1"/>
        <c:lblAlgn val="ctr"/>
        <c:lblOffset val="100"/>
        <c:noMultiLvlLbl val="0"/>
      </c:catAx>
      <c:valAx>
        <c:axId val="-2113994440"/>
        <c:scaling>
          <c:max val="192.5"/>
        </c:scaling>
        <c:delete/>
        <c:axPos val="b"/>
        <c:majorTickMark val="out"/>
        <c:minorTickMark val="none"/>
        <c:tickLblPos val="nextTo"/>
        <c:crossAx val="-2068027336"/>
        <c:crosses val="autoZero"/>
      </c:valAx>
    </c:plotArea>
    <c:dispBlanksAs val="gap"/>
  </c:chart>
  <c:txPr>
    <a:bodyPr/>
    <a:lstStyle/>
    <a:p>
      <a:pPr>
        <a:defRPr sz="900">
          <a:solidFill>
            <a:srgbClr val="14202E"/>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1F63B5"/>
                </a:solidFill>
              </a:rPr>
              <a:t>Formulario FR</a:t>
            </a:r>
          </a:p>
        </c:rich>
      </c:tx>
      <c:layout/>
      <c:overlay val="0"/>
    </c:title>
    <c:autoTitleDeleted val="0"/>
    <c:plotArea>
      <c:barChart>
        <c:barDir val="bar"/>
        <c:grouping val="clustered"/>
        <c:ser>
          <c:idx val="0"/>
          <c:order val="0"/>
          <c:tx>
            <c:strRef>
              <c:f>Sheet1!$B$1</c:f>
              <c:strCache>
                <c:ptCount val="1"/>
                <c:pt idx="0">
                  <c:v>n</c:v>
                </c:pt>
              </c:strCache>
            </c:strRef>
          </c:tx>
          <c:spPr>
            <a:solidFill>
              <a:srgbClr val="1F63B5"/>
            </a:solidFill>
          </c:spPr>
          <c:cat>
            <c:strRef>
              <c:f>Sheet1!$A$2:$A$8</c:f>
              <c:strCache>
                <c:ptCount val="7"/>
                <c:pt idx="0">
                  <c:v>Francia</c:v>
                </c:pt>
                <c:pt idx="1">
                  <c:v>España</c:v>
                </c:pt>
                <c:pt idx="2">
                  <c:v>Bélgica</c:v>
                </c:pt>
                <c:pt idx="3">
                  <c:v>Argelia</c:v>
                </c:pt>
                <c:pt idx="4">
                  <c:v>Marruecos</c:v>
                </c:pt>
                <c:pt idx="5">
                  <c:v>Suiza</c:v>
                </c:pt>
                <c:pt idx="6">
                  <c:v>EE. UU. / Canadá (+1)</c:v>
                </c:pt>
              </c:strCache>
            </c:strRef>
          </c:cat>
          <c:val>
            <c:numRef>
              <c:f>Sheet1!$B$2:$B$8</c:f>
              <c:numCache>
                <c:formatCode>General</c:formatCode>
                <c:ptCount val="7"/>
                <c:pt idx="0">
                  <c:v>227</c:v>
                </c:pt>
                <c:pt idx="1">
                  <c:v>79</c:v>
                </c:pt>
                <c:pt idx="2">
                  <c:v>21</c:v>
                </c:pt>
                <c:pt idx="3">
                  <c:v>15</c:v>
                </c:pt>
                <c:pt idx="4">
                  <c:v>10</c:v>
                </c:pt>
                <c:pt idx="5">
                  <c:v>9</c:v>
                </c:pt>
                <c:pt idx="6">
                  <c:v>4</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900"/>
            </a:pPr>
          </a:p>
        </c:txPr>
        <c:crossAx val="-2113994440"/>
        <c:crosses val="autoZero"/>
        <c:auto val="1"/>
        <c:lblAlgn val="ctr"/>
        <c:lblOffset val="100"/>
        <c:noMultiLvlLbl val="0"/>
      </c:catAx>
      <c:valAx>
        <c:axId val="-2113994440"/>
        <c:scaling>
          <c:max val="283.75"/>
        </c:scaling>
        <c:delete/>
        <c:axPos val="b"/>
        <c:majorTickMark val="out"/>
        <c:minorTickMark val="none"/>
        <c:tickLblPos val="nextTo"/>
        <c:crossAx val="-2068027336"/>
        <c:crosses val="autoZero"/>
      </c:valAx>
    </c:plotArea>
    <c:dispBlanksAs val="gap"/>
  </c:chart>
  <c:txPr>
    <a:bodyPr/>
    <a:lstStyle/>
    <a:p>
      <a:pPr>
        <a:defRPr sz="900">
          <a:solidFill>
            <a:srgbClr val="14202E"/>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F8A67"/>
                </a:solidFill>
              </a:rPr>
              <a:t>Formulario EN</a:t>
            </a:r>
          </a:p>
        </c:rich>
      </c:tx>
      <c:layout/>
      <c:overlay val="0"/>
    </c:title>
    <c:autoTitleDeleted val="0"/>
    <c:plotArea>
      <c:barChart>
        <c:barDir val="bar"/>
        <c:grouping val="clustered"/>
        <c:ser>
          <c:idx val="0"/>
          <c:order val="0"/>
          <c:tx>
            <c:strRef>
              <c:f>Sheet1!$B$1</c:f>
              <c:strCache>
                <c:ptCount val="1"/>
                <c:pt idx="0">
                  <c:v>n</c:v>
                </c:pt>
              </c:strCache>
            </c:strRef>
          </c:tx>
          <c:spPr>
            <a:solidFill>
              <a:srgbClr val="0F8A67"/>
            </a:solidFill>
          </c:spPr>
          <c:cat>
            <c:strRef>
              <c:f>Sheet1!$A$2:$A$8</c:f>
              <c:strCache>
                <c:ptCount val="7"/>
                <c:pt idx="0">
                  <c:v>España</c:v>
                </c:pt>
                <c:pt idx="1">
                  <c:v>EE. UU. / Canadá (+1)</c:v>
                </c:pt>
                <c:pt idx="2">
                  <c:v>Reino Unido</c:v>
                </c:pt>
                <c:pt idx="3">
                  <c:v>Países Bajos</c:v>
                </c:pt>
                <c:pt idx="4">
                  <c:v>Alemania</c:v>
                </c:pt>
                <c:pt idx="5">
                  <c:v>Estados Unidos</c:v>
                </c:pt>
                <c:pt idx="6">
                  <c:v>Bélgica</c:v>
                </c:pt>
              </c:strCache>
            </c:strRef>
          </c:cat>
          <c:val>
            <c:numRef>
              <c:f>Sheet1!$B$2:$B$8</c:f>
              <c:numCache>
                <c:formatCode>General</c:formatCode>
                <c:ptCount val="7"/>
                <c:pt idx="0">
                  <c:v>172</c:v>
                </c:pt>
                <c:pt idx="1">
                  <c:v>34</c:v>
                </c:pt>
                <c:pt idx="2">
                  <c:v>22</c:v>
                </c:pt>
                <c:pt idx="3">
                  <c:v>10</c:v>
                </c:pt>
                <c:pt idx="4">
                  <c:v>8</c:v>
                </c:pt>
                <c:pt idx="5">
                  <c:v>5</c:v>
                </c:pt>
                <c:pt idx="6">
                  <c:v>3</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900"/>
            </a:pPr>
          </a:p>
        </c:txPr>
        <c:crossAx val="-2113994440"/>
        <c:crosses val="autoZero"/>
        <c:auto val="1"/>
        <c:lblAlgn val="ctr"/>
        <c:lblOffset val="100"/>
        <c:noMultiLvlLbl val="0"/>
      </c:catAx>
      <c:valAx>
        <c:axId val="-2113994440"/>
        <c:scaling>
          <c:max val="215.0"/>
        </c:scaling>
        <c:delete/>
        <c:axPos val="b"/>
        <c:majorTickMark val="out"/>
        <c:minorTickMark val="none"/>
        <c:tickLblPos val="nextTo"/>
        <c:crossAx val="-2068027336"/>
        <c:crosses val="autoZero"/>
      </c:valAx>
    </c:plotArea>
    <c:dispBlanksAs val="gap"/>
  </c:chart>
  <c:txPr>
    <a:bodyPr/>
    <a:lstStyle/>
    <a:p>
      <a:pPr>
        <a:defRPr sz="900">
          <a:solidFill>
            <a:srgbClr val="14202E"/>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1F63B5"/>
                </a:solidFill>
              </a:rPr>
              <a:t>Formulario FR</a:t>
            </a:r>
          </a:p>
        </c:rich>
      </c:tx>
      <c:layout/>
      <c:overlay val="0"/>
    </c:title>
    <c:autoTitleDeleted val="0"/>
    <c:plotArea>
      <c:barChart>
        <c:barDir val="bar"/>
        <c:grouping val="clustered"/>
        <c:ser>
          <c:idx val="0"/>
          <c:order val="0"/>
          <c:tx>
            <c:strRef>
              <c:f>Sheet1!$B$1</c:f>
              <c:strCache>
                <c:ptCount val="1"/>
                <c:pt idx="0">
                  <c:v>n</c:v>
                </c:pt>
              </c:strCache>
            </c:strRef>
          </c:tx>
          <c:spPr>
            <a:solidFill>
              <a:srgbClr val="1F63B5"/>
            </a:solidFill>
          </c:spPr>
          <c:cat>
            <c:strRef>
              <c:f>Sheet1!$A$2:$A$9</c:f>
              <c:strCache>
                <c:ptCount val="8"/>
                <c:pt idx="0">
                  <c:v>Francia</c:v>
                </c:pt>
                <c:pt idx="1">
                  <c:v>España</c:v>
                </c:pt>
                <c:pt idx="2">
                  <c:v>Argelia</c:v>
                </c:pt>
                <c:pt idx="3">
                  <c:v>Bélgica</c:v>
                </c:pt>
                <c:pt idx="4">
                  <c:v>Marruecos</c:v>
                </c:pt>
                <c:pt idx="5">
                  <c:v>Suiza</c:v>
                </c:pt>
                <c:pt idx="6">
                  <c:v>Reino Unido</c:v>
                </c:pt>
                <c:pt idx="7">
                  <c:v>Túnez</c:v>
                </c:pt>
              </c:strCache>
            </c:strRef>
          </c:cat>
          <c:val>
            <c:numRef>
              <c:f>Sheet1!$B$2:$B$9</c:f>
              <c:numCache>
                <c:formatCode>General</c:formatCode>
                <c:ptCount val="8"/>
                <c:pt idx="0">
                  <c:v>70</c:v>
                </c:pt>
                <c:pt idx="1">
                  <c:v>25</c:v>
                </c:pt>
                <c:pt idx="2">
                  <c:v>10</c:v>
                </c:pt>
                <c:pt idx="3">
                  <c:v>9</c:v>
                </c:pt>
                <c:pt idx="4">
                  <c:v>7</c:v>
                </c:pt>
                <c:pt idx="5">
                  <c:v>3</c:v>
                </c:pt>
                <c:pt idx="6">
                  <c:v>3</c:v>
                </c:pt>
                <c:pt idx="7">
                  <c:v>2</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900"/>
            </a:pPr>
          </a:p>
        </c:txPr>
        <c:crossAx val="-2113994440"/>
        <c:crosses val="autoZero"/>
        <c:auto val="1"/>
        <c:lblAlgn val="ctr"/>
        <c:lblOffset val="100"/>
        <c:noMultiLvlLbl val="0"/>
      </c:catAx>
      <c:valAx>
        <c:axId val="-2113994440"/>
        <c:scaling>
          <c:max val="87.5"/>
        </c:scaling>
        <c:delete/>
        <c:axPos val="b"/>
        <c:majorTickMark val="out"/>
        <c:minorTickMark val="none"/>
        <c:tickLblPos val="nextTo"/>
        <c:crossAx val="-2068027336"/>
        <c:crosses val="autoZero"/>
      </c:valAx>
    </c:plotArea>
    <c:dispBlanksAs val="gap"/>
  </c:chart>
  <c:txPr>
    <a:bodyPr/>
    <a:lstStyle/>
    <a:p>
      <a:pPr>
        <a:defRPr sz="900">
          <a:solidFill>
            <a:srgbClr val="14202E"/>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C9531A"/>
                </a:solidFill>
              </a:rPr>
              <a:t>Formulario ES</a:t>
            </a:r>
          </a:p>
        </c:rich>
      </c:tx>
      <c:layout/>
      <c:overlay val="0"/>
    </c:title>
    <c:autoTitleDeleted val="0"/>
    <c:plotArea>
      <c:barChart>
        <c:barDir val="bar"/>
        <c:grouping val="clustered"/>
        <c:ser>
          <c:idx val="0"/>
          <c:order val="0"/>
          <c:tx>
            <c:strRef>
              <c:f>Sheet1!$B$1</c:f>
              <c:strCache>
                <c:ptCount val="1"/>
                <c:pt idx="0">
                  <c:v>n</c:v>
                </c:pt>
              </c:strCache>
            </c:strRef>
          </c:tx>
          <c:spPr>
            <a:solidFill>
              <a:srgbClr val="C9531A"/>
            </a:solidFill>
          </c:spPr>
          <c:cat>
            <c:strRef>
              <c:f>Sheet1!$A$2:$A$9</c:f>
              <c:strCache>
                <c:ptCount val="8"/>
                <c:pt idx="0">
                  <c:v>Francia</c:v>
                </c:pt>
                <c:pt idx="1">
                  <c:v>España</c:v>
                </c:pt>
                <c:pt idx="2">
                  <c:v>China</c:v>
                </c:pt>
                <c:pt idx="3">
                  <c:v>Rusia</c:v>
                </c:pt>
                <c:pt idx="4">
                  <c:v>México</c:v>
                </c:pt>
                <c:pt idx="5">
                  <c:v>Italia</c:v>
                </c:pt>
                <c:pt idx="6">
                  <c:v>Venezuela</c:v>
                </c:pt>
                <c:pt idx="7">
                  <c:v>Alemania</c:v>
                </c:pt>
              </c:strCache>
            </c:strRef>
          </c:cat>
          <c:val>
            <c:numRef>
              <c:f>Sheet1!$B$2:$B$9</c:f>
              <c:numCache>
                <c:formatCode>General</c:formatCode>
                <c:ptCount val="8"/>
                <c:pt idx="0">
                  <c:v>15</c:v>
                </c:pt>
                <c:pt idx="1">
                  <c:v>15</c:v>
                </c:pt>
                <c:pt idx="2">
                  <c:v>3</c:v>
                </c:pt>
                <c:pt idx="3">
                  <c:v>3</c:v>
                </c:pt>
                <c:pt idx="4">
                  <c:v>2</c:v>
                </c:pt>
                <c:pt idx="5">
                  <c:v>2</c:v>
                </c:pt>
                <c:pt idx="6">
                  <c:v>2</c:v>
                </c:pt>
                <c:pt idx="7">
                  <c:v>2</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900"/>
            </a:pPr>
          </a:p>
        </c:txPr>
        <c:crossAx val="-2113994440"/>
        <c:crosses val="autoZero"/>
        <c:auto val="1"/>
        <c:lblAlgn val="ctr"/>
        <c:lblOffset val="100"/>
        <c:noMultiLvlLbl val="0"/>
      </c:catAx>
      <c:valAx>
        <c:axId val="-2113994440"/>
        <c:scaling>
          <c:max val="18.75"/>
        </c:scaling>
        <c:delete/>
        <c:axPos val="b"/>
        <c:majorTickMark val="out"/>
        <c:minorTickMark val="none"/>
        <c:tickLblPos val="nextTo"/>
        <c:crossAx val="-2068027336"/>
        <c:crosses val="autoZero"/>
      </c:valAx>
    </c:plotArea>
    <c:dispBlanksAs val="gap"/>
  </c:chart>
  <c:txPr>
    <a:bodyPr/>
    <a:lstStyle/>
    <a:p>
      <a:pPr>
        <a:defRPr sz="900">
          <a:solidFill>
            <a:srgbClr val="14202E"/>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F8A67"/>
                </a:solidFill>
              </a:rPr>
              <a:t>Formulario EN</a:t>
            </a:r>
          </a:p>
        </c:rich>
      </c:tx>
      <c:layout/>
      <c:overlay val="0"/>
    </c:title>
    <c:autoTitleDeleted val="0"/>
    <c:plotArea>
      <c:barChart>
        <c:barDir val="bar"/>
        <c:grouping val="clustered"/>
        <c:ser>
          <c:idx val="0"/>
          <c:order val="0"/>
          <c:tx>
            <c:strRef>
              <c:f>Sheet1!$B$1</c:f>
              <c:strCache>
                <c:ptCount val="1"/>
                <c:pt idx="0">
                  <c:v>n</c:v>
                </c:pt>
              </c:strCache>
            </c:strRef>
          </c:tx>
          <c:spPr>
            <a:solidFill>
              <a:srgbClr val="0F8A67"/>
            </a:solidFill>
          </c:spPr>
          <c:cat>
            <c:strRef>
              <c:f>Sheet1!$A$2:$A$9</c:f>
              <c:strCache>
                <c:ptCount val="8"/>
                <c:pt idx="0">
                  <c:v>Estados Unidos</c:v>
                </c:pt>
                <c:pt idx="1">
                  <c:v>Reino Unido</c:v>
                </c:pt>
                <c:pt idx="2">
                  <c:v>Serbia</c:v>
                </c:pt>
                <c:pt idx="3">
                  <c:v>Canadá</c:v>
                </c:pt>
                <c:pt idx="4">
                  <c:v>Nueva Zelanda</c:v>
                </c:pt>
                <c:pt idx="5">
                  <c:v>Venezuela</c:v>
                </c:pt>
                <c:pt idx="6">
                  <c:v>Perú</c:v>
                </c:pt>
                <c:pt idx="7">
                  <c:v>Países Bajos</c:v>
                </c:pt>
              </c:strCache>
            </c:strRef>
          </c:cat>
          <c:val>
            <c:numRef>
              <c:f>Sheet1!$B$2:$B$9</c:f>
              <c:numCache>
                <c:formatCode>General</c:formatCode>
                <c:ptCount val="8"/>
                <c:pt idx="0">
                  <c:v>4</c:v>
                </c:pt>
                <c:pt idx="1">
                  <c:v>2</c:v>
                </c:pt>
                <c:pt idx="2">
                  <c:v>1</c:v>
                </c:pt>
                <c:pt idx="3">
                  <c:v>1</c:v>
                </c:pt>
                <c:pt idx="4">
                  <c:v>1</c:v>
                </c:pt>
                <c:pt idx="5">
                  <c:v>1</c:v>
                </c:pt>
                <c:pt idx="6">
                  <c:v>1</c:v>
                </c:pt>
                <c:pt idx="7">
                  <c:v>1</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900"/>
            </a:pPr>
          </a:p>
        </c:txPr>
        <c:crossAx val="-2113994440"/>
        <c:crosses val="autoZero"/>
        <c:auto val="1"/>
        <c:lblAlgn val="ctr"/>
        <c:lblOffset val="100"/>
        <c:noMultiLvlLbl val="0"/>
      </c:catAx>
      <c:valAx>
        <c:axId val="-2113994440"/>
        <c:scaling>
          <c:max val="5.0"/>
        </c:scaling>
        <c:delete/>
        <c:axPos val="b"/>
        <c:majorTickMark val="out"/>
        <c:minorTickMark val="none"/>
        <c:tickLblPos val="nextTo"/>
        <c:crossAx val="-2068027336"/>
        <c:crosses val="autoZero"/>
      </c:valAx>
    </c:plotArea>
    <c:dispBlanksAs val="gap"/>
  </c:chart>
  <c:txPr>
    <a:bodyPr/>
    <a:lstStyle/>
    <a:p>
      <a:pPr>
        <a:defRPr sz="900">
          <a:solidFill>
            <a:srgbClr val="14202E"/>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c:v>
                </c:pt>
              </c:strCache>
            </c:strRef>
          </c:tx>
          <c:spPr>
            <a:solidFill>
              <a:srgbClr val="C9531A"/>
            </a:solidFill>
          </c:spPr>
          <c:cat>
            <c:strRef>
              <c:f>Sheet1!$A$2:$A$7</c:f>
              <c:strCache>
                <c:ptCount val="6"/>
                <c:pt idx="0">
                  <c:v>Escritura, notaría y registro de la propiedad</c:v>
                </c:pt>
                <c:pt idx="1">
                  <c:v>Convenio de doble imposición / residencia fiscal</c:v>
                </c:pt>
                <c:pt idx="2">
                  <c:v>Herencia, testamento y declaración de herederos</c:v>
                </c:pt>
                <c:pt idx="3">
                  <c:v>Visado consular</c:v>
                </c:pt>
                <c:pt idx="4">
                  <c:v>Compra de vivienda / inmueble</c:v>
                </c:pt>
                <c:pt idx="5">
                  <c:v>IVA, contabilidad, gestoría e impuesto de sociedades</c:v>
                </c:pt>
              </c:strCache>
            </c:strRef>
          </c:cat>
          <c:val>
            <c:numRef>
              <c:f>Sheet1!$B$2:$B$7</c:f>
              <c:numCache>
                <c:formatCode>General</c:formatCode>
                <c:ptCount val="6"/>
                <c:pt idx="0">
                  <c:v>11.5</c:v>
                </c:pt>
                <c:pt idx="1">
                  <c:v>10.2</c:v>
                </c:pt>
                <c:pt idx="2">
                  <c:v>9.8</c:v>
                </c:pt>
                <c:pt idx="3">
                  <c:v>8.6</c:v>
                </c:pt>
                <c:pt idx="4">
                  <c:v>8.6</c:v>
                </c:pt>
                <c:pt idx="5">
                  <c:v>8.2</c:v>
                </c:pt>
              </c:numCache>
            </c:numRef>
          </c:val>
        </c:ser>
        <c:dLbls>
          <c:numFmt formatCode="0&quot;%&quot;" sourceLinked="0"/>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800"/>
            </a:pPr>
          </a:p>
        </c:txPr>
        <c:crossAx val="-2113994440"/>
        <c:crosses val="autoZero"/>
        <c:auto val="1"/>
        <c:lblAlgn val="ctr"/>
        <c:lblOffset val="100"/>
        <c:noMultiLvlLbl val="0"/>
      </c:catAx>
      <c:valAx>
        <c:axId val="-2113994440"/>
        <c:scaling>
          <c:max val="14.375"/>
        </c:scaling>
        <c:delete/>
        <c:axPos val="b"/>
        <c:majorTickMark val="out"/>
        <c:minorTickMark val="none"/>
        <c:tickLblPos val="nextTo"/>
        <c:crossAx val="-2068027336"/>
        <c:crosses val="autoZero"/>
      </c:valAx>
    </c:plotArea>
    <c:dispBlanksAs val="gap"/>
  </c:chart>
  <c:txPr>
    <a:bodyPr/>
    <a:lstStyle/>
    <a:p>
      <a:pPr>
        <a:defRPr sz="800">
          <a:solidFill>
            <a:srgbClr val="14202E"/>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c:v>
                </c:pt>
              </c:strCache>
            </c:strRef>
          </c:tx>
          <c:spPr>
            <a:solidFill>
              <a:srgbClr val="1F63B5"/>
            </a:solidFill>
          </c:spPr>
          <c:cat>
            <c:strRef>
              <c:f>Sheet1!$A$2:$A$7</c:f>
              <c:strCache>
                <c:ptCount val="6"/>
                <c:pt idx="0">
                  <c:v>Compra de vivienda / inmueble</c:v>
                </c:pt>
                <c:pt idx="1">
                  <c:v>NIE y TIE (tarjeta)</c:v>
                </c:pt>
                <c:pt idx="2">
                  <c:v>Crear una sociedad / abrir un negocio</c:v>
                </c:pt>
                <c:pt idx="3">
                  <c:v>Herencia, testamento y declaración de herederos</c:v>
                </c:pt>
                <c:pt idx="4">
                  <c:v>Convenio de doble imposición / residencia fiscal</c:v>
                </c:pt>
                <c:pt idx="5">
                  <c:v>Traslado e instalación en España</c:v>
                </c:pt>
              </c:strCache>
            </c:strRef>
          </c:cat>
          <c:val>
            <c:numRef>
              <c:f>Sheet1!$B$2:$B$7</c:f>
              <c:numCache>
                <c:formatCode>General</c:formatCode>
                <c:ptCount val="6"/>
                <c:pt idx="0">
                  <c:v>13.6</c:v>
                </c:pt>
                <c:pt idx="1">
                  <c:v>12.5</c:v>
                </c:pt>
                <c:pt idx="2">
                  <c:v>11.9</c:v>
                </c:pt>
                <c:pt idx="3">
                  <c:v>8.6</c:v>
                </c:pt>
                <c:pt idx="4">
                  <c:v>7.5</c:v>
                </c:pt>
                <c:pt idx="5">
                  <c:v>6.5</c:v>
                </c:pt>
              </c:numCache>
            </c:numRef>
          </c:val>
        </c:ser>
        <c:dLbls>
          <c:numFmt formatCode="0&quot;%&quot;" sourceLinked="0"/>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7DEE5"/>
            </a:solidFill>
          </a:ln>
        </c:spPr>
        <c:txPr>
          <a:bodyPr/>
          <a:lstStyle/>
          <a:p>
            <a:pPr>
              <a:defRPr sz="800"/>
            </a:pPr>
          </a:p>
        </c:txPr>
        <c:crossAx val="-2113994440"/>
        <c:crosses val="autoZero"/>
        <c:auto val="1"/>
        <c:lblAlgn val="ctr"/>
        <c:lblOffset val="100"/>
        <c:noMultiLvlLbl val="0"/>
      </c:catAx>
      <c:valAx>
        <c:axId val="-2113994440"/>
        <c:scaling>
          <c:max val="17.0"/>
        </c:scaling>
        <c:delete/>
        <c:axPos val="b"/>
        <c:majorTickMark val="out"/>
        <c:minorTickMark val="none"/>
        <c:tickLblPos val="nextTo"/>
        <c:crossAx val="-2068027336"/>
        <c:crosses val="autoZero"/>
      </c:valAx>
    </c:plotArea>
    <c:dispBlanksAs val="gap"/>
  </c:chart>
  <c:txPr>
    <a:bodyPr/>
    <a:lstStyle/>
    <a:p>
      <a:pPr>
        <a:defRPr sz="800">
          <a:solidFill>
            <a:srgbClr val="14202E"/>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chart" Target="../charts/char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chart" Target="../charts/char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5C7A"/>
        </a:solidFill>
        <a:effectLst/>
      </p:bgPr>
    </p:bg>
    <p:spTree>
      <p:nvGrpSpPr>
        <p:cNvPr id="1" name=""/>
        <p:cNvGrpSpPr/>
        <p:nvPr/>
      </p:nvGrpSpPr>
      <p:grpSpPr/>
      <p:sp>
        <p:nvSpPr>
          <p:cNvPr id="2" name="TextBox 1"/>
          <p:cNvSpPr txBox="1"/>
          <p:nvPr/>
        </p:nvSpPr>
        <p:spPr>
          <a:xfrm>
            <a:off x="731520" y="822960"/>
            <a:ext cx="10058400" cy="365760"/>
          </a:xfrm>
          <a:prstGeom prst="rect">
            <a:avLst/>
          </a:prstGeom>
          <a:noFill/>
        </p:spPr>
        <p:txBody>
          <a:bodyPr wrap="square" lIns="45720" rIns="45720" tIns="27432" bIns="27432">
            <a:spAutoFit/>
          </a:bodyPr>
          <a:lstStyle/>
          <a:p>
            <a:pPr>
              <a:spcAft>
                <a:spcPts val="400"/>
              </a:spcAft>
            </a:pPr>
            <a:r>
              <a:rPr sz="1200" b="1">
                <a:solidFill>
                  <a:srgbClr val="CFE6EF"/>
                </a:solidFill>
                <a:latin typeface="Calibri"/>
              </a:rPr>
              <a:t>DELAGUÍA Y LUZÓN · ANÁLISIS DE FORMULARIOS WEB</a:t>
            </a:r>
          </a:p>
        </p:txBody>
      </p:sp>
      <p:sp>
        <p:nvSpPr>
          <p:cNvPr id="3" name="TextBox 2"/>
          <p:cNvSpPr txBox="1"/>
          <p:nvPr/>
        </p:nvSpPr>
        <p:spPr>
          <a:xfrm>
            <a:off x="731520" y="1371600"/>
            <a:ext cx="10607040" cy="1554480"/>
          </a:xfrm>
          <a:prstGeom prst="rect">
            <a:avLst/>
          </a:prstGeom>
          <a:noFill/>
        </p:spPr>
        <p:txBody>
          <a:bodyPr wrap="square" lIns="45720" rIns="45720" tIns="27432" bIns="27432">
            <a:spAutoFit/>
          </a:bodyPr>
          <a:lstStyle/>
          <a:p>
            <a:pPr>
              <a:spcAft>
                <a:spcPts val="400"/>
              </a:spcAft>
            </a:pPr>
            <a:r>
              <a:rPr sz="4000" b="1">
                <a:solidFill>
                  <a:srgbClr val="FFFFFF"/>
                </a:solidFill>
                <a:latin typeface="Georgia"/>
              </a:rPr>
              <a:t>Qué nos piden por el formulario web</a:t>
            </a:r>
          </a:p>
        </p:txBody>
      </p:sp>
      <p:sp>
        <p:nvSpPr>
          <p:cNvPr id="4" name="TextBox 3"/>
          <p:cNvSpPr txBox="1"/>
          <p:nvPr/>
        </p:nvSpPr>
        <p:spPr>
          <a:xfrm>
            <a:off x="731520" y="3017520"/>
            <a:ext cx="10241280" cy="1371600"/>
          </a:xfrm>
          <a:prstGeom prst="rect">
            <a:avLst/>
          </a:prstGeom>
          <a:noFill/>
        </p:spPr>
        <p:txBody>
          <a:bodyPr wrap="square" lIns="45720" rIns="45720" tIns="27432" bIns="27432">
            <a:spAutoFit/>
          </a:bodyPr>
          <a:lstStyle/>
          <a:p>
            <a:pPr>
              <a:spcAft>
                <a:spcPts val="400"/>
              </a:spcAft>
            </a:pPr>
            <a:r>
              <a:rPr sz="1600" b="0">
                <a:solidFill>
                  <a:srgbClr val="EAF4F8"/>
                </a:solidFill>
                <a:latin typeface="Calibri"/>
              </a:rPr>
              <a:t>1169 solicitudes entre el 21 de octubre de 2024 y el 7 de octubre de 2026, en 9 formularios y 4 idiomas. El informe las clasifica por especialidad, país, nacionalidad y subtema, para diseñar un formulario de 4 pasos que haga las preguntas correctas y proponga artículos del blog cuando alguien solo busca información.</a:t>
            </a:r>
          </a:p>
        </p:txBody>
      </p:sp>
      <p:sp>
        <p:nvSpPr>
          <p:cNvPr id="5" name="Rounded Rectangle 4"/>
          <p:cNvSpPr/>
          <p:nvPr/>
        </p:nvSpPr>
        <p:spPr>
          <a:xfrm>
            <a:off x="731520" y="4846320"/>
            <a:ext cx="2057400" cy="1280160"/>
          </a:xfrm>
          <a:prstGeom prst="roundRect">
            <a:avLst>
              <a:gd name="adj" fmla="val 4000"/>
            </a:avLst>
          </a:prstGeom>
          <a:solidFill>
            <a:srgbClr val="0E4A63"/>
          </a:solidFill>
          <a:ln w="9525">
            <a:solidFill>
              <a:srgbClr val="2C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919472"/>
            <a:ext cx="1874519" cy="548640"/>
          </a:xfrm>
          <a:prstGeom prst="rect">
            <a:avLst/>
          </a:prstGeom>
          <a:noFill/>
        </p:spPr>
        <p:txBody>
          <a:bodyPr wrap="square" lIns="45720" rIns="45720" tIns="27432" bIns="27432">
            <a:spAutoFit/>
          </a:bodyPr>
          <a:lstStyle/>
          <a:p>
            <a:pPr>
              <a:spcAft>
                <a:spcPts val="400"/>
              </a:spcAft>
            </a:pPr>
            <a:r>
              <a:rPr sz="2600" b="1">
                <a:solidFill>
                  <a:srgbClr val="FFFFFF"/>
                </a:solidFill>
                <a:latin typeface="Georgia"/>
              </a:rPr>
              <a:t>1.169</a:t>
            </a:r>
          </a:p>
        </p:txBody>
      </p:sp>
      <p:sp>
        <p:nvSpPr>
          <p:cNvPr id="7" name="TextBox 6"/>
          <p:cNvSpPr txBox="1"/>
          <p:nvPr/>
        </p:nvSpPr>
        <p:spPr>
          <a:xfrm>
            <a:off x="822960" y="5486400"/>
            <a:ext cx="1874519" cy="594360"/>
          </a:xfrm>
          <a:prstGeom prst="rect">
            <a:avLst/>
          </a:prstGeom>
          <a:noFill/>
        </p:spPr>
        <p:txBody>
          <a:bodyPr wrap="square" lIns="45720" rIns="45720" tIns="27432" bIns="27432">
            <a:spAutoFit/>
          </a:bodyPr>
          <a:lstStyle/>
          <a:p>
            <a:pPr>
              <a:spcAft>
                <a:spcPts val="400"/>
              </a:spcAft>
            </a:pPr>
            <a:r>
              <a:rPr sz="1100" b="0">
                <a:solidFill>
                  <a:srgbClr val="CFE6EF"/>
                </a:solidFill>
                <a:latin typeface="Calibri"/>
              </a:rPr>
              <a:t>solicitudes recibidas</a:t>
            </a:r>
          </a:p>
        </p:txBody>
      </p:sp>
      <p:sp>
        <p:nvSpPr>
          <p:cNvPr id="8" name="Rounded Rectangle 7"/>
          <p:cNvSpPr/>
          <p:nvPr/>
        </p:nvSpPr>
        <p:spPr>
          <a:xfrm>
            <a:off x="2926080" y="4846320"/>
            <a:ext cx="2057400" cy="1280160"/>
          </a:xfrm>
          <a:prstGeom prst="roundRect">
            <a:avLst>
              <a:gd name="adj" fmla="val 4000"/>
            </a:avLst>
          </a:prstGeom>
          <a:solidFill>
            <a:srgbClr val="0E4A63"/>
          </a:solidFill>
          <a:ln w="9525">
            <a:solidFill>
              <a:srgbClr val="2C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4919472"/>
            <a:ext cx="1874519" cy="548640"/>
          </a:xfrm>
          <a:prstGeom prst="rect">
            <a:avLst/>
          </a:prstGeom>
          <a:noFill/>
        </p:spPr>
        <p:txBody>
          <a:bodyPr wrap="square" lIns="45720" rIns="45720" tIns="27432" bIns="27432">
            <a:spAutoFit/>
          </a:bodyPr>
          <a:lstStyle/>
          <a:p>
            <a:pPr>
              <a:spcAft>
                <a:spcPts val="400"/>
              </a:spcAft>
            </a:pPr>
            <a:r>
              <a:rPr sz="2600" b="1">
                <a:solidFill>
                  <a:srgbClr val="FFFFFF"/>
                </a:solidFill>
                <a:latin typeface="Georgia"/>
              </a:rPr>
              <a:t>741</a:t>
            </a:r>
          </a:p>
        </p:txBody>
      </p:sp>
      <p:sp>
        <p:nvSpPr>
          <p:cNvPr id="10" name="TextBox 9"/>
          <p:cNvSpPr txBox="1"/>
          <p:nvPr/>
        </p:nvSpPr>
        <p:spPr>
          <a:xfrm>
            <a:off x="3017520" y="5486400"/>
            <a:ext cx="1874519" cy="594360"/>
          </a:xfrm>
          <a:prstGeom prst="rect">
            <a:avLst/>
          </a:prstGeom>
          <a:noFill/>
        </p:spPr>
        <p:txBody>
          <a:bodyPr wrap="square" lIns="45720" rIns="45720" tIns="27432" bIns="27432">
            <a:spAutoFit/>
          </a:bodyPr>
          <a:lstStyle/>
          <a:p>
            <a:pPr>
              <a:spcAft>
                <a:spcPts val="400"/>
              </a:spcAft>
            </a:pPr>
            <a:r>
              <a:rPr sz="1100" b="0">
                <a:solidFill>
                  <a:srgbClr val="CFE6EF"/>
                </a:solidFill>
                <a:latin typeface="Calibri"/>
              </a:rPr>
              <a:t>con mensaje analizado</a:t>
            </a:r>
          </a:p>
        </p:txBody>
      </p:sp>
      <p:sp>
        <p:nvSpPr>
          <p:cNvPr id="11" name="Rounded Rectangle 10"/>
          <p:cNvSpPr/>
          <p:nvPr/>
        </p:nvSpPr>
        <p:spPr>
          <a:xfrm>
            <a:off x="5120640" y="4846320"/>
            <a:ext cx="2057400" cy="1280160"/>
          </a:xfrm>
          <a:prstGeom prst="roundRect">
            <a:avLst>
              <a:gd name="adj" fmla="val 4000"/>
            </a:avLst>
          </a:prstGeom>
          <a:solidFill>
            <a:srgbClr val="0E4A63"/>
          </a:solidFill>
          <a:ln w="9525">
            <a:solidFill>
              <a:srgbClr val="2C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79" y="4919472"/>
            <a:ext cx="1874519" cy="548640"/>
          </a:xfrm>
          <a:prstGeom prst="rect">
            <a:avLst/>
          </a:prstGeom>
          <a:noFill/>
        </p:spPr>
        <p:txBody>
          <a:bodyPr wrap="square" lIns="45720" rIns="45720" tIns="27432" bIns="27432">
            <a:spAutoFit/>
          </a:bodyPr>
          <a:lstStyle/>
          <a:p>
            <a:pPr>
              <a:spcAft>
                <a:spcPts val="400"/>
              </a:spcAft>
            </a:pPr>
            <a:r>
              <a:rPr sz="2600" b="1">
                <a:solidFill>
                  <a:srgbClr val="FFFFFF"/>
                </a:solidFill>
                <a:latin typeface="Georgia"/>
              </a:rPr>
              <a:t>36 %</a:t>
            </a:r>
          </a:p>
        </p:txBody>
      </p:sp>
      <p:sp>
        <p:nvSpPr>
          <p:cNvPr id="13" name="TextBox 12"/>
          <p:cNvSpPr txBox="1"/>
          <p:nvPr/>
        </p:nvSpPr>
        <p:spPr>
          <a:xfrm>
            <a:off x="5212079" y="5486400"/>
            <a:ext cx="1874519" cy="594360"/>
          </a:xfrm>
          <a:prstGeom prst="rect">
            <a:avLst/>
          </a:prstGeom>
          <a:noFill/>
        </p:spPr>
        <p:txBody>
          <a:bodyPr wrap="square" lIns="45720" rIns="45720" tIns="27432" bIns="27432">
            <a:spAutoFit/>
          </a:bodyPr>
          <a:lstStyle/>
          <a:p>
            <a:pPr>
              <a:spcAft>
                <a:spcPts val="400"/>
              </a:spcAft>
            </a:pPr>
            <a:r>
              <a:rPr sz="1100" b="0">
                <a:solidFill>
                  <a:srgbClr val="CFE6EF"/>
                </a:solidFill>
                <a:latin typeface="Calibri"/>
              </a:rPr>
              <a:t>tocan 2 o más subtemas</a:t>
            </a:r>
          </a:p>
        </p:txBody>
      </p:sp>
      <p:sp>
        <p:nvSpPr>
          <p:cNvPr id="14" name="Rounded Rectangle 13"/>
          <p:cNvSpPr/>
          <p:nvPr/>
        </p:nvSpPr>
        <p:spPr>
          <a:xfrm>
            <a:off x="7315199" y="4846320"/>
            <a:ext cx="2057400" cy="1280160"/>
          </a:xfrm>
          <a:prstGeom prst="roundRect">
            <a:avLst>
              <a:gd name="adj" fmla="val 4000"/>
            </a:avLst>
          </a:prstGeom>
          <a:solidFill>
            <a:srgbClr val="0E4A63"/>
          </a:solidFill>
          <a:ln w="9525">
            <a:solidFill>
              <a:srgbClr val="2C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4919472"/>
            <a:ext cx="1874519" cy="548640"/>
          </a:xfrm>
          <a:prstGeom prst="rect">
            <a:avLst/>
          </a:prstGeom>
          <a:noFill/>
        </p:spPr>
        <p:txBody>
          <a:bodyPr wrap="square" lIns="45720" rIns="45720" tIns="27432" bIns="27432">
            <a:spAutoFit/>
          </a:bodyPr>
          <a:lstStyle/>
          <a:p>
            <a:pPr>
              <a:spcAft>
                <a:spcPts val="400"/>
              </a:spcAft>
            </a:pPr>
            <a:r>
              <a:rPr sz="2600" b="1">
                <a:solidFill>
                  <a:srgbClr val="FFFFFF"/>
                </a:solidFill>
                <a:latin typeface="Georgia"/>
              </a:rPr>
              <a:t>34 %</a:t>
            </a:r>
          </a:p>
        </p:txBody>
      </p:sp>
      <p:sp>
        <p:nvSpPr>
          <p:cNvPr id="16" name="TextBox 15"/>
          <p:cNvSpPr txBox="1"/>
          <p:nvPr/>
        </p:nvSpPr>
        <p:spPr>
          <a:xfrm>
            <a:off x="7406640" y="5486400"/>
            <a:ext cx="1874519" cy="594360"/>
          </a:xfrm>
          <a:prstGeom prst="rect">
            <a:avLst/>
          </a:prstGeom>
          <a:noFill/>
        </p:spPr>
        <p:txBody>
          <a:bodyPr wrap="square" lIns="45720" rIns="45720" tIns="27432" bIns="27432">
            <a:spAutoFit/>
          </a:bodyPr>
          <a:lstStyle/>
          <a:p>
            <a:pPr>
              <a:spcAft>
                <a:spcPts val="400"/>
              </a:spcAft>
            </a:pPr>
            <a:r>
              <a:rPr sz="1100" b="0">
                <a:solidFill>
                  <a:srgbClr val="CFE6EF"/>
                </a:solidFill>
                <a:latin typeface="Calibri"/>
              </a:rPr>
              <a:t>solo piden información</a:t>
            </a:r>
          </a:p>
        </p:txBody>
      </p:sp>
      <p:sp>
        <p:nvSpPr>
          <p:cNvPr id="17" name="Rounded Rectangle 16"/>
          <p:cNvSpPr/>
          <p:nvPr/>
        </p:nvSpPr>
        <p:spPr>
          <a:xfrm>
            <a:off x="9509760" y="4846320"/>
            <a:ext cx="2057400" cy="1280160"/>
          </a:xfrm>
          <a:prstGeom prst="roundRect">
            <a:avLst>
              <a:gd name="adj" fmla="val 4000"/>
            </a:avLst>
          </a:prstGeom>
          <a:solidFill>
            <a:srgbClr val="0E4A63"/>
          </a:solidFill>
          <a:ln w="9525">
            <a:solidFill>
              <a:srgbClr val="2C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0" y="4919472"/>
            <a:ext cx="1874519" cy="548640"/>
          </a:xfrm>
          <a:prstGeom prst="rect">
            <a:avLst/>
          </a:prstGeom>
          <a:noFill/>
        </p:spPr>
        <p:txBody>
          <a:bodyPr wrap="square" lIns="45720" rIns="45720" tIns="27432" bIns="27432">
            <a:spAutoFit/>
          </a:bodyPr>
          <a:lstStyle/>
          <a:p>
            <a:pPr>
              <a:spcAft>
                <a:spcPts val="400"/>
              </a:spcAft>
            </a:pPr>
            <a:r>
              <a:rPr sz="2600" b="1">
                <a:solidFill>
                  <a:srgbClr val="FFFFFF"/>
                </a:solidFill>
                <a:latin typeface="Georgia"/>
              </a:rPr>
              <a:t>16 %</a:t>
            </a:r>
          </a:p>
        </p:txBody>
      </p:sp>
      <p:sp>
        <p:nvSpPr>
          <p:cNvPr id="19" name="TextBox 18"/>
          <p:cNvSpPr txBox="1"/>
          <p:nvPr/>
        </p:nvSpPr>
        <p:spPr>
          <a:xfrm>
            <a:off x="9601200" y="5486400"/>
            <a:ext cx="1874519" cy="594360"/>
          </a:xfrm>
          <a:prstGeom prst="rect">
            <a:avLst/>
          </a:prstGeom>
          <a:noFill/>
        </p:spPr>
        <p:txBody>
          <a:bodyPr wrap="square" lIns="45720" rIns="45720" tIns="27432" bIns="27432">
            <a:spAutoFit/>
          </a:bodyPr>
          <a:lstStyle/>
          <a:p>
            <a:pPr>
              <a:spcAft>
                <a:spcPts val="400"/>
              </a:spcAft>
            </a:pPr>
            <a:r>
              <a:rPr sz="1100" b="0">
                <a:solidFill>
                  <a:srgbClr val="CFE6EF"/>
                </a:solidFill>
                <a:latin typeface="Calibri"/>
              </a:rPr>
              <a:t>leyeron un artículo antes de escribir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Lo esencial (1/2)</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2</a:t>
            </a:r>
          </a:p>
        </p:txBody>
      </p:sp>
      <p:sp>
        <p:nvSpPr>
          <p:cNvPr id="7" name="Rounded Rectangle 6"/>
          <p:cNvSpPr/>
          <p:nvPr/>
        </p:nvSpPr>
        <p:spPr>
          <a:xfrm>
            <a:off x="548640" y="1554480"/>
            <a:ext cx="11064240" cy="109728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10698480" cy="365760"/>
          </a:xfrm>
          <a:prstGeom prst="rect">
            <a:avLst/>
          </a:prstGeom>
          <a:noFill/>
        </p:spPr>
        <p:txBody>
          <a:bodyPr wrap="square" lIns="45720" rIns="45720" tIns="27432" bIns="27432">
            <a:spAutoFit/>
          </a:bodyPr>
          <a:lstStyle/>
          <a:p>
            <a:pPr>
              <a:spcAft>
                <a:spcPts val="400"/>
              </a:spcAft>
            </a:pPr>
            <a:r>
              <a:rPr sz="1600" b="1">
                <a:solidFill>
                  <a:srgbClr val="0B5C7A"/>
                </a:solidFill>
                <a:latin typeface="Calibri"/>
              </a:rPr>
              <a:t>Un 36 % de las solicitudes mezcla temas</a:t>
            </a:r>
          </a:p>
        </p:txBody>
      </p:sp>
      <p:sp>
        <p:nvSpPr>
          <p:cNvPr id="9" name="TextBox 8"/>
          <p:cNvSpPr txBox="1"/>
          <p:nvPr/>
        </p:nvSpPr>
        <p:spPr>
          <a:xfrm>
            <a:off x="731520" y="1993391"/>
            <a:ext cx="10698480" cy="621792"/>
          </a:xfrm>
          <a:prstGeom prst="rect">
            <a:avLst/>
          </a:prstGeom>
          <a:noFill/>
        </p:spPr>
        <p:txBody>
          <a:bodyPr wrap="square" lIns="45720" rIns="45720" tIns="27432" bIns="27432">
            <a:spAutoFit/>
          </a:bodyPr>
          <a:lstStyle/>
          <a:p>
            <a:pPr>
              <a:spcAft>
                <a:spcPts val="400"/>
              </a:spcAft>
            </a:pPr>
            <a:r>
              <a:rPr sz="1250" b="0">
                <a:solidFill>
                  <a:srgbClr val="14202E"/>
                </a:solidFill>
                <a:latin typeface="Calibri"/>
              </a:rPr>
              <a:t>Se trata de combinaciones como NIE y creación de empresa, renta y convenio de doble imposición, o herencia y notaría. Con un desplegable de una sola categoría, la persona elige una y las demás se pierden. El formulario debe aceptar varias etiquetas y guardarlas.</a:t>
            </a:r>
          </a:p>
        </p:txBody>
      </p:sp>
      <p:sp>
        <p:nvSpPr>
          <p:cNvPr id="10" name="Rounded Rectangle 9"/>
          <p:cNvSpPr/>
          <p:nvPr/>
        </p:nvSpPr>
        <p:spPr>
          <a:xfrm>
            <a:off x="548640" y="2743200"/>
            <a:ext cx="11064240" cy="109728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816352"/>
            <a:ext cx="10698480" cy="365760"/>
          </a:xfrm>
          <a:prstGeom prst="rect">
            <a:avLst/>
          </a:prstGeom>
          <a:noFill/>
        </p:spPr>
        <p:txBody>
          <a:bodyPr wrap="square" lIns="45720" rIns="45720" tIns="27432" bIns="27432">
            <a:spAutoFit/>
          </a:bodyPr>
          <a:lstStyle/>
          <a:p>
            <a:pPr>
              <a:spcAft>
                <a:spcPts val="400"/>
              </a:spcAft>
            </a:pPr>
            <a:r>
              <a:rPr sz="1600" b="1">
                <a:solidFill>
                  <a:srgbClr val="0B5C7A"/>
                </a:solidFill>
                <a:latin typeface="Calibri"/>
              </a:rPr>
              <a:t>«Otro(s)» esconde demanda real</a:t>
            </a:r>
          </a:p>
        </p:txBody>
      </p:sp>
      <p:sp>
        <p:nvSpPr>
          <p:cNvPr id="12" name="TextBox 11"/>
          <p:cNvSpPr txBox="1"/>
          <p:nvPr/>
        </p:nvSpPr>
        <p:spPr>
          <a:xfrm>
            <a:off x="731520" y="3182112"/>
            <a:ext cx="10698480" cy="621792"/>
          </a:xfrm>
          <a:prstGeom prst="rect">
            <a:avLst/>
          </a:prstGeom>
          <a:noFill/>
        </p:spPr>
        <p:txBody>
          <a:bodyPr wrap="square" lIns="45720" rIns="45720" tIns="27432" bIns="27432">
            <a:spAutoFit/>
          </a:bodyPr>
          <a:lstStyle/>
          <a:p>
            <a:pPr>
              <a:spcAft>
                <a:spcPts val="400"/>
              </a:spcAft>
            </a:pPr>
            <a:r>
              <a:rPr sz="1250" b="0">
                <a:solidFill>
                  <a:srgbClr val="14202E"/>
                </a:solidFill>
                <a:latin typeface="Calibri"/>
              </a:rPr>
              <a:t>De 123 solicitudes marcadas «Otro(s)» en los formularios generales ES y FR, un 86 % trata de un tema jurídico claro, sobre todo extranjería, creación de empresa y fiscalidad.</a:t>
            </a:r>
          </a:p>
        </p:txBody>
      </p:sp>
      <p:sp>
        <p:nvSpPr>
          <p:cNvPr id="13" name="Rounded Rectangle 12"/>
          <p:cNvSpPr/>
          <p:nvPr/>
        </p:nvSpPr>
        <p:spPr>
          <a:xfrm>
            <a:off x="548640" y="3931920"/>
            <a:ext cx="11064240" cy="109728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005072"/>
            <a:ext cx="10698480" cy="365760"/>
          </a:xfrm>
          <a:prstGeom prst="rect">
            <a:avLst/>
          </a:prstGeom>
          <a:noFill/>
        </p:spPr>
        <p:txBody>
          <a:bodyPr wrap="square" lIns="45720" rIns="45720" tIns="27432" bIns="27432">
            <a:spAutoFit/>
          </a:bodyPr>
          <a:lstStyle/>
          <a:p>
            <a:pPr>
              <a:spcAft>
                <a:spcPts val="400"/>
              </a:spcAft>
            </a:pPr>
            <a:r>
              <a:rPr sz="1600" b="1">
                <a:solidFill>
                  <a:srgbClr val="0B5C7A"/>
                </a:solidFill>
                <a:latin typeface="Calibri"/>
              </a:rPr>
              <a:t>Herencias y testamentos: n.º 4 de los temas, sin hoja propia</a:t>
            </a:r>
          </a:p>
        </p:txBody>
      </p:sp>
      <p:sp>
        <p:nvSpPr>
          <p:cNvPr id="15" name="TextBox 14"/>
          <p:cNvSpPr txBox="1"/>
          <p:nvPr/>
        </p:nvSpPr>
        <p:spPr>
          <a:xfrm>
            <a:off x="731520" y="4370831"/>
            <a:ext cx="10698480" cy="621792"/>
          </a:xfrm>
          <a:prstGeom prst="rect">
            <a:avLst/>
          </a:prstGeom>
          <a:noFill/>
        </p:spPr>
        <p:txBody>
          <a:bodyPr wrap="square" lIns="45720" rIns="45720" tIns="27432" bIns="27432">
            <a:spAutoFit/>
          </a:bodyPr>
          <a:lstStyle/>
          <a:p>
            <a:pPr>
              <a:spcAft>
                <a:spcPts val="400"/>
              </a:spcAft>
            </a:pPr>
            <a:r>
              <a:rPr sz="1250" b="0">
                <a:solidFill>
                  <a:srgbClr val="14202E"/>
                </a:solidFill>
                <a:latin typeface="Calibri"/>
              </a:rPr>
              <a:t>64 solicitudes (9 % de las analizadas) hablan de herencia. La web solo la cubre dentro de «Sucesiones y planificación patrimonial», bajo Fiscalidad. Divorcio, custodia y adopción (20) tampoco tienen lugar en el árbol.</a:t>
            </a:r>
          </a:p>
        </p:txBody>
      </p:sp>
      <p:sp>
        <p:nvSpPr>
          <p:cNvPr id="16" name="Rounded Rectangle 15"/>
          <p:cNvSpPr/>
          <p:nvPr/>
        </p:nvSpPr>
        <p:spPr>
          <a:xfrm>
            <a:off x="548640" y="5120640"/>
            <a:ext cx="11064240" cy="109728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193792"/>
            <a:ext cx="10698480" cy="365760"/>
          </a:xfrm>
          <a:prstGeom prst="rect">
            <a:avLst/>
          </a:prstGeom>
          <a:noFill/>
        </p:spPr>
        <p:txBody>
          <a:bodyPr wrap="square" lIns="45720" rIns="45720" tIns="27432" bIns="27432">
            <a:spAutoFit/>
          </a:bodyPr>
          <a:lstStyle/>
          <a:p>
            <a:pPr>
              <a:spcAft>
                <a:spcPts val="400"/>
              </a:spcAft>
            </a:pPr>
            <a:r>
              <a:rPr sz="1600" b="1">
                <a:solidFill>
                  <a:srgbClr val="0B5C7A"/>
                </a:solidFill>
                <a:latin typeface="Calibri"/>
              </a:rPr>
              <a:t>Extranjería pesa un 41 % y su única hoja es demasiado grande</a:t>
            </a:r>
          </a:p>
        </p:txBody>
      </p:sp>
      <p:sp>
        <p:nvSpPr>
          <p:cNvPr id="18" name="TextBox 17"/>
          <p:cNvSpPr txBox="1"/>
          <p:nvPr/>
        </p:nvSpPr>
        <p:spPr>
          <a:xfrm>
            <a:off x="731520" y="5559552"/>
            <a:ext cx="10698480" cy="621792"/>
          </a:xfrm>
          <a:prstGeom prst="rect">
            <a:avLst/>
          </a:prstGeom>
          <a:noFill/>
        </p:spPr>
        <p:txBody>
          <a:bodyPr wrap="square" lIns="45720" rIns="45720" tIns="27432" bIns="27432">
            <a:spAutoFit/>
          </a:bodyPr>
          <a:lstStyle/>
          <a:p>
            <a:pPr>
              <a:spcAft>
                <a:spcPts val="400"/>
              </a:spcAft>
            </a:pPr>
            <a:r>
              <a:rPr sz="1250" b="0">
                <a:solidFill>
                  <a:srgbClr val="14202E"/>
                </a:solidFill>
                <a:latin typeface="Calibri"/>
              </a:rPr>
              <a:t>«Residencia, nacionalidad, reagrupación» reúne NIE y TIE, nómada digital, no lucrativa, trabajo, estudios, arraigo, recursos y regularización. Proponemos cinco rutas de formulario y de página (ver árbol).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Lo esencial (2/2)</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3</a:t>
            </a:r>
          </a:p>
        </p:txBody>
      </p:sp>
      <p:sp>
        <p:nvSpPr>
          <p:cNvPr id="7" name="Rounded Rectangle 6"/>
          <p:cNvSpPr/>
          <p:nvPr/>
        </p:nvSpPr>
        <p:spPr>
          <a:xfrm>
            <a:off x="548640" y="1554480"/>
            <a:ext cx="11064240" cy="1417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10698480" cy="365760"/>
          </a:xfrm>
          <a:prstGeom prst="rect">
            <a:avLst/>
          </a:prstGeom>
          <a:noFill/>
        </p:spPr>
        <p:txBody>
          <a:bodyPr wrap="square" lIns="45720" rIns="45720" tIns="27432" bIns="27432">
            <a:spAutoFit/>
          </a:bodyPr>
          <a:lstStyle/>
          <a:p>
            <a:pPr>
              <a:spcAft>
                <a:spcPts val="400"/>
              </a:spcAft>
            </a:pPr>
            <a:r>
              <a:rPr sz="1600" b="1">
                <a:solidFill>
                  <a:srgbClr val="0B5C7A"/>
                </a:solidFill>
                <a:latin typeface="Calibri"/>
              </a:rPr>
              <a:t>Cada idioma tiene su público</a:t>
            </a:r>
          </a:p>
        </p:txBody>
      </p:sp>
      <p:sp>
        <p:nvSpPr>
          <p:cNvPr id="9" name="TextBox 8"/>
          <p:cNvSpPr txBox="1"/>
          <p:nvPr/>
        </p:nvSpPr>
        <p:spPr>
          <a:xfrm>
            <a:off x="731520" y="1993391"/>
            <a:ext cx="10698480" cy="941832"/>
          </a:xfrm>
          <a:prstGeom prst="rect">
            <a:avLst/>
          </a:prstGeom>
          <a:noFill/>
        </p:spPr>
        <p:txBody>
          <a:bodyPr wrap="square" lIns="45720" rIns="45720" tIns="27432" bIns="27432">
            <a:spAutoFit/>
          </a:bodyPr>
          <a:lstStyle/>
          <a:p>
            <a:pPr>
              <a:spcAft>
                <a:spcPts val="400"/>
              </a:spcAft>
            </a:pPr>
            <a:r>
              <a:rPr sz="1250" b="0">
                <a:solidFill>
                  <a:srgbClr val="14202E"/>
                </a:solidFill>
                <a:latin typeface="Calibri"/>
              </a:rPr>
              <a:t>ES: residentes con asuntos del día a día (inmuebles, notaría, herencia, despidos, Hacienda); un 74 % de quienes indican país vive en España. FR: un 79 % vive fuera de España y prepara el salto (NIE, crear empresa, comprar, emprendedor). EN: visados de teletrabajo y residencia, y fiscalidad del recién llegado. RU: pocos, casi todos extranjería e impuestos.</a:t>
            </a:r>
          </a:p>
        </p:txBody>
      </p:sp>
      <p:sp>
        <p:nvSpPr>
          <p:cNvPr id="10" name="Rounded Rectangle 9"/>
          <p:cNvSpPr/>
          <p:nvPr/>
        </p:nvSpPr>
        <p:spPr>
          <a:xfrm>
            <a:off x="548640" y="3063240"/>
            <a:ext cx="11064240" cy="1417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36392"/>
            <a:ext cx="10698480" cy="365760"/>
          </a:xfrm>
          <a:prstGeom prst="rect">
            <a:avLst/>
          </a:prstGeom>
          <a:noFill/>
        </p:spPr>
        <p:txBody>
          <a:bodyPr wrap="square" lIns="45720" rIns="45720" tIns="27432" bIns="27432">
            <a:spAutoFit/>
          </a:bodyPr>
          <a:lstStyle/>
          <a:p>
            <a:pPr>
              <a:spcAft>
                <a:spcPts val="400"/>
              </a:spcAft>
            </a:pPr>
            <a:r>
              <a:rPr sz="1600" b="1">
                <a:solidFill>
                  <a:srgbClr val="0B5C7A"/>
                </a:solidFill>
                <a:latin typeface="Calibri"/>
              </a:rPr>
              <a:t>Hay margen para informar antes de vender</a:t>
            </a:r>
          </a:p>
        </p:txBody>
      </p:sp>
      <p:sp>
        <p:nvSpPr>
          <p:cNvPr id="12" name="TextBox 11"/>
          <p:cNvSpPr txBox="1"/>
          <p:nvPr/>
        </p:nvSpPr>
        <p:spPr>
          <a:xfrm>
            <a:off x="731520" y="3502152"/>
            <a:ext cx="10698480" cy="941832"/>
          </a:xfrm>
          <a:prstGeom prst="rect">
            <a:avLst/>
          </a:prstGeom>
          <a:noFill/>
        </p:spPr>
        <p:txBody>
          <a:bodyPr wrap="square" lIns="45720" rIns="45720" tIns="27432" bIns="27432">
            <a:spAutoFit/>
          </a:bodyPr>
          <a:lstStyle/>
          <a:p>
            <a:pPr>
              <a:spcAft>
                <a:spcPts val="400"/>
              </a:spcAft>
            </a:pPr>
            <a:r>
              <a:rPr sz="1250" b="0">
                <a:solidFill>
                  <a:srgbClr val="14202E"/>
                </a:solidFill>
                <a:latin typeface="Calibri"/>
              </a:rPr>
              <a:t>Solo piden información el 37 % de las solicitudes FR y el 27 % de las ES. Un 16 % de quienes tienen recorrido registrado leyó un artículo del blog antes de escribir (22 % en FR). En los subtemas más pedidos hay muy pocos artículos en el idioma de quien escribe (ver Blog).</a:t>
            </a:r>
          </a:p>
        </p:txBody>
      </p:sp>
      <p:sp>
        <p:nvSpPr>
          <p:cNvPr id="13" name="Rounded Rectangle 12"/>
          <p:cNvSpPr/>
          <p:nvPr/>
        </p:nvSpPr>
        <p:spPr>
          <a:xfrm>
            <a:off x="548640" y="4572000"/>
            <a:ext cx="11064240" cy="1417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645152"/>
            <a:ext cx="10698480" cy="365760"/>
          </a:xfrm>
          <a:prstGeom prst="rect">
            <a:avLst/>
          </a:prstGeom>
          <a:noFill/>
        </p:spPr>
        <p:txBody>
          <a:bodyPr wrap="square" lIns="45720" rIns="45720" tIns="27432" bIns="27432">
            <a:spAutoFit/>
          </a:bodyPr>
          <a:lstStyle/>
          <a:p>
            <a:pPr>
              <a:spcAft>
                <a:spcPts val="400"/>
              </a:spcAft>
            </a:pPr>
            <a:r>
              <a:rPr sz="1600" b="1">
                <a:solidFill>
                  <a:srgbClr val="0B5C7A"/>
                </a:solidFill>
                <a:latin typeface="Calibri"/>
              </a:rPr>
              <a:t>Plazos y presupuestos aparecen en el primer mensaje</a:t>
            </a:r>
          </a:p>
        </p:txBody>
      </p:sp>
      <p:sp>
        <p:nvSpPr>
          <p:cNvPr id="15" name="TextBox 14"/>
          <p:cNvSpPr txBox="1"/>
          <p:nvPr/>
        </p:nvSpPr>
        <p:spPr>
          <a:xfrm>
            <a:off x="731520" y="5010912"/>
            <a:ext cx="10698480" cy="941832"/>
          </a:xfrm>
          <a:prstGeom prst="rect">
            <a:avLst/>
          </a:prstGeom>
          <a:noFill/>
        </p:spPr>
        <p:txBody>
          <a:bodyPr wrap="square" lIns="45720" rIns="45720" tIns="27432" bIns="27432">
            <a:spAutoFit/>
          </a:bodyPr>
          <a:lstStyle/>
          <a:p>
            <a:pPr>
              <a:spcAft>
                <a:spcPts val="400"/>
              </a:spcAft>
            </a:pPr>
            <a:r>
              <a:rPr sz="1250" b="0">
                <a:solidFill>
                  <a:srgbClr val="14202E"/>
                </a:solidFill>
                <a:latin typeface="Calibri"/>
              </a:rPr>
              <a:t>Citan urgencia o plazo el 20 % de las solicitudes ES y el 11 % de las FR; piden honorarios el 29 % y el 22 %. El paso 4 debe recoger la fecha límite.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Volumen y evolución por idioma</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4</a:t>
            </a:r>
          </a:p>
        </p:txBody>
      </p:sp>
      <p:graphicFrame>
        <p:nvGraphicFramePr>
          <p:cNvPr id="7" name="Chart 6"/>
          <p:cNvGraphicFramePr>
            <a:graphicFrameLocks noGrp="1"/>
          </p:cNvGraphicFramePr>
          <p:nvPr/>
        </p:nvGraphicFramePr>
        <p:xfrm>
          <a:off x="548640" y="1554480"/>
          <a:ext cx="7498079" cy="4754880"/>
        </p:xfrm>
        <a:graphic>
          <a:graphicData uri="http://schemas.openxmlformats.org/drawingml/2006/chart">
            <c:chart xmlns:c="http://schemas.openxmlformats.org/drawingml/2006/chart" r:id="rId2"/>
          </a:graphicData>
        </a:graphic>
      </p:graphicFrame>
      <p:sp>
        <p:nvSpPr>
          <p:cNvPr id="8" name="Rounded Rectangle 7"/>
          <p:cNvSpPr/>
          <p:nvPr/>
        </p:nvSpPr>
        <p:spPr>
          <a:xfrm>
            <a:off x="8229600" y="1554480"/>
            <a:ext cx="3429000" cy="475488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1691640"/>
            <a:ext cx="3154680" cy="4480560"/>
          </a:xfrm>
          <a:prstGeom prst="rect">
            <a:avLst/>
          </a:prstGeom>
          <a:noFill/>
        </p:spPr>
        <p:txBody>
          <a:bodyPr wrap="square" lIns="45720" rIns="45720" tIns="27432" bIns="27432">
            <a:spAutoFit/>
          </a:bodyPr>
          <a:lstStyle/>
          <a:p>
            <a:pPr>
              <a:spcAft>
                <a:spcPts val="400"/>
              </a:spcAft>
            </a:pPr>
            <a:r>
              <a:rPr sz="1300" b="0">
                <a:solidFill>
                  <a:srgbClr val="14202E"/>
                </a:solidFill>
                <a:latin typeface="Calibri"/>
              </a:rPr>
              <a:t>Las solicitudes en español crecen (de 18 en el primer trimestre de 2025 a 51 en el tercero de 2026) y las inglesas casi se duplican (de 47 a 89). Las francesas bajan desde el máximo del primer trimestre de 2025 (82; 62 en el tercero de 2026). El ruso se mantiene en unas 8 al trimestre. El último trimestre de 2026 está incompleto.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Tipo de lead</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5</a:t>
            </a:r>
          </a:p>
        </p:txBody>
      </p:sp>
      <p:graphicFrame>
        <p:nvGraphicFramePr>
          <p:cNvPr id="7" name="Chart 6"/>
          <p:cNvGraphicFramePr>
            <a:graphicFrameLocks noGrp="1"/>
          </p:cNvGraphicFramePr>
          <p:nvPr/>
        </p:nvGraphicFramePr>
        <p:xfrm>
          <a:off x="548640" y="1554480"/>
          <a:ext cx="6949440" cy="3108960"/>
        </p:xfrm>
        <a:graphic>
          <a:graphicData uri="http://schemas.openxmlformats.org/drawingml/2006/chart">
            <c:chart xmlns:c="http://schemas.openxmlformats.org/drawingml/2006/chart" r:id="rId2"/>
          </a:graphicData>
        </a:graphic>
      </p:graphicFrame>
      <p:sp>
        <p:nvSpPr>
          <p:cNvPr id="8" name="TextBox 7"/>
          <p:cNvSpPr txBox="1"/>
          <p:nvPr/>
        </p:nvSpPr>
        <p:spPr>
          <a:xfrm>
            <a:off x="548640" y="4754880"/>
            <a:ext cx="6949440" cy="274320"/>
          </a:xfrm>
          <a:prstGeom prst="rect">
            <a:avLst/>
          </a:prstGeom>
          <a:noFill/>
        </p:spPr>
        <p:txBody>
          <a:bodyPr wrap="square" lIns="45720" rIns="45720" tIns="27432" bIns="27432">
            <a:spAutoFit/>
          </a:bodyPr>
          <a:lstStyle/>
          <a:p>
            <a:pPr>
              <a:spcAft>
                <a:spcPts val="400"/>
              </a:spcAft>
            </a:pPr>
            <a:r>
              <a:rPr sz="1200" b="1">
                <a:solidFill>
                  <a:srgbClr val="0B5C7A"/>
                </a:solidFill>
                <a:latin typeface="Calibri"/>
              </a:rPr>
              <a:t>Mencionan en el texto</a:t>
            </a:r>
          </a:p>
        </p:txBody>
      </p:sp>
      <p:graphicFrame>
        <p:nvGraphicFramePr>
          <p:cNvPr id="9" name="Table 8"/>
          <p:cNvGraphicFramePr>
            <a:graphicFrameLocks noGrp="1"/>
          </p:cNvGraphicFramePr>
          <p:nvPr/>
        </p:nvGraphicFramePr>
        <p:xfrm>
          <a:off x="548640" y="5029200"/>
          <a:ext cx="6949438" cy="1234440"/>
        </p:xfrm>
        <a:graphic>
          <a:graphicData uri="http://schemas.openxmlformats.org/drawingml/2006/table">
            <a:tbl>
              <a:tblPr firstRow="1" bandRow="1">
                <a:tableStyleId>{5C22544A-7EE6-4342-B048-85BDC9FD1C3A}</a:tableStyleId>
              </a:tblPr>
              <a:tblGrid>
                <a:gridCol w="1339651"/>
                <a:gridCol w="1339651"/>
                <a:gridCol w="1004738"/>
                <a:gridCol w="1004738"/>
                <a:gridCol w="1004738"/>
                <a:gridCol w="1255922"/>
              </a:tblGrid>
              <a:tr h="246888">
                <a:tc>
                  <a:txBody>
                    <a:bodyPr wrap="square"/>
                    <a:lstStyle/>
                    <a:p>
                      <a:r>
                        <a:rPr sz="900" b="1">
                          <a:solidFill>
                            <a:srgbClr val="FFFFFF"/>
                          </a:solidFill>
                          <a:latin typeface="Calibri"/>
                        </a:rPr>
                        <a:t/>
                      </a:r>
                    </a:p>
                  </a:txBody>
                  <a:tcPr marL="54864" marR="54864" marT="22860" marB="22860" anchor="ctr">
                    <a:solidFill>
                      <a:srgbClr val="0B5C7A"/>
                    </a:solidFill>
                  </a:tcPr>
                </a:tc>
                <a:tc>
                  <a:txBody>
                    <a:bodyPr wrap="square"/>
                    <a:lstStyle/>
                    <a:p>
                      <a:pPr algn="r"/>
                      <a:r>
                        <a:rPr sz="900" b="1">
                          <a:solidFill>
                            <a:srgbClr val="FFFFFF"/>
                          </a:solidFill>
                          <a:latin typeface="Calibri"/>
                        </a:rPr>
                        <a:t>Particular · Empresa</a:t>
                      </a:r>
                    </a:p>
                  </a:txBody>
                  <a:tcPr marL="54864" marR="54864" marT="22860" marB="22860" anchor="ctr">
                    <a:solidFill>
                      <a:srgbClr val="0B5C7A"/>
                    </a:solidFill>
                  </a:tcPr>
                </a:tc>
                <a:tc>
                  <a:txBody>
                    <a:bodyPr wrap="square"/>
                    <a:lstStyle/>
                    <a:p>
                      <a:pPr algn="r"/>
                      <a:r>
                        <a:rPr sz="900" b="1">
                          <a:solidFill>
                            <a:srgbClr val="FFFFFF"/>
                          </a:solidFill>
                          <a:latin typeface="Calibri"/>
                        </a:rPr>
                        <a:t>honorarios o presupuesto</a:t>
                      </a:r>
                    </a:p>
                  </a:txBody>
                  <a:tcPr marL="54864" marR="54864" marT="22860" marB="22860" anchor="ctr">
                    <a:solidFill>
                      <a:srgbClr val="0B5C7A"/>
                    </a:solidFill>
                  </a:tcPr>
                </a:tc>
                <a:tc>
                  <a:txBody>
                    <a:bodyPr wrap="square"/>
                    <a:lstStyle/>
                    <a:p>
                      <a:pPr algn="r"/>
                      <a:r>
                        <a:rPr sz="900" b="1">
                          <a:solidFill>
                            <a:srgbClr val="FFFFFF"/>
                          </a:solidFill>
                          <a:latin typeface="Calibri"/>
                        </a:rPr>
                        <a:t>cita o llamada</a:t>
                      </a:r>
                    </a:p>
                  </a:txBody>
                  <a:tcPr marL="54864" marR="54864" marT="22860" marB="22860" anchor="ctr">
                    <a:solidFill>
                      <a:srgbClr val="0B5C7A"/>
                    </a:solidFill>
                  </a:tcPr>
                </a:tc>
                <a:tc>
                  <a:txBody>
                    <a:bodyPr wrap="square"/>
                    <a:lstStyle/>
                    <a:p>
                      <a:pPr algn="r"/>
                      <a:r>
                        <a:rPr sz="900" b="1">
                          <a:solidFill>
                            <a:srgbClr val="FFFFFF"/>
                          </a:solidFill>
                          <a:latin typeface="Calibri"/>
                        </a:rPr>
                        <a:t>urgencia o plazo</a:t>
                      </a:r>
                    </a:p>
                  </a:txBody>
                  <a:tcPr marL="54864" marR="54864" marT="22860" marB="22860" anchor="ctr">
                    <a:solidFill>
                      <a:srgbClr val="0B5C7A"/>
                    </a:solidFill>
                  </a:tcPr>
                </a:tc>
                <a:tc>
                  <a:txBody>
                    <a:bodyPr wrap="square"/>
                    <a:lstStyle/>
                    <a:p>
                      <a:pPr algn="r"/>
                      <a:r>
                        <a:rPr sz="900" b="1">
                          <a:solidFill>
                            <a:srgbClr val="FFFFFF"/>
                          </a:solidFill>
                          <a:latin typeface="Calibri"/>
                        </a:rPr>
                        <a:t>una pregunta o petición de información</a:t>
                      </a:r>
                    </a:p>
                  </a:txBody>
                  <a:tcPr marL="54864" marR="54864" marT="22860" marB="22860" anchor="ctr">
                    <a:solidFill>
                      <a:srgbClr val="0B5C7A"/>
                    </a:solidFill>
                  </a:tcPr>
                </a:tc>
              </a:tr>
              <a:tr h="246888">
                <a:tc>
                  <a:txBody>
                    <a:bodyPr wrap="square"/>
                    <a:lstStyle/>
                    <a:p>
                      <a:r>
                        <a:rPr sz="900" b="0">
                          <a:solidFill>
                            <a:srgbClr val="14202E"/>
                          </a:solidFill>
                          <a:latin typeface="Calibri"/>
                        </a:rPr>
                        <a:t>Formulario ES</a:t>
                      </a:r>
                    </a:p>
                  </a:txBody>
                  <a:tcPr marL="54864" marR="54864" marT="22860" marB="22860" anchor="ctr">
                    <a:solidFill>
                      <a:srgbClr val="FFFFFF"/>
                    </a:solidFill>
                  </a:tcPr>
                </a:tc>
                <a:tc>
                  <a:txBody>
                    <a:bodyPr wrap="square"/>
                    <a:lstStyle/>
                    <a:p>
                      <a:pPr algn="r"/>
                      <a:r>
                        <a:rPr sz="900" b="0">
                          <a:solidFill>
                            <a:srgbClr val="14202E"/>
                          </a:solidFill>
                          <a:latin typeface="Calibri"/>
                        </a:rPr>
                        <a:t>82 · 18 %</a:t>
                      </a:r>
                    </a:p>
                  </a:txBody>
                  <a:tcPr marL="54864" marR="54864" marT="22860" marB="22860" anchor="ctr">
                    <a:solidFill>
                      <a:srgbClr val="FFFFFF"/>
                    </a:solidFill>
                  </a:tcPr>
                </a:tc>
                <a:tc>
                  <a:txBody>
                    <a:bodyPr wrap="square"/>
                    <a:lstStyle/>
                    <a:p>
                      <a:pPr algn="r"/>
                      <a:r>
                        <a:rPr sz="900" b="0">
                          <a:solidFill>
                            <a:srgbClr val="14202E"/>
                          </a:solidFill>
                          <a:latin typeface="Calibri"/>
                        </a:rPr>
                        <a:t>29 %</a:t>
                      </a:r>
                    </a:p>
                  </a:txBody>
                  <a:tcPr marL="54864" marR="54864" marT="22860" marB="22860" anchor="ctr">
                    <a:solidFill>
                      <a:srgbClr val="FFFFFF"/>
                    </a:solidFill>
                  </a:tcPr>
                </a:tc>
                <a:tc>
                  <a:txBody>
                    <a:bodyPr wrap="square"/>
                    <a:lstStyle/>
                    <a:p>
                      <a:pPr algn="r"/>
                      <a:r>
                        <a:rPr sz="900" b="0">
                          <a:solidFill>
                            <a:srgbClr val="14202E"/>
                          </a:solidFill>
                          <a:latin typeface="Calibri"/>
                        </a:rPr>
                        <a:t>33 %</a:t>
                      </a:r>
                    </a:p>
                  </a:txBody>
                  <a:tcPr marL="54864" marR="54864" marT="22860" marB="22860" anchor="ctr">
                    <a:solidFill>
                      <a:srgbClr val="FFFFFF"/>
                    </a:solidFill>
                  </a:tcPr>
                </a:tc>
                <a:tc>
                  <a:txBody>
                    <a:bodyPr wrap="square"/>
                    <a:lstStyle/>
                    <a:p>
                      <a:pPr algn="r"/>
                      <a:r>
                        <a:rPr sz="900" b="0">
                          <a:solidFill>
                            <a:srgbClr val="14202E"/>
                          </a:solidFill>
                          <a:latin typeface="Calibri"/>
                        </a:rPr>
                        <a:t>20 %</a:t>
                      </a:r>
                    </a:p>
                  </a:txBody>
                  <a:tcPr marL="54864" marR="54864" marT="22860" marB="22860" anchor="ctr">
                    <a:solidFill>
                      <a:srgbClr val="FFFFFF"/>
                    </a:solidFill>
                  </a:tcPr>
                </a:tc>
                <a:tc>
                  <a:txBody>
                    <a:bodyPr wrap="square"/>
                    <a:lstStyle/>
                    <a:p>
                      <a:pPr algn="r"/>
                      <a:r>
                        <a:rPr sz="900" b="0">
                          <a:solidFill>
                            <a:srgbClr val="14202E"/>
                          </a:solidFill>
                          <a:latin typeface="Calibri"/>
                        </a:rPr>
                        <a:t>45 %</a:t>
                      </a:r>
                    </a:p>
                  </a:txBody>
                  <a:tcPr marL="54864" marR="54864" marT="22860" marB="22860" anchor="ctr">
                    <a:solidFill>
                      <a:srgbClr val="FFFFFF"/>
                    </a:solidFill>
                  </a:tcPr>
                </a:tc>
              </a:tr>
              <a:tr h="246888">
                <a:tc>
                  <a:txBody>
                    <a:bodyPr wrap="square"/>
                    <a:lstStyle/>
                    <a:p>
                      <a:r>
                        <a:rPr sz="900" b="0">
                          <a:solidFill>
                            <a:srgbClr val="14202E"/>
                          </a:solidFill>
                          <a:latin typeface="Calibri"/>
                        </a:rPr>
                        <a:t>Formulario FR</a:t>
                      </a:r>
                    </a:p>
                  </a:txBody>
                  <a:tcPr marL="54864" marR="54864" marT="22860" marB="22860" anchor="ctr">
                    <a:solidFill>
                      <a:srgbClr val="FAFBFC"/>
                    </a:solidFill>
                  </a:tcPr>
                </a:tc>
                <a:tc>
                  <a:txBody>
                    <a:bodyPr wrap="square"/>
                    <a:lstStyle/>
                    <a:p>
                      <a:pPr algn="r"/>
                      <a:r>
                        <a:rPr sz="900" b="0">
                          <a:solidFill>
                            <a:srgbClr val="14202E"/>
                          </a:solidFill>
                          <a:latin typeface="Calibri"/>
                        </a:rPr>
                        <a:t>79 · 21 %</a:t>
                      </a:r>
                    </a:p>
                  </a:txBody>
                  <a:tcPr marL="54864" marR="54864" marT="22860" marB="22860" anchor="ctr">
                    <a:solidFill>
                      <a:srgbClr val="FAFBFC"/>
                    </a:solidFill>
                  </a:tcPr>
                </a:tc>
                <a:tc>
                  <a:txBody>
                    <a:bodyPr wrap="square"/>
                    <a:lstStyle/>
                    <a:p>
                      <a:pPr algn="r"/>
                      <a:r>
                        <a:rPr sz="900" b="0">
                          <a:solidFill>
                            <a:srgbClr val="14202E"/>
                          </a:solidFill>
                          <a:latin typeface="Calibri"/>
                        </a:rPr>
                        <a:t>22 %</a:t>
                      </a:r>
                    </a:p>
                  </a:txBody>
                  <a:tcPr marL="54864" marR="54864" marT="22860" marB="22860" anchor="ctr">
                    <a:solidFill>
                      <a:srgbClr val="FAFBFC"/>
                    </a:solidFill>
                  </a:tcPr>
                </a:tc>
                <a:tc>
                  <a:txBody>
                    <a:bodyPr wrap="square"/>
                    <a:lstStyle/>
                    <a:p>
                      <a:pPr algn="r"/>
                      <a:r>
                        <a:rPr sz="900" b="0">
                          <a:solidFill>
                            <a:srgbClr val="14202E"/>
                          </a:solidFill>
                          <a:latin typeface="Calibri"/>
                        </a:rPr>
                        <a:t>20 %</a:t>
                      </a:r>
                    </a:p>
                  </a:txBody>
                  <a:tcPr marL="54864" marR="54864" marT="22860" marB="22860" anchor="ctr">
                    <a:solidFill>
                      <a:srgbClr val="FAFBFC"/>
                    </a:solidFill>
                  </a:tcPr>
                </a:tc>
                <a:tc>
                  <a:txBody>
                    <a:bodyPr wrap="square"/>
                    <a:lstStyle/>
                    <a:p>
                      <a:pPr algn="r"/>
                      <a:r>
                        <a:rPr sz="900" b="0">
                          <a:solidFill>
                            <a:srgbClr val="14202E"/>
                          </a:solidFill>
                          <a:latin typeface="Calibri"/>
                        </a:rPr>
                        <a:t>11 %</a:t>
                      </a:r>
                    </a:p>
                  </a:txBody>
                  <a:tcPr marL="54864" marR="54864" marT="22860" marB="22860" anchor="ctr">
                    <a:solidFill>
                      <a:srgbClr val="FAFBFC"/>
                    </a:solidFill>
                  </a:tcPr>
                </a:tc>
                <a:tc>
                  <a:txBody>
                    <a:bodyPr wrap="square"/>
                    <a:lstStyle/>
                    <a:p>
                      <a:pPr algn="r"/>
                      <a:r>
                        <a:rPr sz="900" b="0">
                          <a:solidFill>
                            <a:srgbClr val="14202E"/>
                          </a:solidFill>
                          <a:latin typeface="Calibri"/>
                        </a:rPr>
                        <a:t>49 %</a:t>
                      </a:r>
                    </a:p>
                  </a:txBody>
                  <a:tcPr marL="54864" marR="54864" marT="22860" marB="22860" anchor="ctr">
                    <a:solidFill>
                      <a:srgbClr val="FAFBFC"/>
                    </a:solidFill>
                  </a:tcPr>
                </a:tc>
              </a:tr>
              <a:tr h="246888">
                <a:tc>
                  <a:txBody>
                    <a:bodyPr wrap="square"/>
                    <a:lstStyle/>
                    <a:p>
                      <a:r>
                        <a:rPr sz="900" b="0">
                          <a:solidFill>
                            <a:srgbClr val="14202E"/>
                          </a:solidFill>
                          <a:latin typeface="Calibri"/>
                        </a:rPr>
                        <a:t>Formulario EN</a:t>
                      </a:r>
                    </a:p>
                  </a:txBody>
                  <a:tcPr marL="54864" marR="54864" marT="22860" marB="22860" anchor="ctr">
                    <a:solidFill>
                      <a:srgbClr val="FFFFFF"/>
                    </a:solidFill>
                  </a:tcPr>
                </a:tc>
                <a:tc>
                  <a:txBody>
                    <a:bodyPr wrap="square"/>
                    <a:lstStyle/>
                    <a:p>
                      <a:pPr algn="r"/>
                      <a:r>
                        <a:rPr sz="900" b="0">
                          <a:solidFill>
                            <a:srgbClr val="14202E"/>
                          </a:solidFill>
                          <a:latin typeface="Calibri"/>
                        </a:rPr>
                        <a:t>88 · 12 %</a:t>
                      </a:r>
                    </a:p>
                  </a:txBody>
                  <a:tcPr marL="54864" marR="54864" marT="22860" marB="22860" anchor="ctr">
                    <a:solidFill>
                      <a:srgbClr val="FFFFFF"/>
                    </a:solidFill>
                  </a:tcPr>
                </a:tc>
                <a:tc>
                  <a:txBody>
                    <a:bodyPr wrap="square"/>
                    <a:lstStyle/>
                    <a:p>
                      <a:pPr algn="r"/>
                      <a:r>
                        <a:rPr sz="900" b="0">
                          <a:solidFill>
                            <a:srgbClr val="14202E"/>
                          </a:solidFill>
                          <a:latin typeface="Calibri"/>
                        </a:rPr>
                        <a:t>21 %</a:t>
                      </a:r>
                    </a:p>
                  </a:txBody>
                  <a:tcPr marL="54864" marR="54864" marT="22860" marB="22860" anchor="ctr">
                    <a:solidFill>
                      <a:srgbClr val="FFFFFF"/>
                    </a:solidFill>
                  </a:tcPr>
                </a:tc>
                <a:tc>
                  <a:txBody>
                    <a:bodyPr wrap="square"/>
                    <a:lstStyle/>
                    <a:p>
                      <a:pPr algn="r"/>
                      <a:r>
                        <a:rPr sz="900" b="0">
                          <a:solidFill>
                            <a:srgbClr val="14202E"/>
                          </a:solidFill>
                          <a:latin typeface="Calibri"/>
                        </a:rPr>
                        <a:t>45 %</a:t>
                      </a:r>
                    </a:p>
                  </a:txBody>
                  <a:tcPr marL="54864" marR="54864" marT="22860" marB="22860" anchor="ctr">
                    <a:solidFill>
                      <a:srgbClr val="FFFFFF"/>
                    </a:solidFill>
                  </a:tcPr>
                </a:tc>
                <a:tc>
                  <a:txBody>
                    <a:bodyPr wrap="square"/>
                    <a:lstStyle/>
                    <a:p>
                      <a:pPr algn="r"/>
                      <a:r>
                        <a:rPr sz="900" b="0">
                          <a:solidFill>
                            <a:srgbClr val="14202E"/>
                          </a:solidFill>
                          <a:latin typeface="Calibri"/>
                        </a:rPr>
                        <a:t>30 %</a:t>
                      </a:r>
                    </a:p>
                  </a:txBody>
                  <a:tcPr marL="54864" marR="54864" marT="22860" marB="22860" anchor="ctr">
                    <a:solidFill>
                      <a:srgbClr val="FFFFFF"/>
                    </a:solidFill>
                  </a:tcPr>
                </a:tc>
                <a:tc>
                  <a:txBody>
                    <a:bodyPr wrap="square"/>
                    <a:lstStyle/>
                    <a:p>
                      <a:pPr algn="r"/>
                      <a:r>
                        <a:rPr sz="900" b="0">
                          <a:solidFill>
                            <a:srgbClr val="14202E"/>
                          </a:solidFill>
                          <a:latin typeface="Calibri"/>
                        </a:rPr>
                        <a:t>24 %</a:t>
                      </a:r>
                    </a:p>
                  </a:txBody>
                  <a:tcPr marL="54864" marR="54864" marT="22860" marB="22860" anchor="ctr">
                    <a:solidFill>
                      <a:srgbClr val="FFFFFF"/>
                    </a:solidFill>
                  </a:tcPr>
                </a:tc>
              </a:tr>
              <a:tr h="246888">
                <a:tc>
                  <a:txBody>
                    <a:bodyPr wrap="square"/>
                    <a:lstStyle/>
                    <a:p>
                      <a:r>
                        <a:rPr sz="900" b="0">
                          <a:solidFill>
                            <a:srgbClr val="14202E"/>
                          </a:solidFill>
                          <a:latin typeface="Calibri"/>
                        </a:rPr>
                        <a:t>Formulario RU</a:t>
                      </a:r>
                    </a:p>
                  </a:txBody>
                  <a:tcPr marL="54864" marR="54864" marT="22860" marB="22860" anchor="ctr">
                    <a:solidFill>
                      <a:srgbClr val="FAFBFC"/>
                    </a:solidFill>
                  </a:tcPr>
                </a:tc>
                <a:tc>
                  <a:txBody>
                    <a:bodyPr wrap="square"/>
                    <a:lstStyle/>
                    <a:p>
                      <a:pPr algn="r"/>
                      <a:r>
                        <a:rPr sz="900" b="0">
                          <a:solidFill>
                            <a:srgbClr val="14202E"/>
                          </a:solidFill>
                          <a:latin typeface="Calibri"/>
                        </a:rPr>
                        <a:t>85 · 15 %</a:t>
                      </a:r>
                    </a:p>
                  </a:txBody>
                  <a:tcPr marL="54864" marR="54864" marT="22860" marB="22860" anchor="ctr">
                    <a:solidFill>
                      <a:srgbClr val="FAFBFC"/>
                    </a:solidFill>
                  </a:tcPr>
                </a:tc>
                <a:tc>
                  <a:txBody>
                    <a:bodyPr wrap="square"/>
                    <a:lstStyle/>
                    <a:p>
                      <a:pPr algn="r"/>
                      <a:r>
                        <a:rPr sz="900" b="0">
                          <a:solidFill>
                            <a:srgbClr val="14202E"/>
                          </a:solidFill>
                          <a:latin typeface="Calibri"/>
                        </a:rPr>
                        <a:t>n/d</a:t>
                      </a:r>
                    </a:p>
                  </a:txBody>
                  <a:tcPr marL="54864" marR="54864" marT="22860" marB="22860" anchor="ctr">
                    <a:solidFill>
                      <a:srgbClr val="FAFBFC"/>
                    </a:solidFill>
                  </a:tcPr>
                </a:tc>
                <a:tc>
                  <a:txBody>
                    <a:bodyPr wrap="square"/>
                    <a:lstStyle/>
                    <a:p>
                      <a:pPr algn="r"/>
                      <a:r>
                        <a:rPr sz="900" b="0">
                          <a:solidFill>
                            <a:srgbClr val="14202E"/>
                          </a:solidFill>
                          <a:latin typeface="Calibri"/>
                        </a:rPr>
                        <a:t>n/d</a:t>
                      </a:r>
                    </a:p>
                  </a:txBody>
                  <a:tcPr marL="54864" marR="54864" marT="22860" marB="22860" anchor="ctr">
                    <a:solidFill>
                      <a:srgbClr val="FAFBFC"/>
                    </a:solidFill>
                  </a:tcPr>
                </a:tc>
                <a:tc>
                  <a:txBody>
                    <a:bodyPr wrap="square"/>
                    <a:lstStyle/>
                    <a:p>
                      <a:pPr algn="r"/>
                      <a:r>
                        <a:rPr sz="900" b="0">
                          <a:solidFill>
                            <a:srgbClr val="14202E"/>
                          </a:solidFill>
                          <a:latin typeface="Calibri"/>
                        </a:rPr>
                        <a:t>n/d</a:t>
                      </a:r>
                    </a:p>
                  </a:txBody>
                  <a:tcPr marL="54864" marR="54864" marT="22860" marB="22860" anchor="ctr">
                    <a:solidFill>
                      <a:srgbClr val="FAFBFC"/>
                    </a:solidFill>
                  </a:tcPr>
                </a:tc>
                <a:tc>
                  <a:txBody>
                    <a:bodyPr wrap="square"/>
                    <a:lstStyle/>
                    <a:p>
                      <a:pPr algn="r"/>
                      <a:r>
                        <a:rPr sz="900" b="0">
                          <a:solidFill>
                            <a:srgbClr val="14202E"/>
                          </a:solidFill>
                          <a:latin typeface="Calibri"/>
                        </a:rPr>
                        <a:t>n/d</a:t>
                      </a:r>
                    </a:p>
                  </a:txBody>
                  <a:tcPr marL="54864" marR="54864" marT="22860" marB="22860" anchor="ctr">
                    <a:solidFill>
                      <a:srgbClr val="FAFBFC"/>
                    </a:solidFill>
                  </a:tcPr>
                </a:tc>
              </a:tr>
            </a:tbl>
          </a:graphicData>
        </a:graphic>
      </p:graphicFrame>
      <p:sp>
        <p:nvSpPr>
          <p:cNvPr id="10" name="Rounded Rectangle 9"/>
          <p:cNvSpPr/>
          <p:nvPr/>
        </p:nvSpPr>
        <p:spPr>
          <a:xfrm>
            <a:off x="7772400" y="1554480"/>
            <a:ext cx="3886200" cy="475488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09560" y="1691640"/>
            <a:ext cx="3611880" cy="4480560"/>
          </a:xfrm>
          <a:prstGeom prst="rect">
            <a:avLst/>
          </a:prstGeom>
          <a:noFill/>
        </p:spPr>
        <p:txBody>
          <a:bodyPr wrap="square" lIns="45720" rIns="45720" tIns="27432" bIns="27432">
            <a:spAutoFit/>
          </a:bodyPr>
          <a:lstStyle/>
          <a:p>
            <a:pPr>
              <a:spcAft>
                <a:spcPts val="400"/>
              </a:spcAft>
            </a:pPr>
            <a:r>
              <a:rPr sz="1300" b="0">
                <a:solidFill>
                  <a:srgbClr val="14202E"/>
                </a:solidFill>
                <a:latin typeface="Calibri"/>
              </a:rPr>
              <a:t>Particular o empresa, y qué pide en el primer mensaje. Los porcentajes del bloque de intención se calculan solo sobre los mensajes analizados (ES, FR y el formulario de inmigración EN).</a:t>
            </a:r>
          </a:p>
          <a:p>
            <a:pPr>
              <a:spcAft>
                <a:spcPts val="400"/>
              </a:spcAft>
            </a:pPr>
            <a:r>
              <a:rPr sz="1200" b="0">
                <a:solidFill>
                  <a:srgbClr val="556575"/>
                </a:solidFill>
                <a:latin typeface="Calibri"/>
              </a:rPr>
              <a:t>Mensaje mediano: ES 398, FR 331 caracteres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País de origen y nacionalidad</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6</a:t>
            </a:r>
          </a:p>
        </p:txBody>
      </p:sp>
      <p:graphicFrame>
        <p:nvGraphicFramePr>
          <p:cNvPr id="7" name="Chart 6"/>
          <p:cNvGraphicFramePr>
            <a:graphicFrameLocks noGrp="1"/>
          </p:cNvGraphicFramePr>
          <p:nvPr/>
        </p:nvGraphicFramePr>
        <p:xfrm>
          <a:off x="548640" y="1554480"/>
          <a:ext cx="3611880" cy="3108960"/>
        </p:xfrm>
        <a:graphic>
          <a:graphicData uri="http://schemas.openxmlformats.org/drawingml/2006/chart">
            <c:chart xmlns:c="http://schemas.openxmlformats.org/drawingml/2006/chart" r:id="rId2"/>
          </a:graphicData>
        </a:graphic>
      </p:graphicFrame>
      <p:sp>
        <p:nvSpPr>
          <p:cNvPr id="8" name="TextBox 7"/>
          <p:cNvSpPr txBox="1"/>
          <p:nvPr/>
        </p:nvSpPr>
        <p:spPr>
          <a:xfrm>
            <a:off x="548640" y="4663440"/>
            <a:ext cx="3611880" cy="54864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74 % viven en España · 26 % fuera de España · 36 sin dato</a:t>
            </a:r>
          </a:p>
        </p:txBody>
      </p:sp>
      <p:graphicFrame>
        <p:nvGraphicFramePr>
          <p:cNvPr id="9" name="Chart 8"/>
          <p:cNvGraphicFramePr>
            <a:graphicFrameLocks noGrp="1"/>
          </p:cNvGraphicFramePr>
          <p:nvPr/>
        </p:nvGraphicFramePr>
        <p:xfrm>
          <a:off x="4297679" y="1554480"/>
          <a:ext cx="3611880" cy="3108960"/>
        </p:xfrm>
        <a:graphic>
          <a:graphicData uri="http://schemas.openxmlformats.org/drawingml/2006/chart">
            <c:chart xmlns:c="http://schemas.openxmlformats.org/drawingml/2006/chart" r:id="rId3"/>
          </a:graphicData>
        </a:graphic>
      </p:graphicFrame>
      <p:sp>
        <p:nvSpPr>
          <p:cNvPr id="10" name="TextBox 9"/>
          <p:cNvSpPr txBox="1"/>
          <p:nvPr/>
        </p:nvSpPr>
        <p:spPr>
          <a:xfrm>
            <a:off x="4297679" y="4663440"/>
            <a:ext cx="3611880" cy="54864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21 % viven en España · 79 % fuera de España · 102 sin dato</a:t>
            </a:r>
          </a:p>
        </p:txBody>
      </p:sp>
      <p:graphicFrame>
        <p:nvGraphicFramePr>
          <p:cNvPr id="11" name="Chart 10"/>
          <p:cNvGraphicFramePr>
            <a:graphicFrameLocks noGrp="1"/>
          </p:cNvGraphicFramePr>
          <p:nvPr/>
        </p:nvGraphicFramePr>
        <p:xfrm>
          <a:off x="8046719" y="1554480"/>
          <a:ext cx="3611880" cy="3108960"/>
        </p:xfrm>
        <a:graphic>
          <a:graphicData uri="http://schemas.openxmlformats.org/drawingml/2006/chart">
            <c:chart xmlns:c="http://schemas.openxmlformats.org/drawingml/2006/chart" r:id="rId4"/>
          </a:graphicData>
        </a:graphic>
      </p:graphicFrame>
      <p:sp>
        <p:nvSpPr>
          <p:cNvPr id="12" name="TextBox 11"/>
          <p:cNvSpPr txBox="1"/>
          <p:nvPr/>
        </p:nvSpPr>
        <p:spPr>
          <a:xfrm>
            <a:off x="8046719" y="4663440"/>
            <a:ext cx="3611880" cy="54864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61 % viven en España · 39 % fuera de España · 92 sin dato</a:t>
            </a:r>
          </a:p>
        </p:txBody>
      </p:sp>
      <p:sp>
        <p:nvSpPr>
          <p:cNvPr id="13" name="TextBox 12"/>
          <p:cNvSpPr txBox="1"/>
          <p:nvPr/>
        </p:nvSpPr>
        <p:spPr>
          <a:xfrm>
            <a:off x="548640" y="5257800"/>
            <a:ext cx="11064240" cy="118872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Ningún formulario pregunta el país ni la nacionalidad. El país sale del prefijo telefónico (solo se conserva el código del país), del desplegable «Ubicación» de los formularios de extranjería y del país de residencia cuando el texto lo dice. La nacionalidad solo se registra si la persona la declara (por ejemplo «soy venezolano»): ocurre en el 25 % de los mensajes analizados, así que las cifras de nacionalidad son un suelo, no el total.</a:t>
            </a:r>
          </a:p>
          <a:p>
            <a:pPr>
              <a:spcAft>
                <a:spcPts val="400"/>
              </a:spcAft>
            </a:pPr>
            <a:r>
              <a:rPr sz="1000" b="0">
                <a:solidFill>
                  <a:srgbClr val="556575"/>
                </a:solidFill>
                <a:latin typeface="Calibri"/>
              </a:rPr>
              <a:t>+1 y +7 son prefijos compartidos (EE. UU./Canadá, Rusia/Kazajistán). Canal visible en la dirección de la página: 16 solicitudes llegaron con parámetros de ChatGPT y 27 de anuncios de Google; el resto no deja rastro en la dirección.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PAÍS DE ORIGEN Y NACIONALIDAD</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Nacionalidades declaradas</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7</a:t>
            </a:r>
          </a:p>
        </p:txBody>
      </p:sp>
      <p:graphicFrame>
        <p:nvGraphicFramePr>
          <p:cNvPr id="7" name="Chart 6"/>
          <p:cNvGraphicFramePr>
            <a:graphicFrameLocks noGrp="1"/>
          </p:cNvGraphicFramePr>
          <p:nvPr/>
        </p:nvGraphicFramePr>
        <p:xfrm>
          <a:off x="548640" y="1554480"/>
          <a:ext cx="3611880" cy="3566160"/>
        </p:xfrm>
        <a:graphic>
          <a:graphicData uri="http://schemas.openxmlformats.org/drawingml/2006/chart">
            <c:chart xmlns:c="http://schemas.openxmlformats.org/drawingml/2006/chart" r:id="rId2"/>
          </a:graphicData>
        </a:graphic>
      </p:graphicFrame>
      <p:sp>
        <p:nvSpPr>
          <p:cNvPr id="8" name="TextBox 7"/>
          <p:cNvSpPr txBox="1"/>
          <p:nvPr/>
        </p:nvSpPr>
        <p:spPr>
          <a:xfrm>
            <a:off x="548640" y="5120640"/>
            <a:ext cx="3611880" cy="36576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119 / 464 mensajes declaran nacionalidad</a:t>
            </a:r>
          </a:p>
        </p:txBody>
      </p:sp>
      <p:graphicFrame>
        <p:nvGraphicFramePr>
          <p:cNvPr id="9" name="Chart 8"/>
          <p:cNvGraphicFramePr>
            <a:graphicFrameLocks noGrp="1"/>
          </p:cNvGraphicFramePr>
          <p:nvPr/>
        </p:nvGraphicFramePr>
        <p:xfrm>
          <a:off x="4297679" y="1554480"/>
          <a:ext cx="3611880" cy="3566160"/>
        </p:xfrm>
        <a:graphic>
          <a:graphicData uri="http://schemas.openxmlformats.org/drawingml/2006/chart">
            <c:chart xmlns:c="http://schemas.openxmlformats.org/drawingml/2006/chart" r:id="rId3"/>
          </a:graphicData>
        </a:graphic>
      </p:graphicFrame>
      <p:sp>
        <p:nvSpPr>
          <p:cNvPr id="10" name="TextBox 9"/>
          <p:cNvSpPr txBox="1"/>
          <p:nvPr/>
        </p:nvSpPr>
        <p:spPr>
          <a:xfrm>
            <a:off x="4297679" y="5120640"/>
            <a:ext cx="3611880" cy="36576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51 / 244 mensajes declaran nacionalidad</a:t>
            </a:r>
          </a:p>
        </p:txBody>
      </p:sp>
      <p:graphicFrame>
        <p:nvGraphicFramePr>
          <p:cNvPr id="11" name="Chart 10"/>
          <p:cNvGraphicFramePr>
            <a:graphicFrameLocks noGrp="1"/>
          </p:cNvGraphicFramePr>
          <p:nvPr/>
        </p:nvGraphicFramePr>
        <p:xfrm>
          <a:off x="8046719" y="1554480"/>
          <a:ext cx="3611880" cy="3566160"/>
        </p:xfrm>
        <a:graphic>
          <a:graphicData uri="http://schemas.openxmlformats.org/drawingml/2006/chart">
            <c:chart xmlns:c="http://schemas.openxmlformats.org/drawingml/2006/chart" r:id="rId4"/>
          </a:graphicData>
        </a:graphic>
      </p:graphicFrame>
      <p:sp>
        <p:nvSpPr>
          <p:cNvPr id="12" name="TextBox 11"/>
          <p:cNvSpPr txBox="1"/>
          <p:nvPr/>
        </p:nvSpPr>
        <p:spPr>
          <a:xfrm>
            <a:off x="8046719" y="5120640"/>
            <a:ext cx="3611880" cy="36576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16 / 33 mensajes declaran nacionalidad</a:t>
            </a:r>
          </a:p>
        </p:txBody>
      </p:sp>
      <p:sp>
        <p:nvSpPr>
          <p:cNvPr id="13" name="TextBox 12"/>
          <p:cNvSpPr txBox="1"/>
          <p:nvPr/>
        </p:nvSpPr>
        <p:spPr>
          <a:xfrm>
            <a:off x="548640" y="5577840"/>
            <a:ext cx="11064240" cy="82296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Nacionalidad de familiares mencionados: España 14 · Francia 9 · Reino Unido 5 · Suiza 3 · Bélgica 2 · Canadá 2 · Venezuela 1 · Alemania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400" b="1">
                <a:solidFill>
                  <a:srgbClr val="14202E"/>
                </a:solidFill>
                <a:latin typeface="Georgia"/>
              </a:rPr>
              <a:t>Las seis áreas: lo que dice el desplegable frente a lo que dice el texto</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8</a:t>
            </a:r>
          </a:p>
        </p:txBody>
      </p:sp>
      <p:graphicFrame>
        <p:nvGraphicFramePr>
          <p:cNvPr id="7" name="Table 6"/>
          <p:cNvGraphicFramePr>
            <a:graphicFrameLocks noGrp="1"/>
          </p:cNvGraphicFramePr>
          <p:nvPr/>
        </p:nvGraphicFramePr>
        <p:xfrm>
          <a:off x="548640" y="1600200"/>
          <a:ext cx="11064237" cy="3072384"/>
        </p:xfrm>
        <a:graphic>
          <a:graphicData uri="http://schemas.openxmlformats.org/drawingml/2006/table">
            <a:tbl>
              <a:tblPr firstRow="1" bandRow="1">
                <a:tableStyleId>{5C22544A-7EE6-4342-B048-85BDC9FD1C3A}</a:tableStyleId>
              </a:tblPr>
              <a:tblGrid>
                <a:gridCol w="3188001"/>
                <a:gridCol w="1312706"/>
                <a:gridCol w="1312706"/>
                <a:gridCol w="1312706"/>
                <a:gridCol w="1312706"/>
                <a:gridCol w="1312706"/>
                <a:gridCol w="1312706"/>
              </a:tblGrid>
              <a:tr h="384048">
                <a:tc>
                  <a:txBody>
                    <a:bodyPr wrap="square"/>
                    <a:lstStyle/>
                    <a:p>
                      <a:r>
                        <a:rPr sz="1100" b="1">
                          <a:solidFill>
                            <a:srgbClr val="FFFFFF"/>
                          </a:solidFill>
                          <a:latin typeface="Calibri"/>
                        </a:rPr>
                        <a:t/>
                      </a:r>
                    </a:p>
                  </a:txBody>
                  <a:tcPr marL="54864" marR="54864" marT="22860" marB="22860" anchor="ctr">
                    <a:solidFill>
                      <a:srgbClr val="0B5C7A"/>
                    </a:solidFill>
                  </a:tcPr>
                </a:tc>
                <a:tc>
                  <a:txBody>
                    <a:bodyPr wrap="square"/>
                    <a:lstStyle/>
                    <a:p>
                      <a:pPr algn="r"/>
                      <a:r>
                        <a:rPr sz="1100" b="1">
                          <a:solidFill>
                            <a:srgbClr val="FFFFFF"/>
                          </a:solidFill>
                          <a:latin typeface="Calibri"/>
                        </a:rPr>
                        <a:t>ES Desplegable</a:t>
                      </a:r>
                    </a:p>
                  </a:txBody>
                  <a:tcPr marL="54864" marR="54864" marT="22860" marB="22860" anchor="ctr">
                    <a:solidFill>
                      <a:srgbClr val="0B5C7A"/>
                    </a:solidFill>
                  </a:tcPr>
                </a:tc>
                <a:tc>
                  <a:txBody>
                    <a:bodyPr wrap="square"/>
                    <a:lstStyle/>
                    <a:p>
                      <a:pPr algn="r"/>
                      <a:r>
                        <a:rPr sz="1100" b="1">
                          <a:solidFill>
                            <a:srgbClr val="FFFFFF"/>
                          </a:solidFill>
                          <a:latin typeface="Calibri"/>
                        </a:rPr>
                        <a:t>ES Texto</a:t>
                      </a:r>
                    </a:p>
                  </a:txBody>
                  <a:tcPr marL="54864" marR="54864" marT="22860" marB="22860" anchor="ctr">
                    <a:solidFill>
                      <a:srgbClr val="0B5C7A"/>
                    </a:solidFill>
                  </a:tcPr>
                </a:tc>
                <a:tc>
                  <a:txBody>
                    <a:bodyPr wrap="square"/>
                    <a:lstStyle/>
                    <a:p>
                      <a:pPr algn="r"/>
                      <a:r>
                        <a:rPr sz="1100" b="1">
                          <a:solidFill>
                            <a:srgbClr val="FFFFFF"/>
                          </a:solidFill>
                          <a:latin typeface="Calibri"/>
                        </a:rPr>
                        <a:t>FR Desplegable</a:t>
                      </a:r>
                    </a:p>
                  </a:txBody>
                  <a:tcPr marL="54864" marR="54864" marT="22860" marB="22860" anchor="ctr">
                    <a:solidFill>
                      <a:srgbClr val="0B5C7A"/>
                    </a:solidFill>
                  </a:tcPr>
                </a:tc>
                <a:tc>
                  <a:txBody>
                    <a:bodyPr wrap="square"/>
                    <a:lstStyle/>
                    <a:p>
                      <a:pPr algn="r"/>
                      <a:r>
                        <a:rPr sz="1100" b="1">
                          <a:solidFill>
                            <a:srgbClr val="FFFFFF"/>
                          </a:solidFill>
                          <a:latin typeface="Calibri"/>
                        </a:rPr>
                        <a:t>FR Texto</a:t>
                      </a:r>
                    </a:p>
                  </a:txBody>
                  <a:tcPr marL="54864" marR="54864" marT="22860" marB="22860" anchor="ctr">
                    <a:solidFill>
                      <a:srgbClr val="0B5C7A"/>
                    </a:solidFill>
                  </a:tcPr>
                </a:tc>
                <a:tc>
                  <a:txBody>
                    <a:bodyPr wrap="square"/>
                    <a:lstStyle/>
                    <a:p>
                      <a:pPr algn="r"/>
                      <a:r>
                        <a:rPr sz="1100" b="1">
                          <a:solidFill>
                            <a:srgbClr val="FFFFFF"/>
                          </a:solidFill>
                          <a:latin typeface="Calibri"/>
                        </a:rPr>
                        <a:t>EN Desplegable</a:t>
                      </a:r>
                    </a:p>
                  </a:txBody>
                  <a:tcPr marL="54864" marR="54864" marT="22860" marB="22860" anchor="ctr">
                    <a:solidFill>
                      <a:srgbClr val="0B5C7A"/>
                    </a:solidFill>
                  </a:tcPr>
                </a:tc>
                <a:tc>
                  <a:txBody>
                    <a:bodyPr wrap="square"/>
                    <a:lstStyle/>
                    <a:p>
                      <a:pPr algn="r"/>
                      <a:r>
                        <a:rPr sz="1100" b="1">
                          <a:solidFill>
                            <a:srgbClr val="FFFFFF"/>
                          </a:solidFill>
                          <a:latin typeface="Calibri"/>
                        </a:rPr>
                        <a:t>RU Desplegable</a:t>
                      </a:r>
                    </a:p>
                  </a:txBody>
                  <a:tcPr marL="54864" marR="54864" marT="22860" marB="22860" anchor="ctr">
                    <a:solidFill>
                      <a:srgbClr val="0B5C7A"/>
                    </a:solidFill>
                  </a:tcPr>
                </a:tc>
              </a:tr>
              <a:tr h="384048">
                <a:tc>
                  <a:txBody>
                    <a:bodyPr wrap="square"/>
                    <a:lstStyle/>
                    <a:p>
                      <a:r>
                        <a:rPr sz="1100" b="0">
                          <a:solidFill>
                            <a:srgbClr val="14202E"/>
                          </a:solidFill>
                          <a:latin typeface="Calibri"/>
                        </a:rPr>
                        <a:t>Instalación y vida en España (extranjería)</a:t>
                      </a:r>
                    </a:p>
                  </a:txBody>
                  <a:tcPr marL="54864" marR="54864" marT="22860" marB="22860" anchor="ctr">
                    <a:solidFill>
                      <a:srgbClr val="FFFFFF"/>
                    </a:solidFill>
                  </a:tcPr>
                </a:tc>
                <a:tc>
                  <a:txBody>
                    <a:bodyPr wrap="square"/>
                    <a:lstStyle/>
                    <a:p>
                      <a:pPr algn="r"/>
                      <a:r>
                        <a:rPr sz="1100" b="0">
                          <a:solidFill>
                            <a:srgbClr val="14202E"/>
                          </a:solidFill>
                          <a:latin typeface="Calibri"/>
                        </a:rPr>
                        <a:t>97 (40 %)</a:t>
                      </a:r>
                    </a:p>
                  </a:txBody>
                  <a:tcPr marL="54864" marR="54864" marT="22860" marB="22860" anchor="ctr">
                    <a:solidFill>
                      <a:srgbClr val="FFFFFF"/>
                    </a:solidFill>
                  </a:tcPr>
                </a:tc>
                <a:tc>
                  <a:txBody>
                    <a:bodyPr wrap="square"/>
                    <a:lstStyle/>
                    <a:p>
                      <a:pPr algn="r"/>
                      <a:r>
                        <a:rPr sz="1100" b="0">
                          <a:solidFill>
                            <a:srgbClr val="14202E"/>
                          </a:solidFill>
                          <a:latin typeface="Calibri"/>
                        </a:rPr>
                        <a:t>80 (33 %)</a:t>
                      </a:r>
                    </a:p>
                  </a:txBody>
                  <a:tcPr marL="54864" marR="54864" marT="22860" marB="22860" anchor="ctr">
                    <a:solidFill>
                      <a:srgbClr val="FFFFFF"/>
                    </a:solidFill>
                  </a:tcPr>
                </a:tc>
                <a:tc>
                  <a:txBody>
                    <a:bodyPr wrap="square"/>
                    <a:lstStyle/>
                    <a:p>
                      <a:pPr algn="r"/>
                      <a:r>
                        <a:rPr sz="1100" b="0">
                          <a:solidFill>
                            <a:srgbClr val="14202E"/>
                          </a:solidFill>
                          <a:latin typeface="Calibri"/>
                        </a:rPr>
                        <a:t>132 (27 %)</a:t>
                      </a:r>
                    </a:p>
                  </a:txBody>
                  <a:tcPr marL="54864" marR="54864" marT="22860" marB="22860" anchor="ctr">
                    <a:solidFill>
                      <a:srgbClr val="FFFFFF"/>
                    </a:solidFill>
                  </a:tcPr>
                </a:tc>
                <a:tc>
                  <a:txBody>
                    <a:bodyPr wrap="square"/>
                    <a:lstStyle/>
                    <a:p>
                      <a:pPr algn="r"/>
                      <a:r>
                        <a:rPr sz="1100" b="0">
                          <a:solidFill>
                            <a:srgbClr val="14202E"/>
                          </a:solidFill>
                          <a:latin typeface="Calibri"/>
                        </a:rPr>
                        <a:t>146 (31 %)</a:t>
                      </a:r>
                    </a:p>
                  </a:txBody>
                  <a:tcPr marL="54864" marR="54864" marT="22860" marB="22860" anchor="ctr">
                    <a:solidFill>
                      <a:srgbClr val="FFFFFF"/>
                    </a:solidFill>
                  </a:tcPr>
                </a:tc>
                <a:tc>
                  <a:txBody>
                    <a:bodyPr wrap="square"/>
                    <a:lstStyle/>
                    <a:p>
                      <a:pPr algn="r"/>
                      <a:r>
                        <a:rPr sz="1100" b="0">
                          <a:solidFill>
                            <a:srgbClr val="14202E"/>
                          </a:solidFill>
                          <a:latin typeface="Calibri"/>
                        </a:rPr>
                        <a:t>193 (51 %)</a:t>
                      </a:r>
                    </a:p>
                  </a:txBody>
                  <a:tcPr marL="54864" marR="54864" marT="22860" marB="22860" anchor="ctr">
                    <a:solidFill>
                      <a:srgbClr val="FFFFFF"/>
                    </a:solidFill>
                  </a:tcPr>
                </a:tc>
                <a:tc>
                  <a:txBody>
                    <a:bodyPr wrap="square"/>
                    <a:lstStyle/>
                    <a:p>
                      <a:pPr algn="r"/>
                      <a:r>
                        <a:rPr sz="1100" b="0">
                          <a:solidFill>
                            <a:srgbClr val="14202E"/>
                          </a:solidFill>
                          <a:latin typeface="Calibri"/>
                        </a:rPr>
                        <a:t>28 (43 %)</a:t>
                      </a:r>
                    </a:p>
                  </a:txBody>
                  <a:tcPr marL="54864" marR="54864" marT="22860" marB="22860" anchor="ctr">
                    <a:solidFill>
                      <a:srgbClr val="FFFFFF"/>
                    </a:solidFill>
                  </a:tcPr>
                </a:tc>
              </a:tr>
              <a:tr h="384048">
                <a:tc>
                  <a:txBody>
                    <a:bodyPr wrap="square"/>
                    <a:lstStyle/>
                    <a:p>
                      <a:r>
                        <a:rPr sz="1100" b="0">
                          <a:solidFill>
                            <a:srgbClr val="14202E"/>
                          </a:solidFill>
                          <a:latin typeface="Calibri"/>
                        </a:rPr>
                        <a:t>Fiscalidad y contabilidad</a:t>
                      </a:r>
                    </a:p>
                  </a:txBody>
                  <a:tcPr marL="54864" marR="54864" marT="22860" marB="22860" anchor="ctr">
                    <a:solidFill>
                      <a:srgbClr val="FAFBFC"/>
                    </a:solidFill>
                  </a:tcPr>
                </a:tc>
                <a:tc>
                  <a:txBody>
                    <a:bodyPr wrap="square"/>
                    <a:lstStyle/>
                    <a:p>
                      <a:pPr algn="r"/>
                      <a:r>
                        <a:rPr sz="1100" b="0">
                          <a:solidFill>
                            <a:srgbClr val="14202E"/>
                          </a:solidFill>
                          <a:latin typeface="Calibri"/>
                        </a:rPr>
                        <a:t>50 (20 %)</a:t>
                      </a:r>
                    </a:p>
                  </a:txBody>
                  <a:tcPr marL="54864" marR="54864" marT="22860" marB="22860" anchor="ctr">
                    <a:solidFill>
                      <a:srgbClr val="FAFBFC"/>
                    </a:solidFill>
                  </a:tcPr>
                </a:tc>
                <a:tc>
                  <a:txBody>
                    <a:bodyPr wrap="square"/>
                    <a:lstStyle/>
                    <a:p>
                      <a:pPr algn="r"/>
                      <a:r>
                        <a:rPr sz="1100" b="0">
                          <a:solidFill>
                            <a:srgbClr val="14202E"/>
                          </a:solidFill>
                          <a:latin typeface="Calibri"/>
                        </a:rPr>
                        <a:t>50 (20 %)</a:t>
                      </a:r>
                    </a:p>
                  </a:txBody>
                  <a:tcPr marL="54864" marR="54864" marT="22860" marB="22860" anchor="ctr">
                    <a:solidFill>
                      <a:srgbClr val="FAFBFC"/>
                    </a:solidFill>
                  </a:tcPr>
                </a:tc>
                <a:tc>
                  <a:txBody>
                    <a:bodyPr wrap="square"/>
                    <a:lstStyle/>
                    <a:p>
                      <a:pPr algn="r"/>
                      <a:r>
                        <a:rPr sz="1100" b="0">
                          <a:solidFill>
                            <a:srgbClr val="14202E"/>
                          </a:solidFill>
                          <a:latin typeface="Calibri"/>
                        </a:rPr>
                        <a:t>100 (21 %)</a:t>
                      </a:r>
                    </a:p>
                  </a:txBody>
                  <a:tcPr marL="54864" marR="54864" marT="22860" marB="22860" anchor="ctr">
                    <a:solidFill>
                      <a:srgbClr val="FAFBFC"/>
                    </a:solidFill>
                  </a:tcPr>
                </a:tc>
                <a:tc>
                  <a:txBody>
                    <a:bodyPr wrap="square"/>
                    <a:lstStyle/>
                    <a:p>
                      <a:pPr algn="r"/>
                      <a:r>
                        <a:rPr sz="1100" b="0">
                          <a:solidFill>
                            <a:srgbClr val="14202E"/>
                          </a:solidFill>
                          <a:latin typeface="Calibri"/>
                        </a:rPr>
                        <a:t>96 (21 %)</a:t>
                      </a:r>
                    </a:p>
                  </a:txBody>
                  <a:tcPr marL="54864" marR="54864" marT="22860" marB="22860" anchor="ctr">
                    <a:solidFill>
                      <a:srgbClr val="FAFBFC"/>
                    </a:solidFill>
                  </a:tcPr>
                </a:tc>
                <a:tc>
                  <a:txBody>
                    <a:bodyPr wrap="square"/>
                    <a:lstStyle/>
                    <a:p>
                      <a:pPr algn="r"/>
                      <a:r>
                        <a:rPr sz="1100" b="0">
                          <a:solidFill>
                            <a:srgbClr val="14202E"/>
                          </a:solidFill>
                          <a:latin typeface="Calibri"/>
                        </a:rPr>
                        <a:t>113 (30 %)</a:t>
                      </a:r>
                    </a:p>
                  </a:txBody>
                  <a:tcPr marL="54864" marR="54864" marT="22860" marB="22860" anchor="ctr">
                    <a:solidFill>
                      <a:srgbClr val="FAFBFC"/>
                    </a:solidFill>
                  </a:tcPr>
                </a:tc>
                <a:tc>
                  <a:txBody>
                    <a:bodyPr wrap="square"/>
                    <a:lstStyle/>
                    <a:p>
                      <a:pPr algn="r"/>
                      <a:r>
                        <a:rPr sz="1100" b="0">
                          <a:solidFill>
                            <a:srgbClr val="14202E"/>
                          </a:solidFill>
                          <a:latin typeface="Calibri"/>
                        </a:rPr>
                        <a:t>14 (22 %)</a:t>
                      </a:r>
                    </a:p>
                  </a:txBody>
                  <a:tcPr marL="54864" marR="54864" marT="22860" marB="22860" anchor="ctr">
                    <a:solidFill>
                      <a:srgbClr val="FAFBFC"/>
                    </a:solidFill>
                  </a:tcPr>
                </a:tc>
              </a:tr>
              <a:tr h="384048">
                <a:tc>
                  <a:txBody>
                    <a:bodyPr wrap="square"/>
                    <a:lstStyle/>
                    <a:p>
                      <a:r>
                        <a:rPr sz="1100" b="0">
                          <a:solidFill>
                            <a:srgbClr val="14202E"/>
                          </a:solidFill>
                          <a:latin typeface="Calibri"/>
                        </a:rPr>
                        <a:t>Derecho inmobiliario</a:t>
                      </a:r>
                    </a:p>
                  </a:txBody>
                  <a:tcPr marL="54864" marR="54864" marT="22860" marB="22860" anchor="ctr">
                    <a:solidFill>
                      <a:srgbClr val="FFFFFF"/>
                    </a:solidFill>
                  </a:tcPr>
                </a:tc>
                <a:tc>
                  <a:txBody>
                    <a:bodyPr wrap="square"/>
                    <a:lstStyle/>
                    <a:p>
                      <a:pPr algn="r"/>
                      <a:r>
                        <a:rPr sz="1100" b="0">
                          <a:solidFill>
                            <a:srgbClr val="14202E"/>
                          </a:solidFill>
                          <a:latin typeface="Calibri"/>
                        </a:rPr>
                        <a:t>34 (14 %)</a:t>
                      </a:r>
                    </a:p>
                  </a:txBody>
                  <a:tcPr marL="54864" marR="54864" marT="22860" marB="22860" anchor="ctr">
                    <a:solidFill>
                      <a:srgbClr val="FFFFFF"/>
                    </a:solidFill>
                  </a:tcPr>
                </a:tc>
                <a:tc>
                  <a:txBody>
                    <a:bodyPr wrap="square"/>
                    <a:lstStyle/>
                    <a:p>
                      <a:pPr algn="r"/>
                      <a:r>
                        <a:rPr sz="1100" b="0">
                          <a:solidFill>
                            <a:srgbClr val="14202E"/>
                          </a:solidFill>
                          <a:latin typeface="Calibri"/>
                        </a:rPr>
                        <a:t>46 (19 %)</a:t>
                      </a:r>
                    </a:p>
                  </a:txBody>
                  <a:tcPr marL="54864" marR="54864" marT="22860" marB="22860" anchor="ctr">
                    <a:solidFill>
                      <a:srgbClr val="FFFFFF"/>
                    </a:solidFill>
                  </a:tcPr>
                </a:tc>
                <a:tc>
                  <a:txBody>
                    <a:bodyPr wrap="square"/>
                    <a:lstStyle/>
                    <a:p>
                      <a:pPr algn="r"/>
                      <a:r>
                        <a:rPr sz="1100" b="0">
                          <a:solidFill>
                            <a:srgbClr val="14202E"/>
                          </a:solidFill>
                          <a:latin typeface="Calibri"/>
                        </a:rPr>
                        <a:t>63 (13 %)</a:t>
                      </a:r>
                    </a:p>
                  </a:txBody>
                  <a:tcPr marL="54864" marR="54864" marT="22860" marB="22860" anchor="ctr">
                    <a:solidFill>
                      <a:srgbClr val="FFFFFF"/>
                    </a:solidFill>
                  </a:tcPr>
                </a:tc>
                <a:tc>
                  <a:txBody>
                    <a:bodyPr wrap="square"/>
                    <a:lstStyle/>
                    <a:p>
                      <a:pPr algn="r"/>
                      <a:r>
                        <a:rPr sz="1100" b="0">
                          <a:solidFill>
                            <a:srgbClr val="14202E"/>
                          </a:solidFill>
                          <a:latin typeface="Calibri"/>
                        </a:rPr>
                        <a:t>78 (17 %)</a:t>
                      </a:r>
                    </a:p>
                  </a:txBody>
                  <a:tcPr marL="54864" marR="54864" marT="22860" marB="22860" anchor="ctr">
                    <a:solidFill>
                      <a:srgbClr val="FFFFFF"/>
                    </a:solidFill>
                  </a:tcPr>
                </a:tc>
                <a:tc>
                  <a:txBody>
                    <a:bodyPr wrap="square"/>
                    <a:lstStyle/>
                    <a:p>
                      <a:pPr algn="r"/>
                      <a:r>
                        <a:rPr sz="1100" b="0">
                          <a:solidFill>
                            <a:srgbClr val="14202E"/>
                          </a:solidFill>
                          <a:latin typeface="Calibri"/>
                        </a:rPr>
                        <a:t>20 (5 %)</a:t>
                      </a:r>
                    </a:p>
                  </a:txBody>
                  <a:tcPr marL="54864" marR="54864" marT="22860" marB="22860" anchor="ctr">
                    <a:solidFill>
                      <a:srgbClr val="FFFFFF"/>
                    </a:solidFill>
                  </a:tcPr>
                </a:tc>
                <a:tc>
                  <a:txBody>
                    <a:bodyPr wrap="square"/>
                    <a:lstStyle/>
                    <a:p>
                      <a:pPr algn="r"/>
                      <a:r>
                        <a:rPr sz="1100" b="0">
                          <a:solidFill>
                            <a:srgbClr val="14202E"/>
                          </a:solidFill>
                          <a:latin typeface="Calibri"/>
                        </a:rPr>
                        <a:t>1 (2 %)</a:t>
                      </a:r>
                    </a:p>
                  </a:txBody>
                  <a:tcPr marL="54864" marR="54864" marT="22860" marB="22860" anchor="ctr">
                    <a:solidFill>
                      <a:srgbClr val="FFFFFF"/>
                    </a:solidFill>
                  </a:tcPr>
                </a:tc>
              </a:tr>
              <a:tr h="384048">
                <a:tc>
                  <a:txBody>
                    <a:bodyPr wrap="square"/>
                    <a:lstStyle/>
                    <a:p>
                      <a:r>
                        <a:rPr sz="1100" b="0">
                          <a:solidFill>
                            <a:srgbClr val="14202E"/>
                          </a:solidFill>
                          <a:latin typeface="Calibri"/>
                        </a:rPr>
                        <a:t>Derecho de sucesiones y litigios</a:t>
                      </a:r>
                    </a:p>
                  </a:txBody>
                  <a:tcPr marL="54864" marR="54864" marT="22860" marB="22860" anchor="ctr">
                    <a:solidFill>
                      <a:srgbClr val="FAFBFC"/>
                    </a:solidFill>
                  </a:tcPr>
                </a:tc>
                <a:tc>
                  <a:txBody>
                    <a:bodyPr wrap="square"/>
                    <a:lstStyle/>
                    <a:p>
                      <a:pPr algn="r"/>
                      <a:r>
                        <a:rPr sz="1100" b="0">
                          <a:solidFill>
                            <a:srgbClr val="14202E"/>
                          </a:solidFill>
                          <a:latin typeface="Calibri"/>
                        </a:rPr>
                        <a:t>16 (7 %)</a:t>
                      </a:r>
                    </a:p>
                  </a:txBody>
                  <a:tcPr marL="54864" marR="54864" marT="22860" marB="22860" anchor="ctr">
                    <a:solidFill>
                      <a:srgbClr val="FAFBFC"/>
                    </a:solidFill>
                  </a:tcPr>
                </a:tc>
                <a:tc>
                  <a:txBody>
                    <a:bodyPr wrap="square"/>
                    <a:lstStyle/>
                    <a:p>
                      <a:pPr algn="r"/>
                      <a:r>
                        <a:rPr sz="1100" b="0">
                          <a:solidFill>
                            <a:srgbClr val="14202E"/>
                          </a:solidFill>
                          <a:latin typeface="Calibri"/>
                        </a:rPr>
                        <a:t>19 (8 %)</a:t>
                      </a:r>
                    </a:p>
                  </a:txBody>
                  <a:tcPr marL="54864" marR="54864" marT="22860" marB="22860" anchor="ctr">
                    <a:solidFill>
                      <a:srgbClr val="FAFBFC"/>
                    </a:solidFill>
                  </a:tcPr>
                </a:tc>
                <a:tc>
                  <a:txBody>
                    <a:bodyPr wrap="square"/>
                    <a:lstStyle/>
                    <a:p>
                      <a:pPr algn="r"/>
                      <a:r>
                        <a:rPr sz="1100" b="0">
                          <a:solidFill>
                            <a:srgbClr val="14202E"/>
                          </a:solidFill>
                          <a:latin typeface="Calibri"/>
                        </a:rPr>
                        <a:t>26 (5 %)</a:t>
                      </a:r>
                    </a:p>
                  </a:txBody>
                  <a:tcPr marL="54864" marR="54864" marT="22860" marB="22860" anchor="ctr">
                    <a:solidFill>
                      <a:srgbClr val="FAFBFC"/>
                    </a:solidFill>
                  </a:tcPr>
                </a:tc>
                <a:tc>
                  <a:txBody>
                    <a:bodyPr wrap="square"/>
                    <a:lstStyle/>
                    <a:p>
                      <a:pPr algn="r"/>
                      <a:r>
                        <a:rPr sz="1100" b="0">
                          <a:solidFill>
                            <a:srgbClr val="14202E"/>
                          </a:solidFill>
                          <a:latin typeface="Calibri"/>
                        </a:rPr>
                        <a:t>47 (10 %)</a:t>
                      </a:r>
                    </a:p>
                  </a:txBody>
                  <a:tcPr marL="54864" marR="54864" marT="22860" marB="22860" anchor="ctr">
                    <a:solidFill>
                      <a:srgbClr val="FAFBFC"/>
                    </a:solidFill>
                  </a:tcPr>
                </a:tc>
                <a:tc>
                  <a:txBody>
                    <a:bodyPr wrap="square"/>
                    <a:lstStyle/>
                    <a:p>
                      <a:pPr algn="r"/>
                      <a:r>
                        <a:rPr sz="1100" b="0">
                          <a:solidFill>
                            <a:srgbClr val="14202E"/>
                          </a:solidFill>
                          <a:latin typeface="Calibri"/>
                        </a:rPr>
                        <a:t>5 (1 %)</a:t>
                      </a:r>
                    </a:p>
                  </a:txBody>
                  <a:tcPr marL="54864" marR="54864" marT="22860" marB="22860" anchor="ctr">
                    <a:solidFill>
                      <a:srgbClr val="FAFBFC"/>
                    </a:solidFill>
                  </a:tcPr>
                </a:tc>
                <a:tc>
                  <a:txBody>
                    <a:bodyPr wrap="square"/>
                    <a:lstStyle/>
                    <a:p>
                      <a:pPr algn="r"/>
                      <a:r>
                        <a:rPr sz="1100" b="0">
                          <a:solidFill>
                            <a:srgbClr val="14202E"/>
                          </a:solidFill>
                          <a:latin typeface="Calibri"/>
                        </a:rPr>
                        <a:t>3 (5 %)</a:t>
                      </a:r>
                    </a:p>
                  </a:txBody>
                  <a:tcPr marL="54864" marR="54864" marT="22860" marB="22860" anchor="ctr">
                    <a:solidFill>
                      <a:srgbClr val="FAFBFC"/>
                    </a:solidFill>
                  </a:tcPr>
                </a:tc>
              </a:tr>
              <a:tr h="384048">
                <a:tc>
                  <a:txBody>
                    <a:bodyPr wrap="square"/>
                    <a:lstStyle/>
                    <a:p>
                      <a:r>
                        <a:rPr sz="1100" b="0">
                          <a:solidFill>
                            <a:srgbClr val="14202E"/>
                          </a:solidFill>
                          <a:latin typeface="Calibri"/>
                        </a:rPr>
                        <a:t>Derecho mercantil y emprendimiento</a:t>
                      </a:r>
                    </a:p>
                  </a:txBody>
                  <a:tcPr marL="54864" marR="54864" marT="22860" marB="22860" anchor="ctr">
                    <a:solidFill>
                      <a:srgbClr val="FFFFFF"/>
                    </a:solidFill>
                  </a:tcPr>
                </a:tc>
                <a:tc>
                  <a:txBody>
                    <a:bodyPr wrap="square"/>
                    <a:lstStyle/>
                    <a:p>
                      <a:pPr algn="r"/>
                      <a:r>
                        <a:rPr sz="1100" b="0">
                          <a:solidFill>
                            <a:srgbClr val="14202E"/>
                          </a:solidFill>
                          <a:latin typeface="Calibri"/>
                        </a:rPr>
                        <a:t>1 (0 %)</a:t>
                      </a:r>
                    </a:p>
                  </a:txBody>
                  <a:tcPr marL="54864" marR="54864" marT="22860" marB="22860" anchor="ctr">
                    <a:solidFill>
                      <a:srgbClr val="FFFFFF"/>
                    </a:solidFill>
                  </a:tcPr>
                </a:tc>
                <a:tc>
                  <a:txBody>
                    <a:bodyPr wrap="square"/>
                    <a:lstStyle/>
                    <a:p>
                      <a:pPr algn="r"/>
                      <a:r>
                        <a:rPr sz="1100" b="0">
                          <a:solidFill>
                            <a:srgbClr val="14202E"/>
                          </a:solidFill>
                          <a:latin typeface="Calibri"/>
                        </a:rPr>
                        <a:t>18 (7 %)</a:t>
                      </a:r>
                    </a:p>
                  </a:txBody>
                  <a:tcPr marL="54864" marR="54864" marT="22860" marB="22860" anchor="ctr">
                    <a:solidFill>
                      <a:srgbClr val="FFFFFF"/>
                    </a:solidFill>
                  </a:tcPr>
                </a:tc>
                <a:tc>
                  <a:txBody>
                    <a:bodyPr wrap="square"/>
                    <a:lstStyle/>
                    <a:p>
                      <a:pPr algn="r"/>
                      <a:r>
                        <a:rPr sz="1100" b="0">
                          <a:solidFill>
                            <a:srgbClr val="14202E"/>
                          </a:solidFill>
                          <a:latin typeface="Calibri"/>
                        </a:rPr>
                        <a:t>49 (10 %)</a:t>
                      </a:r>
                    </a:p>
                  </a:txBody>
                  <a:tcPr marL="54864" marR="54864" marT="22860" marB="22860" anchor="ctr">
                    <a:solidFill>
                      <a:srgbClr val="FFFFFF"/>
                    </a:solidFill>
                  </a:tcPr>
                </a:tc>
                <a:tc>
                  <a:txBody>
                    <a:bodyPr wrap="square"/>
                    <a:lstStyle/>
                    <a:p>
                      <a:pPr algn="r"/>
                      <a:r>
                        <a:rPr sz="1100" b="0">
                          <a:solidFill>
                            <a:srgbClr val="14202E"/>
                          </a:solidFill>
                          <a:latin typeface="Calibri"/>
                        </a:rPr>
                        <a:t>62 (13 %)</a:t>
                      </a:r>
                    </a:p>
                  </a:txBody>
                  <a:tcPr marL="54864" marR="54864" marT="22860" marB="22860" anchor="ctr">
                    <a:solidFill>
                      <a:srgbClr val="FFFFFF"/>
                    </a:solidFill>
                  </a:tcPr>
                </a:tc>
                <a:tc>
                  <a:txBody>
                    <a:bodyPr wrap="square"/>
                    <a:lstStyle/>
                    <a:p>
                      <a:pPr algn="r"/>
                      <a:r>
                        <a:rPr sz="1100" b="0">
                          <a:solidFill>
                            <a:srgbClr val="14202E"/>
                          </a:solidFill>
                          <a:latin typeface="Calibri"/>
                        </a:rPr>
                        <a:t>11 (3 %)</a:t>
                      </a:r>
                    </a:p>
                  </a:txBody>
                  <a:tcPr marL="54864" marR="54864" marT="22860" marB="22860" anchor="ctr">
                    <a:solidFill>
                      <a:srgbClr val="FFFFFF"/>
                    </a:solidFill>
                  </a:tcPr>
                </a:tc>
                <a:tc>
                  <a:txBody>
                    <a:bodyPr wrap="square"/>
                    <a:lstStyle/>
                    <a:p>
                      <a:pPr algn="r"/>
                      <a:r>
                        <a:rPr sz="1100" b="0">
                          <a:solidFill>
                            <a:srgbClr val="14202E"/>
                          </a:solidFill>
                          <a:latin typeface="Calibri"/>
                        </a:rPr>
                        <a:t>1 (2 %)</a:t>
                      </a:r>
                    </a:p>
                  </a:txBody>
                  <a:tcPr marL="54864" marR="54864" marT="22860" marB="22860" anchor="ctr">
                    <a:solidFill>
                      <a:srgbClr val="FFFFFF"/>
                    </a:solidFill>
                  </a:tcPr>
                </a:tc>
              </a:tr>
              <a:tr h="384048">
                <a:tc>
                  <a:txBody>
                    <a:bodyPr wrap="square"/>
                    <a:lstStyle/>
                    <a:p>
                      <a:r>
                        <a:rPr sz="1100" b="0">
                          <a:solidFill>
                            <a:srgbClr val="14202E"/>
                          </a:solidFill>
                          <a:latin typeface="Calibri"/>
                        </a:rPr>
                        <a:t>Derecho laboral y RRHH</a:t>
                      </a:r>
                    </a:p>
                  </a:txBody>
                  <a:tcPr marL="54864" marR="54864" marT="22860" marB="22860" anchor="ctr">
                    <a:solidFill>
                      <a:srgbClr val="FAFBFC"/>
                    </a:solidFill>
                  </a:tcPr>
                </a:tc>
                <a:tc>
                  <a:txBody>
                    <a:bodyPr wrap="square"/>
                    <a:lstStyle/>
                    <a:p>
                      <a:pPr algn="r"/>
                      <a:r>
                        <a:rPr sz="1100" b="0">
                          <a:solidFill>
                            <a:srgbClr val="14202E"/>
                          </a:solidFill>
                          <a:latin typeface="Calibri"/>
                        </a:rPr>
                        <a:t>23 (9 %)</a:t>
                      </a:r>
                    </a:p>
                  </a:txBody>
                  <a:tcPr marL="54864" marR="54864" marT="22860" marB="22860" anchor="ctr">
                    <a:solidFill>
                      <a:srgbClr val="FAFBFC"/>
                    </a:solidFill>
                  </a:tcPr>
                </a:tc>
                <a:tc>
                  <a:txBody>
                    <a:bodyPr wrap="square"/>
                    <a:lstStyle/>
                    <a:p>
                      <a:pPr algn="r"/>
                      <a:r>
                        <a:rPr sz="1100" b="0">
                          <a:solidFill>
                            <a:srgbClr val="14202E"/>
                          </a:solidFill>
                          <a:latin typeface="Calibri"/>
                        </a:rPr>
                        <a:t>26 (11 %)</a:t>
                      </a:r>
                    </a:p>
                  </a:txBody>
                  <a:tcPr marL="54864" marR="54864" marT="22860" marB="22860" anchor="ctr">
                    <a:solidFill>
                      <a:srgbClr val="FAFBFC"/>
                    </a:solidFill>
                  </a:tcPr>
                </a:tc>
                <a:tc>
                  <a:txBody>
                    <a:bodyPr wrap="square"/>
                    <a:lstStyle/>
                    <a:p>
                      <a:pPr algn="r"/>
                      <a:r>
                        <a:rPr sz="1100" b="0">
                          <a:solidFill>
                            <a:srgbClr val="14202E"/>
                          </a:solidFill>
                          <a:latin typeface="Calibri"/>
                        </a:rPr>
                        <a:t>14 (3 %)</a:t>
                      </a:r>
                    </a:p>
                  </a:txBody>
                  <a:tcPr marL="54864" marR="54864" marT="22860" marB="22860" anchor="ctr">
                    <a:solidFill>
                      <a:srgbClr val="FAFBFC"/>
                    </a:solidFill>
                  </a:tcPr>
                </a:tc>
                <a:tc>
                  <a:txBody>
                    <a:bodyPr wrap="square"/>
                    <a:lstStyle/>
                    <a:p>
                      <a:pPr algn="r"/>
                      <a:r>
                        <a:rPr sz="1100" b="0">
                          <a:solidFill>
                            <a:srgbClr val="14202E"/>
                          </a:solidFill>
                          <a:latin typeface="Calibri"/>
                        </a:rPr>
                        <a:t>19 (4 %)</a:t>
                      </a:r>
                    </a:p>
                  </a:txBody>
                  <a:tcPr marL="54864" marR="54864" marT="22860" marB="22860" anchor="ctr">
                    <a:solidFill>
                      <a:srgbClr val="FAFBFC"/>
                    </a:solidFill>
                  </a:tcPr>
                </a:tc>
                <a:tc>
                  <a:txBody>
                    <a:bodyPr wrap="square"/>
                    <a:lstStyle/>
                    <a:p>
                      <a:pPr algn="r"/>
                      <a:r>
                        <a:rPr sz="1100" b="0">
                          <a:solidFill>
                            <a:srgbClr val="14202E"/>
                          </a:solidFill>
                          <a:latin typeface="Calibri"/>
                        </a:rPr>
                        <a:t>5 (1 %)</a:t>
                      </a:r>
                    </a:p>
                  </a:txBody>
                  <a:tcPr marL="54864" marR="54864" marT="22860" marB="22860" anchor="ctr">
                    <a:solidFill>
                      <a:srgbClr val="FAFBFC"/>
                    </a:solidFill>
                  </a:tcPr>
                </a:tc>
                <a:tc>
                  <a:txBody>
                    <a:bodyPr wrap="square"/>
                    <a:lstStyle/>
                    <a:p>
                      <a:pPr algn="r"/>
                      <a:r>
                        <a:rPr sz="1100" b="0">
                          <a:solidFill>
                            <a:srgbClr val="14202E"/>
                          </a:solidFill>
                          <a:latin typeface="Calibri"/>
                        </a:rPr>
                        <a:t>6 (9 %)</a:t>
                      </a:r>
                    </a:p>
                  </a:txBody>
                  <a:tcPr marL="54864" marR="54864" marT="22860" marB="22860" anchor="ctr">
                    <a:solidFill>
                      <a:srgbClr val="FAFBFC"/>
                    </a:solidFill>
                  </a:tcPr>
                </a:tc>
              </a:tr>
              <a:tr h="384048">
                <a:tc>
                  <a:txBody>
                    <a:bodyPr wrap="square"/>
                    <a:lstStyle/>
                    <a:p>
                      <a:r>
                        <a:rPr sz="1100" b="0">
                          <a:solidFill>
                            <a:srgbClr val="14202E"/>
                          </a:solidFill>
                          <a:latin typeface="Calibri"/>
                        </a:rPr>
                        <a:t>Otros / no jurídico</a:t>
                      </a:r>
                    </a:p>
                  </a:txBody>
                  <a:tcPr marL="54864" marR="54864" marT="22860" marB="22860" anchor="ctr">
                    <a:solidFill>
                      <a:srgbClr val="FFFFFF"/>
                    </a:solidFill>
                  </a:tcPr>
                </a:tc>
                <a:tc>
                  <a:txBody>
                    <a:bodyPr wrap="square"/>
                    <a:lstStyle/>
                    <a:p>
                      <a:pPr algn="r"/>
                      <a:r>
                        <a:rPr sz="1100" b="0">
                          <a:solidFill>
                            <a:srgbClr val="14202E"/>
                          </a:solidFill>
                          <a:latin typeface="Calibri"/>
                        </a:rPr>
                        <a:t>23 (9 %)</a:t>
                      </a:r>
                    </a:p>
                  </a:txBody>
                  <a:tcPr marL="54864" marR="54864" marT="22860" marB="22860" anchor="ctr">
                    <a:solidFill>
                      <a:srgbClr val="FFFFFF"/>
                    </a:solidFill>
                  </a:tcPr>
                </a:tc>
                <a:tc>
                  <a:txBody>
                    <a:bodyPr wrap="square"/>
                    <a:lstStyle/>
                    <a:p>
                      <a:pPr algn="r"/>
                      <a:r>
                        <a:rPr sz="1100" b="0">
                          <a:solidFill>
                            <a:srgbClr val="14202E"/>
                          </a:solidFill>
                          <a:latin typeface="Calibri"/>
                        </a:rPr>
                        <a:t>5 (2 %)</a:t>
                      </a:r>
                    </a:p>
                  </a:txBody>
                  <a:tcPr marL="54864" marR="54864" marT="22860" marB="22860" anchor="ctr">
                    <a:solidFill>
                      <a:srgbClr val="FFFFFF"/>
                    </a:solidFill>
                  </a:tcPr>
                </a:tc>
                <a:tc>
                  <a:txBody>
                    <a:bodyPr wrap="square"/>
                    <a:lstStyle/>
                    <a:p>
                      <a:pPr algn="r"/>
                      <a:r>
                        <a:rPr sz="1100" b="0">
                          <a:solidFill>
                            <a:srgbClr val="14202E"/>
                          </a:solidFill>
                          <a:latin typeface="Calibri"/>
                        </a:rPr>
                        <a:t>100 (21 %)</a:t>
                      </a:r>
                    </a:p>
                  </a:txBody>
                  <a:tcPr marL="54864" marR="54864" marT="22860" marB="22860" anchor="ctr">
                    <a:solidFill>
                      <a:srgbClr val="FFFFFF"/>
                    </a:solidFill>
                  </a:tcPr>
                </a:tc>
                <a:tc>
                  <a:txBody>
                    <a:bodyPr wrap="square"/>
                    <a:lstStyle/>
                    <a:p>
                      <a:pPr algn="r"/>
                      <a:r>
                        <a:rPr sz="1100" b="0">
                          <a:solidFill>
                            <a:srgbClr val="14202E"/>
                          </a:solidFill>
                          <a:latin typeface="Calibri"/>
                        </a:rPr>
                        <a:t>16 (3 %)</a:t>
                      </a:r>
                    </a:p>
                  </a:txBody>
                  <a:tcPr marL="54864" marR="54864" marT="22860" marB="22860" anchor="ctr">
                    <a:solidFill>
                      <a:srgbClr val="FFFFFF"/>
                    </a:solidFill>
                  </a:tcPr>
                </a:tc>
                <a:tc>
                  <a:txBody>
                    <a:bodyPr wrap="square"/>
                    <a:lstStyle/>
                    <a:p>
                      <a:pPr algn="r"/>
                      <a:r>
                        <a:rPr sz="1100" b="0">
                          <a:solidFill>
                            <a:srgbClr val="14202E"/>
                          </a:solidFill>
                          <a:latin typeface="Calibri"/>
                        </a:rPr>
                        <a:t>29 (8 %)</a:t>
                      </a:r>
                    </a:p>
                  </a:txBody>
                  <a:tcPr marL="54864" marR="54864" marT="22860" marB="22860" anchor="ctr">
                    <a:solidFill>
                      <a:srgbClr val="FFFFFF"/>
                    </a:solidFill>
                  </a:tcPr>
                </a:tc>
                <a:tc>
                  <a:txBody>
                    <a:bodyPr wrap="square"/>
                    <a:lstStyle/>
                    <a:p>
                      <a:pPr algn="r"/>
                      <a:r>
                        <a:rPr sz="1100" b="0">
                          <a:solidFill>
                            <a:srgbClr val="14202E"/>
                          </a:solidFill>
                          <a:latin typeface="Calibri"/>
                        </a:rPr>
                        <a:t>11 (17 %)</a:t>
                      </a:r>
                    </a:p>
                  </a:txBody>
                  <a:tcPr marL="54864" marR="54864" marT="22860" marB="22860" anchor="ctr">
                    <a:solidFill>
                      <a:srgbClr val="FFFFFF"/>
                    </a:solidFill>
                  </a:tcPr>
                </a:tc>
              </a:tr>
            </a:tbl>
          </a:graphicData>
        </a:graphic>
      </p:graphicFrame>
      <p:sp>
        <p:nvSpPr>
          <p:cNvPr id="8" name="TextBox 7"/>
          <p:cNvSpPr txBox="1"/>
          <p:nvPr/>
        </p:nvSpPr>
        <p:spPr>
          <a:xfrm>
            <a:off x="548640" y="4846320"/>
            <a:ext cx="11064240" cy="1463040"/>
          </a:xfrm>
          <a:prstGeom prst="rect">
            <a:avLst/>
          </a:prstGeom>
          <a:noFill/>
        </p:spPr>
        <p:txBody>
          <a:bodyPr wrap="square" lIns="45720" rIns="45720" tIns="27432" bIns="27432">
            <a:spAutoFit/>
          </a:bodyPr>
          <a:lstStyle/>
          <a:p>
            <a:pPr>
              <a:spcAft>
                <a:spcPts val="400"/>
              </a:spcAft>
            </a:pPr>
            <a:r>
              <a:rPr sz="1300" b="0">
                <a:solidFill>
                  <a:srgbClr val="14202E"/>
                </a:solidFill>
                <a:latin typeface="Calibri"/>
              </a:rPr>
              <a:t>Reclasificar por el contenido del mensaje mueve las cifras. En los formularios generales ES y FR, «Otro(s)» agrupa 123 solicitudes; un 86 % tiene tema jurídico (extranjería 33, mercantil 24, fiscal 22, sucesiones 13, inmobiliario 9, laboral 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Tendencias por idioma (1/2)</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9</a:t>
            </a:r>
          </a:p>
        </p:txBody>
      </p:sp>
      <p:sp>
        <p:nvSpPr>
          <p:cNvPr id="7" name="TextBox 6"/>
          <p:cNvSpPr txBox="1"/>
          <p:nvPr/>
        </p:nvSpPr>
        <p:spPr>
          <a:xfrm>
            <a:off x="548640" y="1417320"/>
            <a:ext cx="11064240" cy="502920"/>
          </a:xfrm>
          <a:prstGeom prst="rect">
            <a:avLst/>
          </a:prstGeom>
          <a:noFill/>
        </p:spPr>
        <p:txBody>
          <a:bodyPr wrap="square" lIns="45720" rIns="45720" tIns="27432" bIns="27432">
            <a:spAutoFit/>
          </a:bodyPr>
          <a:lstStyle/>
          <a:p>
            <a:pPr>
              <a:spcAft>
                <a:spcPts val="400"/>
              </a:spcAft>
            </a:pPr>
            <a:r>
              <a:rPr sz="1100" b="0">
                <a:solidFill>
                  <a:srgbClr val="556575"/>
                </a:solidFill>
                <a:latin typeface="Calibri"/>
              </a:rPr>
              <a:t>Cada tarjeta resume a quién atiende el formulario de ese idioma, qué pide y qué sobresale frente al resto. «Sobresale» compara el peso de un subtema en ese idioma con el peso en los otros dos (ES frente a FR y al revés).</a:t>
            </a:r>
          </a:p>
        </p:txBody>
      </p:sp>
      <p:sp>
        <p:nvSpPr>
          <p:cNvPr id="8" name="Rounded Rectangle 7"/>
          <p:cNvSpPr/>
          <p:nvPr/>
        </p:nvSpPr>
        <p:spPr>
          <a:xfrm>
            <a:off x="548640" y="2011680"/>
            <a:ext cx="5440680" cy="434340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84831"/>
            <a:ext cx="5166360" cy="411480"/>
          </a:xfrm>
          <a:prstGeom prst="rect">
            <a:avLst/>
          </a:prstGeom>
          <a:noFill/>
        </p:spPr>
        <p:txBody>
          <a:bodyPr wrap="square" lIns="45720" rIns="45720" tIns="27432" bIns="27432">
            <a:spAutoFit/>
          </a:bodyPr>
          <a:lstStyle/>
          <a:p>
            <a:pPr>
              <a:spcAft>
                <a:spcPts val="400"/>
              </a:spcAft>
            </a:pPr>
            <a:r>
              <a:rPr sz="1400" b="1">
                <a:solidFill>
                  <a:srgbClr val="C9531A"/>
                </a:solidFill>
                <a:latin typeface="Calibri"/>
              </a:rPr>
              <a:t>Español: residentes con asuntos del día a día</a:t>
            </a:r>
          </a:p>
        </p:txBody>
      </p:sp>
      <p:sp>
        <p:nvSpPr>
          <p:cNvPr id="10" name="TextBox 9"/>
          <p:cNvSpPr txBox="1"/>
          <p:nvPr/>
        </p:nvSpPr>
        <p:spPr>
          <a:xfrm>
            <a:off x="685800" y="2514600"/>
            <a:ext cx="5166360" cy="141732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Un 82 % son particulares. 74 % de quienes dan país viven en España. El formulario ES también recoge a no hispanohablantes: 61 de 244 mensajes llegan en inglés, francés o ruso. Predominan inmuebles (compra, notaría, alquiler), herencia, trabajo (despido, contrato, salario) y Hacienda.</a:t>
            </a:r>
          </a:p>
        </p:txBody>
      </p:sp>
      <p:graphicFrame>
        <p:nvGraphicFramePr>
          <p:cNvPr id="11" name="Chart 10"/>
          <p:cNvGraphicFramePr>
            <a:graphicFrameLocks noGrp="1"/>
          </p:cNvGraphicFramePr>
          <p:nvPr/>
        </p:nvGraphicFramePr>
        <p:xfrm>
          <a:off x="640080" y="3931920"/>
          <a:ext cx="3291840" cy="2377440"/>
        </p:xfrm>
        <a:graphic>
          <a:graphicData uri="http://schemas.openxmlformats.org/drawingml/2006/chart">
            <c:chart xmlns:c="http://schemas.openxmlformats.org/drawingml/2006/chart" r:id="rId2"/>
          </a:graphicData>
        </a:graphic>
      </p:graphicFrame>
      <p:sp>
        <p:nvSpPr>
          <p:cNvPr id="12" name="TextBox 11"/>
          <p:cNvSpPr txBox="1"/>
          <p:nvPr/>
        </p:nvSpPr>
        <p:spPr>
          <a:xfrm>
            <a:off x="3977639" y="3977639"/>
            <a:ext cx="1920240" cy="2331720"/>
          </a:xfrm>
          <a:prstGeom prst="rect">
            <a:avLst/>
          </a:prstGeom>
          <a:noFill/>
        </p:spPr>
        <p:txBody>
          <a:bodyPr wrap="square" lIns="45720" rIns="45720" tIns="27432" bIns="27432">
            <a:spAutoFit/>
          </a:bodyPr>
          <a:lstStyle/>
          <a:p>
            <a:pPr>
              <a:spcAft>
                <a:spcPts val="300"/>
              </a:spcAft>
            </a:pPr>
            <a:r>
              <a:rPr sz="1000" b="1">
                <a:solidFill>
                  <a:srgbClr val="0B5C7A"/>
                </a:solidFill>
                <a:latin typeface="Calibri"/>
              </a:rPr>
              <a:t>Sobresale frente al otro idioma</a:t>
            </a:r>
          </a:p>
          <a:p>
            <a:pPr>
              <a:spcAft>
                <a:spcPts val="300"/>
              </a:spcAft>
            </a:pPr>
            <a:r>
              <a:rPr sz="900" b="0">
                <a:solidFill>
                  <a:srgbClr val="14202E"/>
                </a:solidFill>
                <a:latin typeface="Calibri"/>
              </a:rPr>
              <a:t>Renovación / residencia de larga duración ×17</a:t>
            </a:r>
          </a:p>
          <a:p>
            <a:pPr>
              <a:spcAft>
                <a:spcPts val="300"/>
              </a:spcAft>
            </a:pPr>
            <a:r>
              <a:rPr sz="900" b="0">
                <a:solidFill>
                  <a:srgbClr val="14202E"/>
                </a:solidFill>
                <a:latin typeface="Calibri"/>
              </a:rPr>
              <a:t>Escritura, notaría y registro de la propiedad ×6.7</a:t>
            </a:r>
          </a:p>
          <a:p>
            <a:pPr>
              <a:spcAft>
                <a:spcPts val="300"/>
              </a:spcAft>
            </a:pPr>
            <a:r>
              <a:rPr sz="900" b="0">
                <a:solidFill>
                  <a:srgbClr val="14202E"/>
                </a:solidFill>
                <a:latin typeface="Calibri"/>
              </a:rPr>
              <a:t>Nóminas, impago de salarios, reclamaciones ×6.3</a:t>
            </a:r>
          </a:p>
          <a:p>
            <a:pPr>
              <a:spcAft>
                <a:spcPts val="300"/>
              </a:spcAft>
            </a:pPr>
            <a:r>
              <a:rPr sz="900" b="0">
                <a:solidFill>
                  <a:srgbClr val="14202E"/>
                </a:solidFill>
                <a:latin typeface="Calibri"/>
              </a:rPr>
              <a:t>Despido, finiquito e indemnización ×5.7</a:t>
            </a:r>
          </a:p>
          <a:p>
            <a:pPr>
              <a:spcAft>
                <a:spcPts val="300"/>
              </a:spcAft>
            </a:pPr>
            <a:r>
              <a:rPr sz="900" b="0">
                <a:solidFill>
                  <a:srgbClr val="14202E"/>
                </a:solidFill>
                <a:latin typeface="Calibri"/>
              </a:rPr>
              <a:t>Requerimiento, inspección o sanción de Hacienda ×4.6</a:t>
            </a:r>
          </a:p>
        </p:txBody>
      </p:sp>
      <p:sp>
        <p:nvSpPr>
          <p:cNvPr id="13" name="Rounded Rectangle 12"/>
          <p:cNvSpPr/>
          <p:nvPr/>
        </p:nvSpPr>
        <p:spPr>
          <a:xfrm>
            <a:off x="6172200" y="2011680"/>
            <a:ext cx="5440680" cy="434340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084831"/>
            <a:ext cx="5166360" cy="411480"/>
          </a:xfrm>
          <a:prstGeom prst="rect">
            <a:avLst/>
          </a:prstGeom>
          <a:noFill/>
        </p:spPr>
        <p:txBody>
          <a:bodyPr wrap="square" lIns="45720" rIns="45720" tIns="27432" bIns="27432">
            <a:spAutoFit/>
          </a:bodyPr>
          <a:lstStyle/>
          <a:p>
            <a:pPr>
              <a:spcAft>
                <a:spcPts val="400"/>
              </a:spcAft>
            </a:pPr>
            <a:r>
              <a:rPr sz="1400" b="1">
                <a:solidFill>
                  <a:srgbClr val="1F63B5"/>
                </a:solidFill>
                <a:latin typeface="Calibri"/>
              </a:rPr>
              <a:t>Francés: franceses que preparan su instalación</a:t>
            </a:r>
          </a:p>
        </p:txBody>
      </p:sp>
      <p:sp>
        <p:nvSpPr>
          <p:cNvPr id="15" name="TextBox 14"/>
          <p:cNvSpPr txBox="1"/>
          <p:nvPr/>
        </p:nvSpPr>
        <p:spPr>
          <a:xfrm>
            <a:off x="6309360" y="2514600"/>
            <a:ext cx="5166360" cy="141732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Un 79 % son particulares y un 21 % empresas (el porcentaje más alto). 79 % de quienes dan país viven fuera de España. Piden NIE, crear empresa o autónomo, comprar vivienda, instalarse y fiscalidad franco-española; aparecen nacionalidades argelina, belga y marroquí además de la francesa.</a:t>
            </a:r>
          </a:p>
        </p:txBody>
      </p:sp>
      <p:graphicFrame>
        <p:nvGraphicFramePr>
          <p:cNvPr id="16" name="Chart 15"/>
          <p:cNvGraphicFramePr>
            <a:graphicFrameLocks noGrp="1"/>
          </p:cNvGraphicFramePr>
          <p:nvPr/>
        </p:nvGraphicFramePr>
        <p:xfrm>
          <a:off x="6263640" y="3931920"/>
          <a:ext cx="3291840" cy="2377440"/>
        </p:xfrm>
        <a:graphic>
          <a:graphicData uri="http://schemas.openxmlformats.org/drawingml/2006/chart">
            <c:chart xmlns:c="http://schemas.openxmlformats.org/drawingml/2006/chart" r:id="rId3"/>
          </a:graphicData>
        </a:graphic>
      </p:graphicFrame>
      <p:sp>
        <p:nvSpPr>
          <p:cNvPr id="17" name="TextBox 16"/>
          <p:cNvSpPr txBox="1"/>
          <p:nvPr/>
        </p:nvSpPr>
        <p:spPr>
          <a:xfrm>
            <a:off x="9601200" y="3977639"/>
            <a:ext cx="1920240" cy="2331720"/>
          </a:xfrm>
          <a:prstGeom prst="rect">
            <a:avLst/>
          </a:prstGeom>
          <a:noFill/>
        </p:spPr>
        <p:txBody>
          <a:bodyPr wrap="square" lIns="45720" rIns="45720" tIns="27432" bIns="27432">
            <a:spAutoFit/>
          </a:bodyPr>
          <a:lstStyle/>
          <a:p>
            <a:pPr>
              <a:spcAft>
                <a:spcPts val="300"/>
              </a:spcAft>
            </a:pPr>
            <a:r>
              <a:rPr sz="1000" b="1">
                <a:solidFill>
                  <a:srgbClr val="0B5C7A"/>
                </a:solidFill>
                <a:latin typeface="Calibri"/>
              </a:rPr>
              <a:t>Sobresale frente al otro idioma</a:t>
            </a:r>
          </a:p>
          <a:p>
            <a:pPr>
              <a:spcAft>
                <a:spcPts val="300"/>
              </a:spcAft>
            </a:pPr>
            <a:r>
              <a:rPr sz="900" b="0">
                <a:solidFill>
                  <a:srgbClr val="14202E"/>
                </a:solidFill>
                <a:latin typeface="Calibri"/>
              </a:rPr>
              <a:t>Emprendedor / ENISA / startups ×3.5</a:t>
            </a:r>
          </a:p>
          <a:p>
            <a:pPr>
              <a:spcAft>
                <a:spcPts val="300"/>
              </a:spcAft>
            </a:pPr>
            <a:r>
              <a:rPr sz="900" b="0">
                <a:solidFill>
                  <a:srgbClr val="14202E"/>
                </a:solidFill>
                <a:latin typeface="Calibri"/>
              </a:rPr>
              <a:t>Traslado e instalación en España ×2.2</a:t>
            </a:r>
          </a:p>
          <a:p>
            <a:pPr>
              <a:spcAft>
                <a:spcPts val="300"/>
              </a:spcAft>
            </a:pPr>
            <a:r>
              <a:rPr sz="900" b="0">
                <a:solidFill>
                  <a:srgbClr val="14202E"/>
                </a:solidFill>
                <a:latin typeface="Calibri"/>
              </a:rPr>
              <a:t>NIE y TIE (tarjeta) ×1.9</a:t>
            </a:r>
          </a:p>
          <a:p>
            <a:pPr>
              <a:spcAft>
                <a:spcPts val="300"/>
              </a:spcAft>
            </a:pPr>
            <a:r>
              <a:rPr sz="900" b="0">
                <a:solidFill>
                  <a:srgbClr val="14202E"/>
                </a:solidFill>
                <a:latin typeface="Calibri"/>
              </a:rPr>
              <a:t>Estancia irregular / overstay / 90 días ×1.9</a:t>
            </a:r>
          </a:p>
          <a:p>
            <a:pPr>
              <a:spcAft>
                <a:spcPts val="300"/>
              </a:spcAft>
            </a:pPr>
            <a:r>
              <a:rPr sz="900" b="0">
                <a:solidFill>
                  <a:srgbClr val="14202E"/>
                </a:solidFill>
                <a:latin typeface="Calibri"/>
              </a:rPr>
              <a:t>Planificación patrimonial y holding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Tendencias por idioma (2/2)</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10</a:t>
            </a:r>
          </a:p>
        </p:txBody>
      </p:sp>
      <p:sp>
        <p:nvSpPr>
          <p:cNvPr id="7" name="Rounded Rectangle 6"/>
          <p:cNvSpPr/>
          <p:nvPr/>
        </p:nvSpPr>
        <p:spPr>
          <a:xfrm>
            <a:off x="548640" y="1508760"/>
            <a:ext cx="5440680" cy="214884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72768"/>
            <a:ext cx="5166360" cy="411480"/>
          </a:xfrm>
          <a:prstGeom prst="rect">
            <a:avLst/>
          </a:prstGeom>
          <a:noFill/>
        </p:spPr>
        <p:txBody>
          <a:bodyPr wrap="square" lIns="45720" rIns="45720" tIns="27432" bIns="27432">
            <a:spAutoFit/>
          </a:bodyPr>
          <a:lstStyle/>
          <a:p>
            <a:pPr>
              <a:spcAft>
                <a:spcPts val="400"/>
              </a:spcAft>
            </a:pPr>
            <a:r>
              <a:rPr sz="1300" b="1">
                <a:solidFill>
                  <a:srgbClr val="0F8A67"/>
                </a:solidFill>
                <a:latin typeface="Calibri"/>
              </a:rPr>
              <a:t>Inglés: visados, teletrabajo y fiscalidad del recién llegado</a:t>
            </a:r>
          </a:p>
        </p:txBody>
      </p:sp>
      <p:sp>
        <p:nvSpPr>
          <p:cNvPr id="9" name="TextBox 8"/>
          <p:cNvSpPr txBox="1"/>
          <p:nvPr/>
        </p:nvSpPr>
        <p:spPr>
          <a:xfrm>
            <a:off x="685800" y="2011680"/>
            <a:ext cx="5166360" cy="1600200"/>
          </a:xfrm>
          <a:prstGeom prst="rect">
            <a:avLst/>
          </a:prstGeom>
          <a:noFill/>
        </p:spPr>
        <p:txBody>
          <a:bodyPr wrap="square" lIns="45720" rIns="45720" tIns="27432" bIns="27432">
            <a:spAutoFit/>
          </a:bodyPr>
          <a:lstStyle/>
          <a:p>
            <a:pPr>
              <a:spcAft>
                <a:spcPts val="400"/>
              </a:spcAft>
            </a:pPr>
            <a:r>
              <a:rPr sz="1200" b="0">
                <a:solidFill>
                  <a:srgbClr val="14202E"/>
                </a:solidFill>
                <a:latin typeface="Calibri"/>
              </a:rPr>
              <a:t>Solo se pudo leer el texto del formulario de inmigración EN (33 mensajes); los otros 343 se conocen por el desplegable: 193 extranjería, 113 fiscal. 61 % de quienes dan país están ya en España; destacan EE. UU./Canadá y Reino Unido. Piden nómada digital, no lucrativa, reagrupación de pareja, Beckham y el cómputo de 183 días. Tendencia al alza.</a:t>
            </a:r>
          </a:p>
        </p:txBody>
      </p:sp>
      <p:sp>
        <p:nvSpPr>
          <p:cNvPr id="10" name="Rounded Rectangle 9"/>
          <p:cNvSpPr/>
          <p:nvPr/>
        </p:nvSpPr>
        <p:spPr>
          <a:xfrm>
            <a:off x="6172200" y="1508760"/>
            <a:ext cx="5440680" cy="214884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572768"/>
            <a:ext cx="5166360" cy="411480"/>
          </a:xfrm>
          <a:prstGeom prst="rect">
            <a:avLst/>
          </a:prstGeom>
          <a:noFill/>
        </p:spPr>
        <p:txBody>
          <a:bodyPr wrap="square" lIns="45720" rIns="45720" tIns="27432" bIns="27432">
            <a:spAutoFit/>
          </a:bodyPr>
          <a:lstStyle/>
          <a:p>
            <a:pPr>
              <a:spcAft>
                <a:spcPts val="400"/>
              </a:spcAft>
            </a:pPr>
            <a:r>
              <a:rPr sz="1400" b="1">
                <a:solidFill>
                  <a:srgbClr val="9A4A8C"/>
                </a:solidFill>
                <a:latin typeface="Calibri"/>
              </a:rPr>
              <a:t>Ruso: pocos y concentrados</a:t>
            </a:r>
          </a:p>
        </p:txBody>
      </p:sp>
      <p:sp>
        <p:nvSpPr>
          <p:cNvPr id="12" name="TextBox 11"/>
          <p:cNvSpPr txBox="1"/>
          <p:nvPr/>
        </p:nvSpPr>
        <p:spPr>
          <a:xfrm>
            <a:off x="6309360" y="2011680"/>
            <a:ext cx="5166360" cy="1600200"/>
          </a:xfrm>
          <a:prstGeom prst="rect">
            <a:avLst/>
          </a:prstGeom>
          <a:noFill/>
        </p:spPr>
        <p:txBody>
          <a:bodyPr wrap="square" lIns="45720" rIns="45720" tIns="27432" bIns="27432">
            <a:spAutoFit/>
          </a:bodyPr>
          <a:lstStyle/>
          <a:p>
            <a:pPr>
              <a:spcAft>
                <a:spcPts val="400"/>
              </a:spcAft>
            </a:pPr>
            <a:r>
              <a:rPr sz="1200" b="0">
                <a:solidFill>
                  <a:srgbClr val="14202E"/>
                </a:solidFill>
                <a:latin typeface="Calibri"/>
              </a:rPr>
              <a:t>65 solicitudes en total (28 de extranjería, 14 fiscal, 11 «Otro»). Casi todas llegan desde la página de extranjería o la de contacto. No se analizó el texto de los mensajes rusos.</a:t>
            </a:r>
          </a:p>
        </p:txBody>
      </p:sp>
      <p:graphicFrame>
        <p:nvGraphicFramePr>
          <p:cNvPr id="13" name="Table 12"/>
          <p:cNvGraphicFramePr>
            <a:graphicFrameLocks noGrp="1"/>
          </p:cNvGraphicFramePr>
          <p:nvPr/>
        </p:nvGraphicFramePr>
        <p:xfrm>
          <a:off x="548640" y="3840480"/>
          <a:ext cx="11064237" cy="2304288"/>
        </p:xfrm>
        <a:graphic>
          <a:graphicData uri="http://schemas.openxmlformats.org/drawingml/2006/table">
            <a:tbl>
              <a:tblPr firstRow="1" bandRow="1">
                <a:tableStyleId>{5C22544A-7EE6-4342-B048-85BDC9FD1C3A}</a:tableStyleId>
              </a:tblPr>
              <a:tblGrid>
                <a:gridCol w="4534524"/>
                <a:gridCol w="2176571"/>
                <a:gridCol w="2176571"/>
                <a:gridCol w="2176571"/>
              </a:tblGrid>
              <a:tr h="256032">
                <a:tc>
                  <a:txBody>
                    <a:bodyPr wrap="square"/>
                    <a:lstStyle/>
                    <a:p>
                      <a:r>
                        <a:rPr sz="1000" b="1">
                          <a:solidFill>
                            <a:srgbClr val="FFFFFF"/>
                          </a:solidFill>
                          <a:latin typeface="Calibri"/>
                        </a:rPr>
                        <a:t>Evolución de los subtemas (ES y FR, % de solicitudes analizadas)</a:t>
                      </a:r>
                    </a:p>
                  </a:txBody>
                  <a:tcPr marL="54864" marR="54864" marT="22860" marB="22860" anchor="ctr">
                    <a:solidFill>
                      <a:srgbClr val="0B5C7A"/>
                    </a:solidFill>
                  </a:tcPr>
                </a:tc>
                <a:tc>
                  <a:txBody>
                    <a:bodyPr wrap="square"/>
                    <a:lstStyle/>
                    <a:p>
                      <a:pPr algn="r"/>
                      <a:r>
                        <a:rPr sz="1000" b="1">
                          <a:solidFill>
                            <a:srgbClr val="FFFFFF"/>
                          </a:solidFill>
                          <a:latin typeface="Calibri"/>
                        </a:rPr>
                        <a:t>2024-10 → 2025-09 (n = 332)</a:t>
                      </a:r>
                    </a:p>
                  </a:txBody>
                  <a:tcPr marL="54864" marR="54864" marT="22860" marB="22860" anchor="ctr">
                    <a:solidFill>
                      <a:srgbClr val="0B5C7A"/>
                    </a:solidFill>
                  </a:tcPr>
                </a:tc>
                <a:tc>
                  <a:txBody>
                    <a:bodyPr wrap="square"/>
                    <a:lstStyle/>
                    <a:p>
                      <a:pPr algn="r"/>
                      <a:r>
                        <a:rPr sz="1000" b="1">
                          <a:solidFill>
                            <a:srgbClr val="FFFFFF"/>
                          </a:solidFill>
                          <a:latin typeface="Calibri"/>
                        </a:rPr>
                        <a:t>2025-10 → 2026-03 (n = 177)</a:t>
                      </a:r>
                    </a:p>
                  </a:txBody>
                  <a:tcPr marL="54864" marR="54864" marT="22860" marB="22860" anchor="ctr">
                    <a:solidFill>
                      <a:srgbClr val="0B5C7A"/>
                    </a:solidFill>
                  </a:tcPr>
                </a:tc>
                <a:tc>
                  <a:txBody>
                    <a:bodyPr wrap="square"/>
                    <a:lstStyle/>
                    <a:p>
                      <a:pPr algn="r"/>
                      <a:r>
                        <a:rPr sz="1000" b="1">
                          <a:solidFill>
                            <a:srgbClr val="FFFFFF"/>
                          </a:solidFill>
                          <a:latin typeface="Calibri"/>
                        </a:rPr>
                        <a:t>2026-04 → 2026-10 (n = 199)</a:t>
                      </a:r>
                    </a:p>
                  </a:txBody>
                  <a:tcPr marL="54864" marR="54864" marT="22860" marB="22860" anchor="ctr">
                    <a:solidFill>
                      <a:srgbClr val="0B5C7A"/>
                    </a:solidFill>
                  </a:tcPr>
                </a:tc>
              </a:tr>
              <a:tr h="256032">
                <a:tc>
                  <a:txBody>
                    <a:bodyPr wrap="square"/>
                    <a:lstStyle/>
                    <a:p>
                      <a:r>
                        <a:rPr sz="1000" b="0">
                          <a:solidFill>
                            <a:srgbClr val="14202E"/>
                          </a:solidFill>
                          <a:latin typeface="Calibri"/>
                        </a:rPr>
                        <a:t>Convenio de doble imposición / residencia fiscal</a:t>
                      </a:r>
                    </a:p>
                  </a:txBody>
                  <a:tcPr marL="54864" marR="54864" marT="22860" marB="22860" anchor="ctr">
                    <a:solidFill>
                      <a:srgbClr val="FFFFFF"/>
                    </a:solidFill>
                  </a:tcPr>
                </a:tc>
                <a:tc>
                  <a:txBody>
                    <a:bodyPr wrap="square"/>
                    <a:lstStyle/>
                    <a:p>
                      <a:pPr algn="r"/>
                      <a:r>
                        <a:rPr sz="1000" b="0">
                          <a:solidFill>
                            <a:srgbClr val="14202E"/>
                          </a:solidFill>
                          <a:latin typeface="Calibri"/>
                        </a:rPr>
                        <a:t>6,6 %</a:t>
                      </a:r>
                    </a:p>
                  </a:txBody>
                  <a:tcPr marL="54864" marR="54864" marT="22860" marB="22860" anchor="ctr">
                    <a:solidFill>
                      <a:srgbClr val="FFFFFF"/>
                    </a:solidFill>
                  </a:tcPr>
                </a:tc>
                <a:tc>
                  <a:txBody>
                    <a:bodyPr wrap="square"/>
                    <a:lstStyle/>
                    <a:p>
                      <a:pPr algn="r"/>
                      <a:r>
                        <a:rPr sz="1000" b="0">
                          <a:solidFill>
                            <a:srgbClr val="14202E"/>
                          </a:solidFill>
                          <a:latin typeface="Calibri"/>
                        </a:rPr>
                        <a:t>5,1 %</a:t>
                      </a:r>
                    </a:p>
                  </a:txBody>
                  <a:tcPr marL="54864" marR="54864" marT="22860" marB="22860" anchor="ctr">
                    <a:solidFill>
                      <a:srgbClr val="FFFFFF"/>
                    </a:solidFill>
                  </a:tcPr>
                </a:tc>
                <a:tc>
                  <a:txBody>
                    <a:bodyPr wrap="square"/>
                    <a:lstStyle/>
                    <a:p>
                      <a:pPr algn="r"/>
                      <a:r>
                        <a:rPr sz="1000" b="0">
                          <a:solidFill>
                            <a:srgbClr val="14202E"/>
                          </a:solidFill>
                          <a:latin typeface="Calibri"/>
                        </a:rPr>
                        <a:t>14,6 %</a:t>
                      </a:r>
                    </a:p>
                  </a:txBody>
                  <a:tcPr marL="54864" marR="54864" marT="22860" marB="22860" anchor="ctr">
                    <a:solidFill>
                      <a:srgbClr val="FFFFFF"/>
                    </a:solidFill>
                  </a:tcPr>
                </a:tc>
              </a:tr>
              <a:tr h="256032">
                <a:tc>
                  <a:txBody>
                    <a:bodyPr wrap="square"/>
                    <a:lstStyle/>
                    <a:p>
                      <a:r>
                        <a:rPr sz="1000" b="0">
                          <a:solidFill>
                            <a:srgbClr val="14202E"/>
                          </a:solidFill>
                          <a:latin typeface="Calibri"/>
                        </a:rPr>
                        <a:t>Compra de vivienda / inmueble</a:t>
                      </a:r>
                    </a:p>
                  </a:txBody>
                  <a:tcPr marL="54864" marR="54864" marT="22860" marB="22860" anchor="ctr">
                    <a:solidFill>
                      <a:srgbClr val="FAFBFC"/>
                    </a:solidFill>
                  </a:tcPr>
                </a:tc>
                <a:tc>
                  <a:txBody>
                    <a:bodyPr wrap="square"/>
                    <a:lstStyle/>
                    <a:p>
                      <a:pPr algn="r"/>
                      <a:r>
                        <a:rPr sz="1000" b="0">
                          <a:solidFill>
                            <a:srgbClr val="14202E"/>
                          </a:solidFill>
                          <a:latin typeface="Calibri"/>
                        </a:rPr>
                        <a:t>13,9 %</a:t>
                      </a:r>
                    </a:p>
                  </a:txBody>
                  <a:tcPr marL="54864" marR="54864" marT="22860" marB="22860" anchor="ctr">
                    <a:solidFill>
                      <a:srgbClr val="FAFBFC"/>
                    </a:solidFill>
                  </a:tcPr>
                </a:tc>
                <a:tc>
                  <a:txBody>
                    <a:bodyPr wrap="square"/>
                    <a:lstStyle/>
                    <a:p>
                      <a:pPr algn="r"/>
                      <a:r>
                        <a:rPr sz="1000" b="0">
                          <a:solidFill>
                            <a:srgbClr val="14202E"/>
                          </a:solidFill>
                          <a:latin typeface="Calibri"/>
                        </a:rPr>
                        <a:t>9,6 %</a:t>
                      </a:r>
                    </a:p>
                  </a:txBody>
                  <a:tcPr marL="54864" marR="54864" marT="22860" marB="22860" anchor="ctr">
                    <a:solidFill>
                      <a:srgbClr val="FAFBFC"/>
                    </a:solidFill>
                  </a:tcPr>
                </a:tc>
                <a:tc>
                  <a:txBody>
                    <a:bodyPr wrap="square"/>
                    <a:lstStyle/>
                    <a:p>
                      <a:pPr algn="r"/>
                      <a:r>
                        <a:rPr sz="1000" b="0">
                          <a:solidFill>
                            <a:srgbClr val="14202E"/>
                          </a:solidFill>
                          <a:latin typeface="Calibri"/>
                        </a:rPr>
                        <a:t>10,6 %</a:t>
                      </a:r>
                    </a:p>
                  </a:txBody>
                  <a:tcPr marL="54864" marR="54864" marT="22860" marB="22860" anchor="ctr">
                    <a:solidFill>
                      <a:srgbClr val="FAFBFC"/>
                    </a:solidFill>
                  </a:tcPr>
                </a:tc>
              </a:tr>
              <a:tr h="256032">
                <a:tc>
                  <a:txBody>
                    <a:bodyPr wrap="square"/>
                    <a:lstStyle/>
                    <a:p>
                      <a:r>
                        <a:rPr sz="1000" b="0">
                          <a:solidFill>
                            <a:srgbClr val="14202E"/>
                          </a:solidFill>
                          <a:latin typeface="Calibri"/>
                        </a:rPr>
                        <a:t>NIE y TIE (tarjeta)</a:t>
                      </a:r>
                    </a:p>
                  </a:txBody>
                  <a:tcPr marL="54864" marR="54864" marT="22860" marB="22860" anchor="ctr">
                    <a:solidFill>
                      <a:srgbClr val="FFFFFF"/>
                    </a:solidFill>
                  </a:tcPr>
                </a:tc>
                <a:tc>
                  <a:txBody>
                    <a:bodyPr wrap="square"/>
                    <a:lstStyle/>
                    <a:p>
                      <a:pPr algn="r"/>
                      <a:r>
                        <a:rPr sz="1000" b="0">
                          <a:solidFill>
                            <a:srgbClr val="14202E"/>
                          </a:solidFill>
                          <a:latin typeface="Calibri"/>
                        </a:rPr>
                        <a:t>12,7 %</a:t>
                      </a:r>
                    </a:p>
                  </a:txBody>
                  <a:tcPr marL="54864" marR="54864" marT="22860" marB="22860" anchor="ctr">
                    <a:solidFill>
                      <a:srgbClr val="FFFFFF"/>
                    </a:solidFill>
                  </a:tcPr>
                </a:tc>
                <a:tc>
                  <a:txBody>
                    <a:bodyPr wrap="square"/>
                    <a:lstStyle/>
                    <a:p>
                      <a:pPr algn="r"/>
                      <a:r>
                        <a:rPr sz="1000" b="0">
                          <a:solidFill>
                            <a:srgbClr val="14202E"/>
                          </a:solidFill>
                          <a:latin typeface="Calibri"/>
                        </a:rPr>
                        <a:t>7,3 %</a:t>
                      </a:r>
                    </a:p>
                  </a:txBody>
                  <a:tcPr marL="54864" marR="54864" marT="22860" marB="22860" anchor="ctr">
                    <a:solidFill>
                      <a:srgbClr val="FFFFFF"/>
                    </a:solidFill>
                  </a:tcPr>
                </a:tc>
                <a:tc>
                  <a:txBody>
                    <a:bodyPr wrap="square"/>
                    <a:lstStyle/>
                    <a:p>
                      <a:pPr algn="r"/>
                      <a:r>
                        <a:rPr sz="1000" b="0">
                          <a:solidFill>
                            <a:srgbClr val="14202E"/>
                          </a:solidFill>
                          <a:latin typeface="Calibri"/>
                        </a:rPr>
                        <a:t>9,5 %</a:t>
                      </a:r>
                    </a:p>
                  </a:txBody>
                  <a:tcPr marL="54864" marR="54864" marT="22860" marB="22860" anchor="ctr">
                    <a:solidFill>
                      <a:srgbClr val="FFFFFF"/>
                    </a:solidFill>
                  </a:tcPr>
                </a:tc>
              </a:tr>
              <a:tr h="256032">
                <a:tc>
                  <a:txBody>
                    <a:bodyPr wrap="square"/>
                    <a:lstStyle/>
                    <a:p>
                      <a:r>
                        <a:rPr sz="1000" b="0">
                          <a:solidFill>
                            <a:srgbClr val="14202E"/>
                          </a:solidFill>
                          <a:latin typeface="Calibri"/>
                        </a:rPr>
                        <a:t>Crear una sociedad / abrir un negocio</a:t>
                      </a:r>
                    </a:p>
                  </a:txBody>
                  <a:tcPr marL="54864" marR="54864" marT="22860" marB="22860" anchor="ctr">
                    <a:solidFill>
                      <a:srgbClr val="FAFBFC"/>
                    </a:solidFill>
                  </a:tcPr>
                </a:tc>
                <a:tc>
                  <a:txBody>
                    <a:bodyPr wrap="square"/>
                    <a:lstStyle/>
                    <a:p>
                      <a:pPr algn="r"/>
                      <a:r>
                        <a:rPr sz="1000" b="0">
                          <a:solidFill>
                            <a:srgbClr val="14202E"/>
                          </a:solidFill>
                          <a:latin typeface="Calibri"/>
                        </a:rPr>
                        <a:t>9,9 %</a:t>
                      </a:r>
                    </a:p>
                  </a:txBody>
                  <a:tcPr marL="54864" marR="54864" marT="22860" marB="22860" anchor="ctr">
                    <a:solidFill>
                      <a:srgbClr val="FAFBFC"/>
                    </a:solidFill>
                  </a:tcPr>
                </a:tc>
                <a:tc>
                  <a:txBody>
                    <a:bodyPr wrap="square"/>
                    <a:lstStyle/>
                    <a:p>
                      <a:pPr algn="r"/>
                      <a:r>
                        <a:rPr sz="1000" b="0">
                          <a:solidFill>
                            <a:srgbClr val="14202E"/>
                          </a:solidFill>
                          <a:latin typeface="Calibri"/>
                        </a:rPr>
                        <a:t>9,6 %</a:t>
                      </a:r>
                    </a:p>
                  </a:txBody>
                  <a:tcPr marL="54864" marR="54864" marT="22860" marB="22860" anchor="ctr">
                    <a:solidFill>
                      <a:srgbClr val="FAFBFC"/>
                    </a:solidFill>
                  </a:tcPr>
                </a:tc>
                <a:tc>
                  <a:txBody>
                    <a:bodyPr wrap="square"/>
                    <a:lstStyle/>
                    <a:p>
                      <a:pPr algn="r"/>
                      <a:r>
                        <a:rPr sz="1000" b="0">
                          <a:solidFill>
                            <a:srgbClr val="14202E"/>
                          </a:solidFill>
                          <a:latin typeface="Calibri"/>
                        </a:rPr>
                        <a:t>12,1 %</a:t>
                      </a:r>
                    </a:p>
                  </a:txBody>
                  <a:tcPr marL="54864" marR="54864" marT="22860" marB="22860" anchor="ctr">
                    <a:solidFill>
                      <a:srgbClr val="FAFBFC"/>
                    </a:solidFill>
                  </a:tcPr>
                </a:tc>
              </a:tr>
              <a:tr h="256032">
                <a:tc>
                  <a:txBody>
                    <a:bodyPr wrap="square"/>
                    <a:lstStyle/>
                    <a:p>
                      <a:r>
                        <a:rPr sz="1000" b="0">
                          <a:solidFill>
                            <a:srgbClr val="14202E"/>
                          </a:solidFill>
                          <a:latin typeface="Calibri"/>
                        </a:rPr>
                        <a:t>Herencia, testamento y declaración de herederos</a:t>
                      </a:r>
                    </a:p>
                  </a:txBody>
                  <a:tcPr marL="54864" marR="54864" marT="22860" marB="22860" anchor="ctr">
                    <a:solidFill>
                      <a:srgbClr val="FFFFFF"/>
                    </a:solidFill>
                  </a:tcPr>
                </a:tc>
                <a:tc>
                  <a:txBody>
                    <a:bodyPr wrap="square"/>
                    <a:lstStyle/>
                    <a:p>
                      <a:pPr algn="r"/>
                      <a:r>
                        <a:rPr sz="1000" b="0">
                          <a:solidFill>
                            <a:srgbClr val="14202E"/>
                          </a:solidFill>
                          <a:latin typeface="Calibri"/>
                        </a:rPr>
                        <a:t>7,2 %</a:t>
                      </a:r>
                    </a:p>
                  </a:txBody>
                  <a:tcPr marL="54864" marR="54864" marT="22860" marB="22860" anchor="ctr">
                    <a:solidFill>
                      <a:srgbClr val="FFFFFF"/>
                    </a:solidFill>
                  </a:tcPr>
                </a:tc>
                <a:tc>
                  <a:txBody>
                    <a:bodyPr wrap="square"/>
                    <a:lstStyle/>
                    <a:p>
                      <a:pPr algn="r"/>
                      <a:r>
                        <a:rPr sz="1000" b="0">
                          <a:solidFill>
                            <a:srgbClr val="14202E"/>
                          </a:solidFill>
                          <a:latin typeface="Calibri"/>
                        </a:rPr>
                        <a:t>11,3 %</a:t>
                      </a:r>
                    </a:p>
                  </a:txBody>
                  <a:tcPr marL="54864" marR="54864" marT="22860" marB="22860" anchor="ctr">
                    <a:solidFill>
                      <a:srgbClr val="FFFFFF"/>
                    </a:solidFill>
                  </a:tcPr>
                </a:tc>
                <a:tc>
                  <a:txBody>
                    <a:bodyPr wrap="square"/>
                    <a:lstStyle/>
                    <a:p>
                      <a:pPr algn="r"/>
                      <a:r>
                        <a:rPr sz="1000" b="0">
                          <a:solidFill>
                            <a:srgbClr val="14202E"/>
                          </a:solidFill>
                          <a:latin typeface="Calibri"/>
                        </a:rPr>
                        <a:t>10,1 %</a:t>
                      </a:r>
                    </a:p>
                  </a:txBody>
                  <a:tcPr marL="54864" marR="54864" marT="22860" marB="22860" anchor="ctr">
                    <a:solidFill>
                      <a:srgbClr val="FFFFFF"/>
                    </a:solidFill>
                  </a:tcPr>
                </a:tc>
              </a:tr>
              <a:tr h="256032">
                <a:tc>
                  <a:txBody>
                    <a:bodyPr wrap="square"/>
                    <a:lstStyle/>
                    <a:p>
                      <a:r>
                        <a:rPr sz="1000" b="0">
                          <a:solidFill>
                            <a:srgbClr val="14202E"/>
                          </a:solidFill>
                          <a:latin typeface="Calibri"/>
                        </a:rPr>
                        <a:t>Escritura, notaría y registro de la propiedad</a:t>
                      </a:r>
                    </a:p>
                  </a:txBody>
                  <a:tcPr marL="54864" marR="54864" marT="22860" marB="22860" anchor="ctr">
                    <a:solidFill>
                      <a:srgbClr val="FAFBFC"/>
                    </a:solidFill>
                  </a:tcPr>
                </a:tc>
                <a:tc>
                  <a:txBody>
                    <a:bodyPr wrap="square"/>
                    <a:lstStyle/>
                    <a:p>
                      <a:pPr algn="r"/>
                      <a:r>
                        <a:rPr sz="1000" b="0">
                          <a:solidFill>
                            <a:srgbClr val="14202E"/>
                          </a:solidFill>
                          <a:latin typeface="Calibri"/>
                        </a:rPr>
                        <a:t>3,9 %</a:t>
                      </a:r>
                    </a:p>
                  </a:txBody>
                  <a:tcPr marL="54864" marR="54864" marT="22860" marB="22860" anchor="ctr">
                    <a:solidFill>
                      <a:srgbClr val="FAFBFC"/>
                    </a:solidFill>
                  </a:tcPr>
                </a:tc>
                <a:tc>
                  <a:txBody>
                    <a:bodyPr wrap="square"/>
                    <a:lstStyle/>
                    <a:p>
                      <a:pPr algn="r"/>
                      <a:r>
                        <a:rPr sz="1000" b="0">
                          <a:solidFill>
                            <a:srgbClr val="14202E"/>
                          </a:solidFill>
                          <a:latin typeface="Calibri"/>
                        </a:rPr>
                        <a:t>4,0 %</a:t>
                      </a:r>
                    </a:p>
                  </a:txBody>
                  <a:tcPr marL="54864" marR="54864" marT="22860" marB="22860" anchor="ctr">
                    <a:solidFill>
                      <a:srgbClr val="FAFBFC"/>
                    </a:solidFill>
                  </a:tcPr>
                </a:tc>
                <a:tc>
                  <a:txBody>
                    <a:bodyPr wrap="square"/>
                    <a:lstStyle/>
                    <a:p>
                      <a:pPr algn="r"/>
                      <a:r>
                        <a:rPr sz="1000" b="0">
                          <a:solidFill>
                            <a:srgbClr val="14202E"/>
                          </a:solidFill>
                          <a:latin typeface="Calibri"/>
                        </a:rPr>
                        <a:t>8,0 %</a:t>
                      </a:r>
                    </a:p>
                  </a:txBody>
                  <a:tcPr marL="54864" marR="54864" marT="22860" marB="22860" anchor="ctr">
                    <a:solidFill>
                      <a:srgbClr val="FAFBFC"/>
                    </a:solidFill>
                  </a:tcPr>
                </a:tc>
              </a:tr>
              <a:tr h="256032">
                <a:tc>
                  <a:txBody>
                    <a:bodyPr wrap="square"/>
                    <a:lstStyle/>
                    <a:p>
                      <a:r>
                        <a:rPr sz="1000" b="0">
                          <a:solidFill>
                            <a:srgbClr val="14202E"/>
                          </a:solidFill>
                          <a:latin typeface="Calibri"/>
                        </a:rPr>
                        <a:t>IVA, contabilidad, gestoría e impuesto de sociedades</a:t>
                      </a:r>
                    </a:p>
                  </a:txBody>
                  <a:tcPr marL="54864" marR="54864" marT="22860" marB="22860" anchor="ctr">
                    <a:solidFill>
                      <a:srgbClr val="FFFFFF"/>
                    </a:solidFill>
                  </a:tcPr>
                </a:tc>
                <a:tc>
                  <a:txBody>
                    <a:bodyPr wrap="square"/>
                    <a:lstStyle/>
                    <a:p>
                      <a:pPr algn="r"/>
                      <a:r>
                        <a:rPr sz="1000" b="0">
                          <a:solidFill>
                            <a:srgbClr val="14202E"/>
                          </a:solidFill>
                          <a:latin typeface="Calibri"/>
                        </a:rPr>
                        <a:t>4,8 %</a:t>
                      </a:r>
                    </a:p>
                  </a:txBody>
                  <a:tcPr marL="54864" marR="54864" marT="22860" marB="22860" anchor="ctr">
                    <a:solidFill>
                      <a:srgbClr val="FFFFFF"/>
                    </a:solidFill>
                  </a:tcPr>
                </a:tc>
                <a:tc>
                  <a:txBody>
                    <a:bodyPr wrap="square"/>
                    <a:lstStyle/>
                    <a:p>
                      <a:pPr algn="r"/>
                      <a:r>
                        <a:rPr sz="1000" b="0">
                          <a:solidFill>
                            <a:srgbClr val="14202E"/>
                          </a:solidFill>
                          <a:latin typeface="Calibri"/>
                        </a:rPr>
                        <a:t>7,3 %</a:t>
                      </a:r>
                    </a:p>
                  </a:txBody>
                  <a:tcPr marL="54864" marR="54864" marT="22860" marB="22860" anchor="ctr">
                    <a:solidFill>
                      <a:srgbClr val="FFFFFF"/>
                    </a:solidFill>
                  </a:tcPr>
                </a:tc>
                <a:tc>
                  <a:txBody>
                    <a:bodyPr wrap="square"/>
                    <a:lstStyle/>
                    <a:p>
                      <a:pPr algn="r"/>
                      <a:r>
                        <a:rPr sz="1000" b="0">
                          <a:solidFill>
                            <a:srgbClr val="14202E"/>
                          </a:solidFill>
                          <a:latin typeface="Calibri"/>
                        </a:rPr>
                        <a:t>7,5 %</a:t>
                      </a:r>
                    </a:p>
                  </a:txBody>
                  <a:tcPr marL="54864" marR="54864" marT="22860" marB="22860" anchor="ctr">
                    <a:solidFill>
                      <a:srgbClr val="FFFFFF"/>
                    </a:solidFill>
                  </a:tcPr>
                </a:tc>
              </a:tr>
              <a:tr h="256032">
                <a:tc>
                  <a:txBody>
                    <a:bodyPr wrap="square"/>
                    <a:lstStyle/>
                    <a:p>
                      <a:r>
                        <a:rPr sz="1000" b="0">
                          <a:solidFill>
                            <a:srgbClr val="14202E"/>
                          </a:solidFill>
                          <a:latin typeface="Calibri"/>
                        </a:rPr>
                        <a:t>Visado consular</a:t>
                      </a:r>
                    </a:p>
                  </a:txBody>
                  <a:tcPr marL="54864" marR="54864" marT="22860" marB="22860" anchor="ctr">
                    <a:solidFill>
                      <a:srgbClr val="FAFBFC"/>
                    </a:solidFill>
                  </a:tcPr>
                </a:tc>
                <a:tc>
                  <a:txBody>
                    <a:bodyPr wrap="square"/>
                    <a:lstStyle/>
                    <a:p>
                      <a:pPr algn="r"/>
                      <a:r>
                        <a:rPr sz="1000" b="0">
                          <a:solidFill>
                            <a:srgbClr val="14202E"/>
                          </a:solidFill>
                          <a:latin typeface="Calibri"/>
                        </a:rPr>
                        <a:t>6,0 %</a:t>
                      </a:r>
                    </a:p>
                  </a:txBody>
                  <a:tcPr marL="54864" marR="54864" marT="22860" marB="22860" anchor="ctr">
                    <a:solidFill>
                      <a:srgbClr val="FAFBFC"/>
                    </a:solidFill>
                  </a:tcPr>
                </a:tc>
                <a:tc>
                  <a:txBody>
                    <a:bodyPr wrap="square"/>
                    <a:lstStyle/>
                    <a:p>
                      <a:pPr algn="r"/>
                      <a:r>
                        <a:rPr sz="1000" b="0">
                          <a:solidFill>
                            <a:srgbClr val="14202E"/>
                          </a:solidFill>
                          <a:latin typeface="Calibri"/>
                        </a:rPr>
                        <a:t>5,1 %</a:t>
                      </a:r>
                    </a:p>
                  </a:txBody>
                  <a:tcPr marL="54864" marR="54864" marT="22860" marB="22860" anchor="ctr">
                    <a:solidFill>
                      <a:srgbClr val="FAFBFC"/>
                    </a:solidFill>
                  </a:tcPr>
                </a:tc>
                <a:tc>
                  <a:txBody>
                    <a:bodyPr wrap="square"/>
                    <a:lstStyle/>
                    <a:p>
                      <a:pPr algn="r"/>
                      <a:r>
                        <a:rPr sz="1000" b="0">
                          <a:solidFill>
                            <a:srgbClr val="14202E"/>
                          </a:solidFill>
                          <a:latin typeface="Calibri"/>
                        </a:rPr>
                        <a:t>7,0 %</a:t>
                      </a:r>
                    </a:p>
                  </a:txBody>
                  <a:tcPr marL="54864" marR="54864" marT="22860" marB="22860" anchor="ctr">
                    <a:solidFill>
                      <a:srgbClr val="FAFBFC"/>
                    </a:solidFill>
                  </a:tcPr>
                </a:tc>
              </a:tr>
            </a:tbl>
          </a:graphicData>
        </a:graphic>
      </p:graphicFrame>
      <p:sp>
        <p:nvSpPr>
          <p:cNvPr id="14" name="TextBox 13"/>
          <p:cNvSpPr txBox="1"/>
          <p:nvPr/>
        </p:nvSpPr>
        <p:spPr>
          <a:xfrm>
            <a:off x="548640" y="6199632"/>
            <a:ext cx="10972800" cy="22860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Tres periodos de tamaño distinto; los porcentajes comparan peso relativo, no volumen.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Árbol de especialidades frente a la demanda (1/4)</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11</a:t>
            </a:r>
          </a:p>
        </p:txBody>
      </p:sp>
      <p:sp>
        <p:nvSpPr>
          <p:cNvPr id="7" name="TextBox 6"/>
          <p:cNvSpPr txBox="1"/>
          <p:nvPr/>
        </p:nvSpPr>
        <p:spPr>
          <a:xfrm>
            <a:off x="548640" y="1463040"/>
            <a:ext cx="11064240" cy="45720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Las 6 áreas y 17 hojas son las de dlvibe.delaguialuzon.fr. «Menciones» cuenta solicitudes con algún subtema de esa hoja (una solicitud puede sumar en varias). Las filas con marca naranja son hojas propuestas porque hay demanda y hoy no existen.</a:t>
            </a:r>
          </a:p>
        </p:txBody>
      </p:sp>
      <p:sp>
        <p:nvSpPr>
          <p:cNvPr id="8" name="TextBox 7"/>
          <p:cNvSpPr txBox="1"/>
          <p:nvPr/>
        </p:nvSpPr>
        <p:spPr>
          <a:xfrm>
            <a:off x="548640" y="1965960"/>
            <a:ext cx="11064240" cy="77724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Instalación y vida en España (extranjería) · Las cuatro hojas de extranjería suman 432 menciones. Propuesta de rutas para EXT-4: (1) visados de residencia: nómada digital, no lucrativa, trabajo, emprendedor; (2) reagrupación y familia; (3) nacionalidad y regularización; (4) denegaciones, requerimientos y recursos; (5) estancia irregular y 90 días. NIE y TIE, hoy el subtema más pedido, encaja mejor con la hoja de instalación (EXT-1).</a:t>
            </a:r>
          </a:p>
        </p:txBody>
      </p:sp>
      <p:graphicFrame>
        <p:nvGraphicFramePr>
          <p:cNvPr id="9" name="Table 8"/>
          <p:cNvGraphicFramePr>
            <a:graphicFrameLocks noGrp="1"/>
          </p:cNvGraphicFramePr>
          <p:nvPr/>
        </p:nvGraphicFramePr>
        <p:xfrm>
          <a:off x="548640" y="2834640"/>
          <a:ext cx="11064240" cy="2286000"/>
        </p:xfrm>
        <a:graphic>
          <a:graphicData uri="http://schemas.openxmlformats.org/drawingml/2006/table">
            <a:tbl>
              <a:tblPr firstRow="1" bandRow="1">
                <a:tableStyleId>{5C22544A-7EE6-4342-B048-85BDC9FD1C3A}</a:tableStyleId>
              </a:tblPr>
              <a:tblGrid>
                <a:gridCol w="3200400"/>
                <a:gridCol w="822960"/>
                <a:gridCol w="914400"/>
                <a:gridCol w="1005840"/>
                <a:gridCol w="5120640"/>
              </a:tblGrid>
              <a:tr h="457200">
                <a:tc>
                  <a:txBody>
                    <a:bodyPr wrap="square"/>
                    <a:lstStyle/>
                    <a:p>
                      <a:r>
                        <a:rPr sz="1100" b="1">
                          <a:solidFill>
                            <a:srgbClr val="FFFFFF"/>
                          </a:solidFill>
                          <a:latin typeface="Calibri"/>
                        </a:rPr>
                        <a:t>Hoja</a:t>
                      </a:r>
                    </a:p>
                  </a:txBody>
                  <a:tcPr marL="54864" marR="54864" marT="22860" marB="22860" anchor="ctr">
                    <a:solidFill>
                      <a:srgbClr val="0B5C7A"/>
                    </a:solidFill>
                  </a:tcPr>
                </a:tc>
                <a:tc>
                  <a:txBody>
                    <a:bodyPr wrap="square"/>
                    <a:lstStyle/>
                    <a:p>
                      <a:pPr algn="r"/>
                      <a:r>
                        <a:rPr sz="1100" b="1">
                          <a:solidFill>
                            <a:srgbClr val="FFFFFF"/>
                          </a:solidFill>
                          <a:latin typeface="Calibri"/>
                        </a:rPr>
                        <a:t>Menciones</a:t>
                      </a:r>
                    </a:p>
                  </a:txBody>
                  <a:tcPr marL="54864" marR="54864" marT="22860" marB="22860" anchor="ctr">
                    <a:solidFill>
                      <a:srgbClr val="0B5C7A"/>
                    </a:solidFill>
                  </a:tcPr>
                </a:tc>
                <a:tc>
                  <a:txBody>
                    <a:bodyPr wrap="square"/>
                    <a:lstStyle/>
                    <a:p>
                      <a:pPr algn="r"/>
                      <a:r>
                        <a:rPr sz="1100" b="1">
                          <a:solidFill>
                            <a:srgbClr val="FFFFFF"/>
                          </a:solidFill>
                          <a:latin typeface="Calibri"/>
                        </a:rPr>
                        <a:t>Tema principal</a:t>
                      </a:r>
                    </a:p>
                  </a:txBody>
                  <a:tcPr marL="54864" marR="54864" marT="22860" marB="22860" anchor="ctr">
                    <a:solidFill>
                      <a:srgbClr val="0B5C7A"/>
                    </a:solidFill>
                  </a:tcPr>
                </a:tc>
                <a:tc>
                  <a:txBody>
                    <a:bodyPr wrap="square"/>
                    <a:lstStyle/>
                    <a:p>
                      <a:pPr algn="r"/>
                      <a:r>
                        <a:rPr sz="1100" b="1">
                          <a:solidFill>
                            <a:srgbClr val="FFFFFF"/>
                          </a:solidFill>
                          <a:latin typeface="Calibri"/>
                        </a:rPr>
                        <a:t>ES · EN · FR</a:t>
                      </a:r>
                    </a:p>
                  </a:txBody>
                  <a:tcPr marL="54864" marR="54864" marT="22860" marB="22860" anchor="ctr">
                    <a:solidFill>
                      <a:srgbClr val="0B5C7A"/>
                    </a:solidFill>
                  </a:tcPr>
                </a:tc>
                <a:tc>
                  <a:txBody>
                    <a:bodyPr wrap="square"/>
                    <a:lstStyle/>
                    <a:p>
                      <a:r>
                        <a:rPr sz="1100" b="1">
                          <a:solidFill>
                            <a:srgbClr val="FFFFFF"/>
                          </a:solidFill>
                          <a:latin typeface="Calibri"/>
                        </a:rPr>
                        <a:t>Subespecialización que piden (subtemas con su n.º)</a:t>
                      </a:r>
                    </a:p>
                  </a:txBody>
                  <a:tcPr marL="54864" marR="54864" marT="22860" marB="22860" anchor="ctr">
                    <a:solidFill>
                      <a:srgbClr val="0B5C7A"/>
                    </a:solidFill>
                  </a:tcPr>
                </a:tc>
              </a:tr>
              <a:tr h="457200">
                <a:tc>
                  <a:txBody>
                    <a:bodyPr wrap="square"/>
                    <a:lstStyle/>
                    <a:p>
                      <a:r>
                        <a:rPr sz="1100" b="0">
                          <a:solidFill>
                            <a:srgbClr val="14202E"/>
                          </a:solidFill>
                          <a:latin typeface="Calibri"/>
                        </a:rPr>
                        <a:t>Acompañamiento en la instalación administrativa</a:t>
                      </a:r>
                    </a:p>
                  </a:txBody>
                  <a:tcPr marL="54864" marR="54864" marT="22860" marB="22860" anchor="ctr">
                    <a:solidFill>
                      <a:srgbClr val="FFFFFF"/>
                    </a:solidFill>
                  </a:tcPr>
                </a:tc>
                <a:tc>
                  <a:txBody>
                    <a:bodyPr wrap="square"/>
                    <a:lstStyle/>
                    <a:p>
                      <a:pPr algn="r"/>
                      <a:r>
                        <a:rPr sz="1100" b="0">
                          <a:solidFill>
                            <a:srgbClr val="14202E"/>
                          </a:solidFill>
                          <a:latin typeface="Calibri"/>
                        </a:rPr>
                        <a:t>66</a:t>
                      </a:r>
                    </a:p>
                  </a:txBody>
                  <a:tcPr marL="54864" marR="54864" marT="22860" marB="22860" anchor="ctr">
                    <a:solidFill>
                      <a:srgbClr val="FFFFFF"/>
                    </a:solidFill>
                  </a:tcPr>
                </a:tc>
                <a:tc>
                  <a:txBody>
                    <a:bodyPr wrap="square"/>
                    <a:lstStyle/>
                    <a:p>
                      <a:pPr algn="r"/>
                      <a:r>
                        <a:rPr sz="1100" b="0">
                          <a:solidFill>
                            <a:srgbClr val="14202E"/>
                          </a:solidFill>
                          <a:latin typeface="Calibri"/>
                        </a:rPr>
                        <a:t>13</a:t>
                      </a:r>
                    </a:p>
                  </a:txBody>
                  <a:tcPr marL="54864" marR="54864" marT="22860" marB="22860" anchor="ctr">
                    <a:solidFill>
                      <a:srgbClr val="FFFFFF"/>
                    </a:solidFill>
                  </a:tcPr>
                </a:tc>
                <a:tc>
                  <a:txBody>
                    <a:bodyPr wrap="square"/>
                    <a:lstStyle/>
                    <a:p>
                      <a:pPr algn="r"/>
                      <a:r>
                        <a:rPr sz="1100" b="0">
                          <a:solidFill>
                            <a:srgbClr val="14202E"/>
                          </a:solidFill>
                          <a:latin typeface="Calibri"/>
                        </a:rPr>
                        <a:t>19 · 6 · 41</a:t>
                      </a:r>
                    </a:p>
                  </a:txBody>
                  <a:tcPr marL="54864" marR="54864" marT="22860" marB="22860" anchor="ctr">
                    <a:solidFill>
                      <a:srgbClr val="FFFFFF"/>
                    </a:solidFill>
                  </a:tcPr>
                </a:tc>
                <a:tc>
                  <a:txBody>
                    <a:bodyPr wrap="square"/>
                    <a:lstStyle/>
                    <a:p>
                      <a:r>
                        <a:rPr sz="1000" b="0">
                          <a:solidFill>
                            <a:srgbClr val="14202E"/>
                          </a:solidFill>
                          <a:latin typeface="Calibri"/>
                        </a:rPr>
                        <a:t>Traslado e instalación en España 41 · Empadronamiento 23 · Tarjeta sanitaria / nº Seguridad Social 7 · Homologación / convalidación de títulos 3</a:t>
                      </a:r>
                    </a:p>
                  </a:txBody>
                  <a:tcPr marL="54864" marR="54864" marT="22860" marB="22860" anchor="ctr">
                    <a:solidFill>
                      <a:srgbClr val="FFFFFF"/>
                    </a:solidFill>
                  </a:tcPr>
                </a:tc>
              </a:tr>
              <a:tr h="457200">
                <a:tc>
                  <a:txBody>
                    <a:bodyPr wrap="square"/>
                    <a:lstStyle/>
                    <a:p>
                      <a:r>
                        <a:rPr sz="1100" b="0">
                          <a:solidFill>
                            <a:srgbClr val="14202E"/>
                          </a:solidFill>
                          <a:latin typeface="Calibri"/>
                        </a:rPr>
                        <a:t>Protección social y jubilación en España</a:t>
                      </a:r>
                    </a:p>
                  </a:txBody>
                  <a:tcPr marL="54864" marR="54864" marT="22860" marB="22860" anchor="ctr">
                    <a:solidFill>
                      <a:srgbClr val="FAFBFC"/>
                    </a:solidFill>
                  </a:tcPr>
                </a:tc>
                <a:tc>
                  <a:txBody>
                    <a:bodyPr wrap="square"/>
                    <a:lstStyle/>
                    <a:p>
                      <a:pPr algn="r"/>
                      <a:r>
                        <a:rPr sz="1100" b="0">
                          <a:solidFill>
                            <a:srgbClr val="14202E"/>
                          </a:solidFill>
                          <a:latin typeface="Calibri"/>
                        </a:rPr>
                        <a:t>44</a:t>
                      </a:r>
                    </a:p>
                  </a:txBody>
                  <a:tcPr marL="54864" marR="54864" marT="22860" marB="22860" anchor="ctr">
                    <a:solidFill>
                      <a:srgbClr val="FAFBFC"/>
                    </a:solidFill>
                  </a:tcPr>
                </a:tc>
                <a:tc>
                  <a:txBody>
                    <a:bodyPr wrap="square"/>
                    <a:lstStyle/>
                    <a:p>
                      <a:pPr algn="r"/>
                      <a:r>
                        <a:rPr sz="1100" b="0">
                          <a:solidFill>
                            <a:srgbClr val="14202E"/>
                          </a:solidFill>
                          <a:latin typeface="Calibri"/>
                        </a:rPr>
                        <a:t>19</a:t>
                      </a:r>
                    </a:p>
                  </a:txBody>
                  <a:tcPr marL="54864" marR="54864" marT="22860" marB="22860" anchor="ctr">
                    <a:solidFill>
                      <a:srgbClr val="FAFBFC"/>
                    </a:solidFill>
                  </a:tcPr>
                </a:tc>
                <a:tc>
                  <a:txBody>
                    <a:bodyPr wrap="square"/>
                    <a:lstStyle/>
                    <a:p>
                      <a:pPr algn="r"/>
                      <a:r>
                        <a:rPr sz="1100" b="0">
                          <a:solidFill>
                            <a:srgbClr val="14202E"/>
                          </a:solidFill>
                          <a:latin typeface="Calibri"/>
                        </a:rPr>
                        <a:t>16 · 2 · 26</a:t>
                      </a:r>
                    </a:p>
                  </a:txBody>
                  <a:tcPr marL="54864" marR="54864" marT="22860" marB="22860" anchor="ctr">
                    <a:solidFill>
                      <a:srgbClr val="FAFBFC"/>
                    </a:solidFill>
                  </a:tcPr>
                </a:tc>
                <a:tc>
                  <a:txBody>
                    <a:bodyPr wrap="square"/>
                    <a:lstStyle/>
                    <a:p>
                      <a:r>
                        <a:rPr sz="1000" b="0">
                          <a:solidFill>
                            <a:srgbClr val="14202E"/>
                          </a:solidFill>
                          <a:latin typeface="Calibri"/>
                        </a:rPr>
                        <a:t>Jubilación, pensiones y prestaciones 39 · Seguro médico y sanidad 6</a:t>
                      </a:r>
                    </a:p>
                  </a:txBody>
                  <a:tcPr marL="54864" marR="54864" marT="22860" marB="22860" anchor="ctr">
                    <a:solidFill>
                      <a:srgbClr val="FAFBFC"/>
                    </a:solidFill>
                  </a:tcPr>
                </a:tc>
              </a:tr>
              <a:tr h="457200">
                <a:tc>
                  <a:txBody>
                    <a:bodyPr wrap="square"/>
                    <a:lstStyle/>
                    <a:p>
                      <a:r>
                        <a:rPr sz="1100" b="0">
                          <a:solidFill>
                            <a:srgbClr val="14202E"/>
                          </a:solidFill>
                          <a:latin typeface="Calibri"/>
                        </a:rPr>
                        <a:t>Asesoramiento bancario y financiero</a:t>
                      </a:r>
                    </a:p>
                  </a:txBody>
                  <a:tcPr marL="54864" marR="54864" marT="22860" marB="22860" anchor="ctr">
                    <a:solidFill>
                      <a:srgbClr val="FFFFFF"/>
                    </a:solidFill>
                  </a:tcPr>
                </a:tc>
                <a:tc>
                  <a:txBody>
                    <a:bodyPr wrap="square"/>
                    <a:lstStyle/>
                    <a:p>
                      <a:pPr algn="r"/>
                      <a:r>
                        <a:rPr sz="1100" b="0">
                          <a:solidFill>
                            <a:srgbClr val="14202E"/>
                          </a:solidFill>
                          <a:latin typeface="Calibri"/>
                        </a:rPr>
                        <a:t>15</a:t>
                      </a:r>
                    </a:p>
                  </a:txBody>
                  <a:tcPr marL="54864" marR="54864" marT="22860" marB="22860" anchor="ctr">
                    <a:solidFill>
                      <a:srgbClr val="FFFFFF"/>
                    </a:solidFill>
                  </a:tcPr>
                </a:tc>
                <a:tc>
                  <a:txBody>
                    <a:bodyPr wrap="square"/>
                    <a:lstStyle/>
                    <a:p>
                      <a:pPr algn="r"/>
                      <a:r>
                        <a:rPr sz="1100" b="0">
                          <a:solidFill>
                            <a:srgbClr val="14202E"/>
                          </a:solidFill>
                          <a:latin typeface="Calibri"/>
                        </a:rPr>
                        <a:t>4</a:t>
                      </a:r>
                    </a:p>
                  </a:txBody>
                  <a:tcPr marL="54864" marR="54864" marT="22860" marB="22860" anchor="ctr">
                    <a:solidFill>
                      <a:srgbClr val="FFFFFF"/>
                    </a:solidFill>
                  </a:tcPr>
                </a:tc>
                <a:tc>
                  <a:txBody>
                    <a:bodyPr wrap="square"/>
                    <a:lstStyle/>
                    <a:p>
                      <a:pPr algn="r"/>
                      <a:r>
                        <a:rPr sz="1100" b="0">
                          <a:solidFill>
                            <a:srgbClr val="14202E"/>
                          </a:solidFill>
                          <a:latin typeface="Calibri"/>
                        </a:rPr>
                        <a:t>5 · 0 · 10</a:t>
                      </a:r>
                    </a:p>
                  </a:txBody>
                  <a:tcPr marL="54864" marR="54864" marT="22860" marB="22860" anchor="ctr">
                    <a:solidFill>
                      <a:srgbClr val="FFFFFF"/>
                    </a:solidFill>
                  </a:tcPr>
                </a:tc>
                <a:tc>
                  <a:txBody>
                    <a:bodyPr wrap="square"/>
                    <a:lstStyle/>
                    <a:p>
                      <a:r>
                        <a:rPr sz="1000" b="0">
                          <a:solidFill>
                            <a:srgbClr val="14202E"/>
                          </a:solidFill>
                          <a:latin typeface="Calibri"/>
                        </a:rPr>
                        <a:t>Cuenta bancaria, transferencias, financiación 15</a:t>
                      </a:r>
                    </a:p>
                  </a:txBody>
                  <a:tcPr marL="54864" marR="54864" marT="22860" marB="22860" anchor="ctr">
                    <a:solidFill>
                      <a:srgbClr val="FFFFFF"/>
                    </a:solidFill>
                  </a:tcPr>
                </a:tc>
              </a:tr>
              <a:tr h="457200">
                <a:tc>
                  <a:txBody>
                    <a:bodyPr wrap="square"/>
                    <a:lstStyle/>
                    <a:p>
                      <a:r>
                        <a:rPr sz="1100" b="0">
                          <a:solidFill>
                            <a:srgbClr val="14202E"/>
                          </a:solidFill>
                          <a:latin typeface="Calibri"/>
                        </a:rPr>
                        <a:t>Extranjería: residencia, nacionalidad, reagrupación</a:t>
                      </a:r>
                    </a:p>
                  </a:txBody>
                  <a:tcPr marL="54864" marR="54864" marT="22860" marB="22860" anchor="ctr">
                    <a:solidFill>
                      <a:srgbClr val="FAFBFC"/>
                    </a:solidFill>
                  </a:tcPr>
                </a:tc>
                <a:tc>
                  <a:txBody>
                    <a:bodyPr wrap="square"/>
                    <a:lstStyle/>
                    <a:p>
                      <a:pPr algn="r"/>
                      <a:r>
                        <a:rPr sz="1100" b="0">
                          <a:solidFill>
                            <a:srgbClr val="14202E"/>
                          </a:solidFill>
                          <a:latin typeface="Calibri"/>
                        </a:rPr>
                        <a:t>307</a:t>
                      </a:r>
                    </a:p>
                  </a:txBody>
                  <a:tcPr marL="54864" marR="54864" marT="22860" marB="22860" anchor="ctr">
                    <a:solidFill>
                      <a:srgbClr val="FAFBFC"/>
                    </a:solidFill>
                  </a:tcPr>
                </a:tc>
                <a:tc>
                  <a:txBody>
                    <a:bodyPr wrap="square"/>
                    <a:lstStyle/>
                    <a:p>
                      <a:pPr algn="r"/>
                      <a:r>
                        <a:rPr sz="1100" b="0">
                          <a:solidFill>
                            <a:srgbClr val="14202E"/>
                          </a:solidFill>
                          <a:latin typeface="Calibri"/>
                        </a:rPr>
                        <a:t>209</a:t>
                      </a:r>
                    </a:p>
                  </a:txBody>
                  <a:tcPr marL="54864" marR="54864" marT="22860" marB="22860" anchor="ctr">
                    <a:solidFill>
                      <a:srgbClr val="FAFBFC"/>
                    </a:solidFill>
                  </a:tcPr>
                </a:tc>
                <a:tc>
                  <a:txBody>
                    <a:bodyPr wrap="square"/>
                    <a:lstStyle/>
                    <a:p>
                      <a:pPr algn="r"/>
                      <a:r>
                        <a:rPr sz="1100" b="0">
                          <a:solidFill>
                            <a:srgbClr val="14202E"/>
                          </a:solidFill>
                          <a:latin typeface="Calibri"/>
                        </a:rPr>
                        <a:t>94 · 28 · 185</a:t>
                      </a:r>
                    </a:p>
                  </a:txBody>
                  <a:tcPr marL="54864" marR="54864" marT="22860" marB="22860" anchor="ctr">
                    <a:solidFill>
                      <a:srgbClr val="FAFBFC"/>
                    </a:solidFill>
                  </a:tcPr>
                </a:tc>
                <a:tc>
                  <a:txBody>
                    <a:bodyPr wrap="square"/>
                    <a:lstStyle/>
                    <a:p>
                      <a:r>
                        <a:rPr sz="1000" b="0">
                          <a:solidFill>
                            <a:srgbClr val="14202E"/>
                          </a:solidFill>
                          <a:latin typeface="Calibri"/>
                        </a:rPr>
                        <a:t>NIE y TIE (tarjeta) 77 · Visado consular 47 · Estancia irregular / overstay / 90 días 40 · Denegación, recurso, requerimiento 37</a:t>
                      </a:r>
                    </a:p>
                  </a:txBody>
                  <a:tcPr marL="54864" marR="54864" marT="22860" marB="22860" anchor="ctr">
                    <a:solidFill>
                      <a:srgbClr val="FAFBFC"/>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Árbol de especialidades frente a la demanda (2/4)</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12</a:t>
            </a:r>
          </a:p>
        </p:txBody>
      </p:sp>
      <p:sp>
        <p:nvSpPr>
          <p:cNvPr id="7" name="TextBox 6"/>
          <p:cNvSpPr txBox="1"/>
          <p:nvPr/>
        </p:nvSpPr>
        <p:spPr>
          <a:xfrm>
            <a:off x="548640" y="1463040"/>
            <a:ext cx="11064240" cy="77724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Fiscalidad y contabilidad · FIS-2 recibe 163 menciones y se reparte en IVA y contabilidad, declaración de la renta, no residentes (Modelo 210), Beckham, Modelo 720 y plusvalías. FIS-1 (convenio y residencia fiscal) aparece en 62.</a:t>
            </a:r>
          </a:p>
        </p:txBody>
      </p:sp>
      <p:graphicFrame>
        <p:nvGraphicFramePr>
          <p:cNvPr id="8" name="Table 7"/>
          <p:cNvGraphicFramePr>
            <a:graphicFrameLocks noGrp="1"/>
          </p:cNvGraphicFramePr>
          <p:nvPr/>
        </p:nvGraphicFramePr>
        <p:xfrm>
          <a:off x="548640" y="2331720"/>
          <a:ext cx="11064240" cy="1828800"/>
        </p:xfrm>
        <a:graphic>
          <a:graphicData uri="http://schemas.openxmlformats.org/drawingml/2006/table">
            <a:tbl>
              <a:tblPr firstRow="1" bandRow="1">
                <a:tableStyleId>{5C22544A-7EE6-4342-B048-85BDC9FD1C3A}</a:tableStyleId>
              </a:tblPr>
              <a:tblGrid>
                <a:gridCol w="3200400"/>
                <a:gridCol w="822960"/>
                <a:gridCol w="914400"/>
                <a:gridCol w="1005840"/>
                <a:gridCol w="5120640"/>
              </a:tblGrid>
              <a:tr h="457200">
                <a:tc>
                  <a:txBody>
                    <a:bodyPr wrap="square"/>
                    <a:lstStyle/>
                    <a:p>
                      <a:r>
                        <a:rPr sz="1100" b="1">
                          <a:solidFill>
                            <a:srgbClr val="FFFFFF"/>
                          </a:solidFill>
                          <a:latin typeface="Calibri"/>
                        </a:rPr>
                        <a:t>Hoja</a:t>
                      </a:r>
                    </a:p>
                  </a:txBody>
                  <a:tcPr marL="54864" marR="54864" marT="22860" marB="22860" anchor="ctr">
                    <a:solidFill>
                      <a:srgbClr val="0B5C7A"/>
                    </a:solidFill>
                  </a:tcPr>
                </a:tc>
                <a:tc>
                  <a:txBody>
                    <a:bodyPr wrap="square"/>
                    <a:lstStyle/>
                    <a:p>
                      <a:pPr algn="r"/>
                      <a:r>
                        <a:rPr sz="1100" b="1">
                          <a:solidFill>
                            <a:srgbClr val="FFFFFF"/>
                          </a:solidFill>
                          <a:latin typeface="Calibri"/>
                        </a:rPr>
                        <a:t>Menciones</a:t>
                      </a:r>
                    </a:p>
                  </a:txBody>
                  <a:tcPr marL="54864" marR="54864" marT="22860" marB="22860" anchor="ctr">
                    <a:solidFill>
                      <a:srgbClr val="0B5C7A"/>
                    </a:solidFill>
                  </a:tcPr>
                </a:tc>
                <a:tc>
                  <a:txBody>
                    <a:bodyPr wrap="square"/>
                    <a:lstStyle/>
                    <a:p>
                      <a:pPr algn="r"/>
                      <a:r>
                        <a:rPr sz="1100" b="1">
                          <a:solidFill>
                            <a:srgbClr val="FFFFFF"/>
                          </a:solidFill>
                          <a:latin typeface="Calibri"/>
                        </a:rPr>
                        <a:t>Tema principal</a:t>
                      </a:r>
                    </a:p>
                  </a:txBody>
                  <a:tcPr marL="54864" marR="54864" marT="22860" marB="22860" anchor="ctr">
                    <a:solidFill>
                      <a:srgbClr val="0B5C7A"/>
                    </a:solidFill>
                  </a:tcPr>
                </a:tc>
                <a:tc>
                  <a:txBody>
                    <a:bodyPr wrap="square"/>
                    <a:lstStyle/>
                    <a:p>
                      <a:pPr algn="r"/>
                      <a:r>
                        <a:rPr sz="1100" b="1">
                          <a:solidFill>
                            <a:srgbClr val="FFFFFF"/>
                          </a:solidFill>
                          <a:latin typeface="Calibri"/>
                        </a:rPr>
                        <a:t>ES · EN · FR</a:t>
                      </a:r>
                    </a:p>
                  </a:txBody>
                  <a:tcPr marL="54864" marR="54864" marT="22860" marB="22860" anchor="ctr">
                    <a:solidFill>
                      <a:srgbClr val="0B5C7A"/>
                    </a:solidFill>
                  </a:tcPr>
                </a:tc>
                <a:tc>
                  <a:txBody>
                    <a:bodyPr wrap="square"/>
                    <a:lstStyle/>
                    <a:p>
                      <a:r>
                        <a:rPr sz="1100" b="1">
                          <a:solidFill>
                            <a:srgbClr val="FFFFFF"/>
                          </a:solidFill>
                          <a:latin typeface="Calibri"/>
                        </a:rPr>
                        <a:t>Subespecialización que piden (subtemas con su n.º)</a:t>
                      </a:r>
                    </a:p>
                  </a:txBody>
                  <a:tcPr marL="54864" marR="54864" marT="22860" marB="22860" anchor="ctr">
                    <a:solidFill>
                      <a:srgbClr val="0B5C7A"/>
                    </a:solidFill>
                  </a:tcPr>
                </a:tc>
              </a:tr>
              <a:tr h="457200">
                <a:tc>
                  <a:txBody>
                    <a:bodyPr wrap="square"/>
                    <a:lstStyle/>
                    <a:p>
                      <a:r>
                        <a:rPr sz="1100" b="0">
                          <a:solidFill>
                            <a:srgbClr val="14202E"/>
                          </a:solidFill>
                          <a:latin typeface="Calibri"/>
                        </a:rPr>
                        <a:t>Fiscalidad franco-española</a:t>
                      </a:r>
                    </a:p>
                  </a:txBody>
                  <a:tcPr marL="54864" marR="54864" marT="22860" marB="22860" anchor="ctr">
                    <a:solidFill>
                      <a:srgbClr val="FFFFFF"/>
                    </a:solidFill>
                  </a:tcPr>
                </a:tc>
                <a:tc>
                  <a:txBody>
                    <a:bodyPr wrap="square"/>
                    <a:lstStyle/>
                    <a:p>
                      <a:pPr algn="r"/>
                      <a:r>
                        <a:rPr sz="1100" b="0">
                          <a:solidFill>
                            <a:srgbClr val="14202E"/>
                          </a:solidFill>
                          <a:latin typeface="Calibri"/>
                        </a:rPr>
                        <a:t>62</a:t>
                      </a:r>
                    </a:p>
                  </a:txBody>
                  <a:tcPr marL="54864" marR="54864" marT="22860" marB="22860" anchor="ctr">
                    <a:solidFill>
                      <a:srgbClr val="FFFFFF"/>
                    </a:solidFill>
                  </a:tcPr>
                </a:tc>
                <a:tc>
                  <a:txBody>
                    <a:bodyPr wrap="square"/>
                    <a:lstStyle/>
                    <a:p>
                      <a:pPr algn="r"/>
                      <a:r>
                        <a:rPr sz="1100" b="0">
                          <a:solidFill>
                            <a:srgbClr val="14202E"/>
                          </a:solidFill>
                          <a:latin typeface="Calibri"/>
                        </a:rPr>
                        <a:t>29</a:t>
                      </a:r>
                    </a:p>
                  </a:txBody>
                  <a:tcPr marL="54864" marR="54864" marT="22860" marB="22860" anchor="ctr">
                    <a:solidFill>
                      <a:srgbClr val="FFFFFF"/>
                    </a:solidFill>
                  </a:tcPr>
                </a:tc>
                <a:tc>
                  <a:txBody>
                    <a:bodyPr wrap="square"/>
                    <a:lstStyle/>
                    <a:p>
                      <a:pPr algn="r"/>
                      <a:r>
                        <a:rPr sz="1100" b="0">
                          <a:solidFill>
                            <a:srgbClr val="14202E"/>
                          </a:solidFill>
                          <a:latin typeface="Calibri"/>
                        </a:rPr>
                        <a:t>25 · 2 · 35</a:t>
                      </a:r>
                    </a:p>
                  </a:txBody>
                  <a:tcPr marL="54864" marR="54864" marT="22860" marB="22860" anchor="ctr">
                    <a:solidFill>
                      <a:srgbClr val="FFFFFF"/>
                    </a:solidFill>
                  </a:tcPr>
                </a:tc>
                <a:tc>
                  <a:txBody>
                    <a:bodyPr wrap="square"/>
                    <a:lstStyle/>
                    <a:p>
                      <a:r>
                        <a:rPr sz="1000" b="0">
                          <a:solidFill>
                            <a:srgbClr val="14202E"/>
                          </a:solidFill>
                          <a:latin typeface="Calibri"/>
                        </a:rPr>
                        <a:t>Convenio de doble imposición / residencia fiscal 62</a:t>
                      </a:r>
                    </a:p>
                  </a:txBody>
                  <a:tcPr marL="54864" marR="54864" marT="22860" marB="22860" anchor="ctr">
                    <a:solidFill>
                      <a:srgbClr val="FFFFFF"/>
                    </a:solidFill>
                  </a:tcPr>
                </a:tc>
              </a:tr>
              <a:tr h="457200">
                <a:tc>
                  <a:txBody>
                    <a:bodyPr wrap="square"/>
                    <a:lstStyle/>
                    <a:p>
                      <a:r>
                        <a:rPr sz="1100" b="0">
                          <a:solidFill>
                            <a:srgbClr val="14202E"/>
                          </a:solidFill>
                          <a:latin typeface="Calibri"/>
                        </a:rPr>
                        <a:t>Asesoría fiscal en Valencia</a:t>
                      </a:r>
                    </a:p>
                  </a:txBody>
                  <a:tcPr marL="54864" marR="54864" marT="22860" marB="22860" anchor="ctr">
                    <a:solidFill>
                      <a:srgbClr val="FAFBFC"/>
                    </a:solidFill>
                  </a:tcPr>
                </a:tc>
                <a:tc>
                  <a:txBody>
                    <a:bodyPr wrap="square"/>
                    <a:lstStyle/>
                    <a:p>
                      <a:pPr algn="r"/>
                      <a:r>
                        <a:rPr sz="1100" b="0">
                          <a:solidFill>
                            <a:srgbClr val="14202E"/>
                          </a:solidFill>
                          <a:latin typeface="Calibri"/>
                        </a:rPr>
                        <a:t>163</a:t>
                      </a:r>
                    </a:p>
                  </a:txBody>
                  <a:tcPr marL="54864" marR="54864" marT="22860" marB="22860" anchor="ctr">
                    <a:solidFill>
                      <a:srgbClr val="FAFBFC"/>
                    </a:solidFill>
                  </a:tcPr>
                </a:tc>
                <a:tc>
                  <a:txBody>
                    <a:bodyPr wrap="square"/>
                    <a:lstStyle/>
                    <a:p>
                      <a:pPr algn="r"/>
                      <a:r>
                        <a:rPr sz="1100" b="0">
                          <a:solidFill>
                            <a:srgbClr val="14202E"/>
                          </a:solidFill>
                          <a:latin typeface="Calibri"/>
                        </a:rPr>
                        <a:t>99</a:t>
                      </a:r>
                    </a:p>
                  </a:txBody>
                  <a:tcPr marL="54864" marR="54864" marT="22860" marB="22860" anchor="ctr">
                    <a:solidFill>
                      <a:srgbClr val="FAFBFC"/>
                    </a:solidFill>
                  </a:tcPr>
                </a:tc>
                <a:tc>
                  <a:txBody>
                    <a:bodyPr wrap="square"/>
                    <a:lstStyle/>
                    <a:p>
                      <a:pPr algn="r"/>
                      <a:r>
                        <a:rPr sz="1100" b="0">
                          <a:solidFill>
                            <a:srgbClr val="14202E"/>
                          </a:solidFill>
                          <a:latin typeface="Calibri"/>
                        </a:rPr>
                        <a:t>58 · 7 · 98</a:t>
                      </a:r>
                    </a:p>
                  </a:txBody>
                  <a:tcPr marL="54864" marR="54864" marT="22860" marB="22860" anchor="ctr">
                    <a:solidFill>
                      <a:srgbClr val="FAFBFC"/>
                    </a:solidFill>
                  </a:tcPr>
                </a:tc>
                <a:tc>
                  <a:txBody>
                    <a:bodyPr wrap="square"/>
                    <a:lstStyle/>
                    <a:p>
                      <a:r>
                        <a:rPr sz="1000" b="0">
                          <a:solidFill>
                            <a:srgbClr val="14202E"/>
                          </a:solidFill>
                          <a:latin typeface="Calibri"/>
                        </a:rPr>
                        <a:t>Declaración de la renta (IRPF) 45 · IVA, contabilidad, gestoría e impuesto de sociedades 44 · Fiscalidad (consulta general) 31 · No residentes (Modelo 210 / IRNR) 23</a:t>
                      </a:r>
                    </a:p>
                  </a:txBody>
                  <a:tcPr marL="54864" marR="54864" marT="22860" marB="22860" anchor="ctr">
                    <a:solidFill>
                      <a:srgbClr val="FAFBFC"/>
                    </a:solidFill>
                  </a:tcPr>
                </a:tc>
              </a:tr>
              <a:tr h="457200">
                <a:tc>
                  <a:txBody>
                    <a:bodyPr wrap="square"/>
                    <a:lstStyle/>
                    <a:p>
                      <a:r>
                        <a:rPr sz="1100" b="0">
                          <a:solidFill>
                            <a:srgbClr val="14202E"/>
                          </a:solidFill>
                          <a:latin typeface="Calibri"/>
                        </a:rPr>
                        <a:t>Sucesiones y planificación patrimonial</a:t>
                      </a:r>
                    </a:p>
                  </a:txBody>
                  <a:tcPr marL="54864" marR="54864" marT="22860" marB="22860" anchor="ctr">
                    <a:solidFill>
                      <a:srgbClr val="FFFFFF"/>
                    </a:solidFill>
                  </a:tcPr>
                </a:tc>
                <a:tc>
                  <a:txBody>
                    <a:bodyPr wrap="square"/>
                    <a:lstStyle/>
                    <a:p>
                      <a:pPr algn="r"/>
                      <a:r>
                        <a:rPr sz="1100" b="0">
                          <a:solidFill>
                            <a:srgbClr val="14202E"/>
                          </a:solidFill>
                          <a:latin typeface="Calibri"/>
                        </a:rPr>
                        <a:t>41</a:t>
                      </a:r>
                    </a:p>
                  </a:txBody>
                  <a:tcPr marL="54864" marR="54864" marT="22860" marB="22860" anchor="ctr">
                    <a:solidFill>
                      <a:srgbClr val="FFFFFF"/>
                    </a:solidFill>
                  </a:tcPr>
                </a:tc>
                <a:tc>
                  <a:txBody>
                    <a:bodyPr wrap="square"/>
                    <a:lstStyle/>
                    <a:p>
                      <a:pPr algn="r"/>
                      <a:r>
                        <a:rPr sz="1100" b="0">
                          <a:solidFill>
                            <a:srgbClr val="14202E"/>
                          </a:solidFill>
                          <a:latin typeface="Calibri"/>
                        </a:rPr>
                        <a:t>21</a:t>
                      </a:r>
                    </a:p>
                  </a:txBody>
                  <a:tcPr marL="54864" marR="54864" marT="22860" marB="22860" anchor="ctr">
                    <a:solidFill>
                      <a:srgbClr val="FFFFFF"/>
                    </a:solidFill>
                  </a:tcPr>
                </a:tc>
                <a:tc>
                  <a:txBody>
                    <a:bodyPr wrap="square"/>
                    <a:lstStyle/>
                    <a:p>
                      <a:pPr algn="r"/>
                      <a:r>
                        <a:rPr sz="1100" b="0">
                          <a:solidFill>
                            <a:srgbClr val="14202E"/>
                          </a:solidFill>
                          <a:latin typeface="Calibri"/>
                        </a:rPr>
                        <a:t>15 · 1 · 25</a:t>
                      </a:r>
                    </a:p>
                  </a:txBody>
                  <a:tcPr marL="54864" marR="54864" marT="22860" marB="22860" anchor="ctr">
                    <a:solidFill>
                      <a:srgbClr val="FFFFFF"/>
                    </a:solidFill>
                  </a:tcPr>
                </a:tc>
                <a:tc>
                  <a:txBody>
                    <a:bodyPr wrap="square"/>
                    <a:lstStyle/>
                    <a:p>
                      <a:r>
                        <a:rPr sz="1000" b="0">
                          <a:solidFill>
                            <a:srgbClr val="14202E"/>
                          </a:solidFill>
                          <a:latin typeface="Calibri"/>
                        </a:rPr>
                        <a:t>Impuesto de sucesiones y donaciones 22 · Planificación patrimonial y holding 19</a:t>
                      </a:r>
                    </a:p>
                  </a:txBody>
                  <a:tcPr marL="54864" marR="54864" marT="22860" marB="22860" anchor="ctr">
                    <a:solidFill>
                      <a:srgbClr val="FFFFFF"/>
                    </a:solidFill>
                  </a:tcPr>
                </a:tc>
              </a:tr>
            </a:tbl>
          </a:graphicData>
        </a:graphic>
      </p:graphicFrame>
      <p:sp>
        <p:nvSpPr>
          <p:cNvPr id="9" name="TextBox 8"/>
          <p:cNvSpPr txBox="1"/>
          <p:nvPr/>
        </p:nvSpPr>
        <p:spPr>
          <a:xfrm>
            <a:off x="548640" y="4343400"/>
            <a:ext cx="11064240" cy="77724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Derecho inmobiliario · Una sola hoja recibe 174 menciones. Rutas: compra, notaría y registro, alquiler, obras y urbanismo, venta, comunidad de propietarios, vivienda turística, hipoteca.</a:t>
            </a:r>
          </a:p>
        </p:txBody>
      </p:sp>
      <p:graphicFrame>
        <p:nvGraphicFramePr>
          <p:cNvPr id="10" name="Table 9"/>
          <p:cNvGraphicFramePr>
            <a:graphicFrameLocks noGrp="1"/>
          </p:cNvGraphicFramePr>
          <p:nvPr/>
        </p:nvGraphicFramePr>
        <p:xfrm>
          <a:off x="548640" y="4892040"/>
          <a:ext cx="11064240" cy="914400"/>
        </p:xfrm>
        <a:graphic>
          <a:graphicData uri="http://schemas.openxmlformats.org/drawingml/2006/table">
            <a:tbl>
              <a:tblPr firstRow="1" bandRow="1">
                <a:tableStyleId>{5C22544A-7EE6-4342-B048-85BDC9FD1C3A}</a:tableStyleId>
              </a:tblPr>
              <a:tblGrid>
                <a:gridCol w="3200400"/>
                <a:gridCol w="822960"/>
                <a:gridCol w="914400"/>
                <a:gridCol w="1005840"/>
                <a:gridCol w="5120640"/>
              </a:tblGrid>
              <a:tr h="457200">
                <a:tc>
                  <a:txBody>
                    <a:bodyPr wrap="square"/>
                    <a:lstStyle/>
                    <a:p>
                      <a:r>
                        <a:rPr sz="1100" b="1">
                          <a:solidFill>
                            <a:srgbClr val="FFFFFF"/>
                          </a:solidFill>
                          <a:latin typeface="Calibri"/>
                        </a:rPr>
                        <a:t>Hoja</a:t>
                      </a:r>
                    </a:p>
                  </a:txBody>
                  <a:tcPr marL="54864" marR="54864" marT="22860" marB="22860" anchor="ctr">
                    <a:solidFill>
                      <a:srgbClr val="0B5C7A"/>
                    </a:solidFill>
                  </a:tcPr>
                </a:tc>
                <a:tc>
                  <a:txBody>
                    <a:bodyPr wrap="square"/>
                    <a:lstStyle/>
                    <a:p>
                      <a:pPr algn="r"/>
                      <a:r>
                        <a:rPr sz="1100" b="1">
                          <a:solidFill>
                            <a:srgbClr val="FFFFFF"/>
                          </a:solidFill>
                          <a:latin typeface="Calibri"/>
                        </a:rPr>
                        <a:t>Menciones</a:t>
                      </a:r>
                    </a:p>
                  </a:txBody>
                  <a:tcPr marL="54864" marR="54864" marT="22860" marB="22860" anchor="ctr">
                    <a:solidFill>
                      <a:srgbClr val="0B5C7A"/>
                    </a:solidFill>
                  </a:tcPr>
                </a:tc>
                <a:tc>
                  <a:txBody>
                    <a:bodyPr wrap="square"/>
                    <a:lstStyle/>
                    <a:p>
                      <a:pPr algn="r"/>
                      <a:r>
                        <a:rPr sz="1100" b="1">
                          <a:solidFill>
                            <a:srgbClr val="FFFFFF"/>
                          </a:solidFill>
                          <a:latin typeface="Calibri"/>
                        </a:rPr>
                        <a:t>Tema principal</a:t>
                      </a:r>
                    </a:p>
                  </a:txBody>
                  <a:tcPr marL="54864" marR="54864" marT="22860" marB="22860" anchor="ctr">
                    <a:solidFill>
                      <a:srgbClr val="0B5C7A"/>
                    </a:solidFill>
                  </a:tcPr>
                </a:tc>
                <a:tc>
                  <a:txBody>
                    <a:bodyPr wrap="square"/>
                    <a:lstStyle/>
                    <a:p>
                      <a:pPr algn="r"/>
                      <a:r>
                        <a:rPr sz="1100" b="1">
                          <a:solidFill>
                            <a:srgbClr val="FFFFFF"/>
                          </a:solidFill>
                          <a:latin typeface="Calibri"/>
                        </a:rPr>
                        <a:t>ES · EN · FR</a:t>
                      </a:r>
                    </a:p>
                  </a:txBody>
                  <a:tcPr marL="54864" marR="54864" marT="22860" marB="22860" anchor="ctr">
                    <a:solidFill>
                      <a:srgbClr val="0B5C7A"/>
                    </a:solidFill>
                  </a:tcPr>
                </a:tc>
                <a:tc>
                  <a:txBody>
                    <a:bodyPr wrap="square"/>
                    <a:lstStyle/>
                    <a:p>
                      <a:r>
                        <a:rPr sz="1100" b="1">
                          <a:solidFill>
                            <a:srgbClr val="FFFFFF"/>
                          </a:solidFill>
                          <a:latin typeface="Calibri"/>
                        </a:rPr>
                        <a:t>Subespecialización que piden (subtemas con su n.º)</a:t>
                      </a:r>
                    </a:p>
                  </a:txBody>
                  <a:tcPr marL="54864" marR="54864" marT="22860" marB="22860" anchor="ctr">
                    <a:solidFill>
                      <a:srgbClr val="0B5C7A"/>
                    </a:solidFill>
                  </a:tcPr>
                </a:tc>
              </a:tr>
              <a:tr h="457200">
                <a:tc>
                  <a:txBody>
                    <a:bodyPr wrap="square"/>
                    <a:lstStyle/>
                    <a:p>
                      <a:r>
                        <a:rPr sz="1100" b="0">
                          <a:solidFill>
                            <a:srgbClr val="14202E"/>
                          </a:solidFill>
                          <a:latin typeface="Calibri"/>
                        </a:rPr>
                        <a:t>Adquisición inmobiliaria y derecho de la propiedad</a:t>
                      </a:r>
                    </a:p>
                  </a:txBody>
                  <a:tcPr marL="54864" marR="54864" marT="22860" marB="22860" anchor="ctr">
                    <a:solidFill>
                      <a:srgbClr val="FFFFFF"/>
                    </a:solidFill>
                  </a:tcPr>
                </a:tc>
                <a:tc>
                  <a:txBody>
                    <a:bodyPr wrap="square"/>
                    <a:lstStyle/>
                    <a:p>
                      <a:pPr algn="r"/>
                      <a:r>
                        <a:rPr sz="1100" b="0">
                          <a:solidFill>
                            <a:srgbClr val="14202E"/>
                          </a:solidFill>
                          <a:latin typeface="Calibri"/>
                        </a:rPr>
                        <a:t>174</a:t>
                      </a:r>
                    </a:p>
                  </a:txBody>
                  <a:tcPr marL="54864" marR="54864" marT="22860" marB="22860" anchor="ctr">
                    <a:solidFill>
                      <a:srgbClr val="FFFFFF"/>
                    </a:solidFill>
                  </a:tcPr>
                </a:tc>
                <a:tc>
                  <a:txBody>
                    <a:bodyPr wrap="square"/>
                    <a:lstStyle/>
                    <a:p>
                      <a:pPr algn="r"/>
                      <a:r>
                        <a:rPr sz="1100" b="0">
                          <a:solidFill>
                            <a:srgbClr val="14202E"/>
                          </a:solidFill>
                          <a:latin typeface="Calibri"/>
                        </a:rPr>
                        <a:t>120</a:t>
                      </a:r>
                    </a:p>
                  </a:txBody>
                  <a:tcPr marL="54864" marR="54864" marT="22860" marB="22860" anchor="ctr">
                    <a:solidFill>
                      <a:srgbClr val="FFFFFF"/>
                    </a:solidFill>
                  </a:tcPr>
                </a:tc>
                <a:tc>
                  <a:txBody>
                    <a:bodyPr wrap="square"/>
                    <a:lstStyle/>
                    <a:p>
                      <a:pPr algn="r"/>
                      <a:r>
                        <a:rPr sz="1100" b="0">
                          <a:solidFill>
                            <a:srgbClr val="14202E"/>
                          </a:solidFill>
                          <a:latin typeface="Calibri"/>
                        </a:rPr>
                        <a:t>68 · 0 · 106</a:t>
                      </a:r>
                    </a:p>
                  </a:txBody>
                  <a:tcPr marL="54864" marR="54864" marT="22860" marB="22860" anchor="ctr">
                    <a:solidFill>
                      <a:srgbClr val="FFFFFF"/>
                    </a:solidFill>
                  </a:tcPr>
                </a:tc>
                <a:tc>
                  <a:txBody>
                    <a:bodyPr wrap="square"/>
                    <a:lstStyle/>
                    <a:p>
                      <a:r>
                        <a:rPr sz="1000" b="0">
                          <a:solidFill>
                            <a:srgbClr val="14202E"/>
                          </a:solidFill>
                          <a:latin typeface="Calibri"/>
                        </a:rPr>
                        <a:t>Compra de vivienda / inmueble 84 · Escritura, notaría y registro de la propiedad 36 · Alquiler y contrato de arrendamiento 32 · Obras, licencias y urbanismo 16</a:t>
                      </a:r>
                    </a:p>
                  </a:txBody>
                  <a:tcPr marL="54864" marR="54864" marT="22860" marB="2286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Árbol de especialidades frente a la demanda (3/4)</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13</a:t>
            </a:r>
          </a:p>
        </p:txBody>
      </p:sp>
      <p:sp>
        <p:nvSpPr>
          <p:cNvPr id="7" name="TextBox 6"/>
          <p:cNvSpPr txBox="1"/>
          <p:nvPr/>
        </p:nvSpPr>
        <p:spPr>
          <a:xfrm>
            <a:off x="548640" y="1463040"/>
            <a:ext cx="11064240" cy="77724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Derecho de sucesiones y litigios · Herencias y testamentos (64) y familia (20) no tienen hoja; mediación y litigios recibe 24.</a:t>
            </a:r>
          </a:p>
        </p:txBody>
      </p:sp>
      <p:graphicFrame>
        <p:nvGraphicFramePr>
          <p:cNvPr id="8" name="Table 7"/>
          <p:cNvGraphicFramePr>
            <a:graphicFrameLocks noGrp="1"/>
          </p:cNvGraphicFramePr>
          <p:nvPr/>
        </p:nvGraphicFramePr>
        <p:xfrm>
          <a:off x="548640" y="2011680"/>
          <a:ext cx="11064240" cy="1828800"/>
        </p:xfrm>
        <a:graphic>
          <a:graphicData uri="http://schemas.openxmlformats.org/drawingml/2006/table">
            <a:tbl>
              <a:tblPr firstRow="1" bandRow="1">
                <a:tableStyleId>{5C22544A-7EE6-4342-B048-85BDC9FD1C3A}</a:tableStyleId>
              </a:tblPr>
              <a:tblGrid>
                <a:gridCol w="3200400"/>
                <a:gridCol w="822960"/>
                <a:gridCol w="914400"/>
                <a:gridCol w="1005840"/>
                <a:gridCol w="5120640"/>
              </a:tblGrid>
              <a:tr h="457200">
                <a:tc>
                  <a:txBody>
                    <a:bodyPr wrap="square"/>
                    <a:lstStyle/>
                    <a:p>
                      <a:r>
                        <a:rPr sz="1100" b="1">
                          <a:solidFill>
                            <a:srgbClr val="FFFFFF"/>
                          </a:solidFill>
                          <a:latin typeface="Calibri"/>
                        </a:rPr>
                        <a:t>Hoja</a:t>
                      </a:r>
                    </a:p>
                  </a:txBody>
                  <a:tcPr marL="54864" marR="54864" marT="22860" marB="22860" anchor="ctr">
                    <a:solidFill>
                      <a:srgbClr val="0B5C7A"/>
                    </a:solidFill>
                  </a:tcPr>
                </a:tc>
                <a:tc>
                  <a:txBody>
                    <a:bodyPr wrap="square"/>
                    <a:lstStyle/>
                    <a:p>
                      <a:pPr algn="r"/>
                      <a:r>
                        <a:rPr sz="1100" b="1">
                          <a:solidFill>
                            <a:srgbClr val="FFFFFF"/>
                          </a:solidFill>
                          <a:latin typeface="Calibri"/>
                        </a:rPr>
                        <a:t>Menciones</a:t>
                      </a:r>
                    </a:p>
                  </a:txBody>
                  <a:tcPr marL="54864" marR="54864" marT="22860" marB="22860" anchor="ctr">
                    <a:solidFill>
                      <a:srgbClr val="0B5C7A"/>
                    </a:solidFill>
                  </a:tcPr>
                </a:tc>
                <a:tc>
                  <a:txBody>
                    <a:bodyPr wrap="square"/>
                    <a:lstStyle/>
                    <a:p>
                      <a:pPr algn="r"/>
                      <a:r>
                        <a:rPr sz="1100" b="1">
                          <a:solidFill>
                            <a:srgbClr val="FFFFFF"/>
                          </a:solidFill>
                          <a:latin typeface="Calibri"/>
                        </a:rPr>
                        <a:t>Tema principal</a:t>
                      </a:r>
                    </a:p>
                  </a:txBody>
                  <a:tcPr marL="54864" marR="54864" marT="22860" marB="22860" anchor="ctr">
                    <a:solidFill>
                      <a:srgbClr val="0B5C7A"/>
                    </a:solidFill>
                  </a:tcPr>
                </a:tc>
                <a:tc>
                  <a:txBody>
                    <a:bodyPr wrap="square"/>
                    <a:lstStyle/>
                    <a:p>
                      <a:pPr algn="r"/>
                      <a:r>
                        <a:rPr sz="1100" b="1">
                          <a:solidFill>
                            <a:srgbClr val="FFFFFF"/>
                          </a:solidFill>
                          <a:latin typeface="Calibri"/>
                        </a:rPr>
                        <a:t>ES · EN · FR</a:t>
                      </a:r>
                    </a:p>
                  </a:txBody>
                  <a:tcPr marL="54864" marR="54864" marT="22860" marB="22860" anchor="ctr">
                    <a:solidFill>
                      <a:srgbClr val="0B5C7A"/>
                    </a:solidFill>
                  </a:tcPr>
                </a:tc>
                <a:tc>
                  <a:txBody>
                    <a:bodyPr wrap="square"/>
                    <a:lstStyle/>
                    <a:p>
                      <a:r>
                        <a:rPr sz="1100" b="1">
                          <a:solidFill>
                            <a:srgbClr val="FFFFFF"/>
                          </a:solidFill>
                          <a:latin typeface="Calibri"/>
                        </a:rPr>
                        <a:t>Subespecialización que piden (subtemas con su n.º)</a:t>
                      </a:r>
                    </a:p>
                  </a:txBody>
                  <a:tcPr marL="54864" marR="54864" marT="22860" marB="22860" anchor="ctr">
                    <a:solidFill>
                      <a:srgbClr val="0B5C7A"/>
                    </a:solidFill>
                  </a:tcPr>
                </a:tc>
              </a:tr>
              <a:tr h="457200">
                <a:tc>
                  <a:txBody>
                    <a:bodyPr wrap="square"/>
                    <a:lstStyle/>
                    <a:p>
                      <a:r>
                        <a:rPr sz="1100" b="1">
                          <a:solidFill>
                            <a:srgbClr val="A24A07"/>
                          </a:solidFill>
                          <a:latin typeface="Calibri"/>
                        </a:rPr>
                        <a:t>Herencias y testamentos (propuesta: hoy sin hoja propia)  [propuesta]</a:t>
                      </a:r>
                    </a:p>
                  </a:txBody>
                  <a:tcPr marL="54864" marR="54864" marT="22860" marB="22860" anchor="ctr">
                    <a:solidFill>
                      <a:srgbClr val="FFFFFF"/>
                    </a:solidFill>
                  </a:tcPr>
                </a:tc>
                <a:tc>
                  <a:txBody>
                    <a:bodyPr wrap="square"/>
                    <a:lstStyle/>
                    <a:p>
                      <a:pPr algn="r"/>
                      <a:r>
                        <a:rPr sz="1100" b="0">
                          <a:solidFill>
                            <a:srgbClr val="14202E"/>
                          </a:solidFill>
                          <a:latin typeface="Calibri"/>
                        </a:rPr>
                        <a:t>64</a:t>
                      </a:r>
                    </a:p>
                  </a:txBody>
                  <a:tcPr marL="54864" marR="54864" marT="22860" marB="22860" anchor="ctr">
                    <a:solidFill>
                      <a:srgbClr val="FFFFFF"/>
                    </a:solidFill>
                  </a:tcPr>
                </a:tc>
                <a:tc>
                  <a:txBody>
                    <a:bodyPr wrap="square"/>
                    <a:lstStyle/>
                    <a:p>
                      <a:pPr algn="r"/>
                      <a:r>
                        <a:rPr sz="1100" b="0">
                          <a:solidFill>
                            <a:srgbClr val="14202E"/>
                          </a:solidFill>
                          <a:latin typeface="Calibri"/>
                        </a:rPr>
                        <a:t>44</a:t>
                      </a:r>
                    </a:p>
                  </a:txBody>
                  <a:tcPr marL="54864" marR="54864" marT="22860" marB="22860" anchor="ctr">
                    <a:solidFill>
                      <a:srgbClr val="FFFFFF"/>
                    </a:solidFill>
                  </a:tcPr>
                </a:tc>
                <a:tc>
                  <a:txBody>
                    <a:bodyPr wrap="square"/>
                    <a:lstStyle/>
                    <a:p>
                      <a:pPr algn="r"/>
                      <a:r>
                        <a:rPr sz="1100" b="0">
                          <a:solidFill>
                            <a:srgbClr val="14202E"/>
                          </a:solidFill>
                          <a:latin typeface="Calibri"/>
                        </a:rPr>
                        <a:t>24 · 0 · 40</a:t>
                      </a:r>
                    </a:p>
                  </a:txBody>
                  <a:tcPr marL="54864" marR="54864" marT="22860" marB="22860" anchor="ctr">
                    <a:solidFill>
                      <a:srgbClr val="FFFFFF"/>
                    </a:solidFill>
                  </a:tcPr>
                </a:tc>
                <a:tc>
                  <a:txBody>
                    <a:bodyPr wrap="square"/>
                    <a:lstStyle/>
                    <a:p>
                      <a:r>
                        <a:rPr sz="1000" b="0">
                          <a:solidFill>
                            <a:srgbClr val="14202E"/>
                          </a:solidFill>
                          <a:latin typeface="Calibri"/>
                        </a:rPr>
                        <a:t>Herencia, testamento y declaración de herederos 64</a:t>
                      </a:r>
                    </a:p>
                  </a:txBody>
                  <a:tcPr marL="54864" marR="54864" marT="22860" marB="22860" anchor="ctr">
                    <a:solidFill>
                      <a:srgbClr val="FFFFFF"/>
                    </a:solidFill>
                  </a:tcPr>
                </a:tc>
              </a:tr>
              <a:tr h="457200">
                <a:tc>
                  <a:txBody>
                    <a:bodyPr wrap="square"/>
                    <a:lstStyle/>
                    <a:p>
                      <a:r>
                        <a:rPr sz="1100" b="0">
                          <a:solidFill>
                            <a:srgbClr val="14202E"/>
                          </a:solidFill>
                          <a:latin typeface="Calibri"/>
                        </a:rPr>
                        <a:t>Mediación y resolución de litigios</a:t>
                      </a:r>
                    </a:p>
                  </a:txBody>
                  <a:tcPr marL="54864" marR="54864" marT="22860" marB="22860" anchor="ctr">
                    <a:solidFill>
                      <a:srgbClr val="FAFBFC"/>
                    </a:solidFill>
                  </a:tcPr>
                </a:tc>
                <a:tc>
                  <a:txBody>
                    <a:bodyPr wrap="square"/>
                    <a:lstStyle/>
                    <a:p>
                      <a:pPr algn="r"/>
                      <a:r>
                        <a:rPr sz="1100" b="0">
                          <a:solidFill>
                            <a:srgbClr val="14202E"/>
                          </a:solidFill>
                          <a:latin typeface="Calibri"/>
                        </a:rPr>
                        <a:t>24</a:t>
                      </a:r>
                    </a:p>
                  </a:txBody>
                  <a:tcPr marL="54864" marR="54864" marT="22860" marB="22860" anchor="ctr">
                    <a:solidFill>
                      <a:srgbClr val="FAFBFC"/>
                    </a:solidFill>
                  </a:tcPr>
                </a:tc>
                <a:tc>
                  <a:txBody>
                    <a:bodyPr wrap="square"/>
                    <a:lstStyle/>
                    <a:p>
                      <a:pPr algn="r"/>
                      <a:r>
                        <a:rPr sz="1100" b="0">
                          <a:solidFill>
                            <a:srgbClr val="14202E"/>
                          </a:solidFill>
                          <a:latin typeface="Calibri"/>
                        </a:rPr>
                        <a:t>10</a:t>
                      </a:r>
                    </a:p>
                  </a:txBody>
                  <a:tcPr marL="54864" marR="54864" marT="22860" marB="22860" anchor="ctr">
                    <a:solidFill>
                      <a:srgbClr val="FAFBFC"/>
                    </a:solidFill>
                  </a:tcPr>
                </a:tc>
                <a:tc>
                  <a:txBody>
                    <a:bodyPr wrap="square"/>
                    <a:lstStyle/>
                    <a:p>
                      <a:pPr algn="r"/>
                      <a:r>
                        <a:rPr sz="1100" b="0">
                          <a:solidFill>
                            <a:srgbClr val="14202E"/>
                          </a:solidFill>
                          <a:latin typeface="Calibri"/>
                        </a:rPr>
                        <a:t>14 · 0 · 10</a:t>
                      </a:r>
                    </a:p>
                  </a:txBody>
                  <a:tcPr marL="54864" marR="54864" marT="22860" marB="22860" anchor="ctr">
                    <a:solidFill>
                      <a:srgbClr val="FAFBFC"/>
                    </a:solidFill>
                  </a:tcPr>
                </a:tc>
                <a:tc>
                  <a:txBody>
                    <a:bodyPr wrap="square"/>
                    <a:lstStyle/>
                    <a:p>
                      <a:r>
                        <a:rPr sz="1000" b="0">
                          <a:solidFill>
                            <a:srgbClr val="14202E"/>
                          </a:solidFill>
                          <a:latin typeface="Calibri"/>
                        </a:rPr>
                        <a:t>Litigio, reclamación y mediación 22 · Penal / penal económico 5</a:t>
                      </a:r>
                    </a:p>
                  </a:txBody>
                  <a:tcPr marL="54864" marR="54864" marT="22860" marB="22860" anchor="ctr">
                    <a:solidFill>
                      <a:srgbClr val="FAFBFC"/>
                    </a:solidFill>
                  </a:tcPr>
                </a:tc>
              </a:tr>
              <a:tr h="457200">
                <a:tc>
                  <a:txBody>
                    <a:bodyPr wrap="square"/>
                    <a:lstStyle/>
                    <a:p>
                      <a:r>
                        <a:rPr sz="1100" b="1">
                          <a:solidFill>
                            <a:srgbClr val="A24A07"/>
                          </a:solidFill>
                          <a:latin typeface="Calibri"/>
                        </a:rPr>
                        <a:t>Derecho de familia: divorcio, custodia (propuesta)  [propuesta]</a:t>
                      </a:r>
                    </a:p>
                  </a:txBody>
                  <a:tcPr marL="54864" marR="54864" marT="22860" marB="22860" anchor="ctr">
                    <a:solidFill>
                      <a:srgbClr val="FFFFFF"/>
                    </a:solidFill>
                  </a:tcPr>
                </a:tc>
                <a:tc>
                  <a:txBody>
                    <a:bodyPr wrap="square"/>
                    <a:lstStyle/>
                    <a:p>
                      <a:pPr algn="r"/>
                      <a:r>
                        <a:rPr sz="1100" b="0">
                          <a:solidFill>
                            <a:srgbClr val="14202E"/>
                          </a:solidFill>
                          <a:latin typeface="Calibri"/>
                        </a:rPr>
                        <a:t>20</a:t>
                      </a:r>
                    </a:p>
                  </a:txBody>
                  <a:tcPr marL="54864" marR="54864" marT="22860" marB="22860" anchor="ctr">
                    <a:solidFill>
                      <a:srgbClr val="FFFFFF"/>
                    </a:solidFill>
                  </a:tcPr>
                </a:tc>
                <a:tc>
                  <a:txBody>
                    <a:bodyPr wrap="square"/>
                    <a:lstStyle/>
                    <a:p>
                      <a:pPr algn="r"/>
                      <a:r>
                        <a:rPr sz="1100" b="0">
                          <a:solidFill>
                            <a:srgbClr val="14202E"/>
                          </a:solidFill>
                          <a:latin typeface="Calibri"/>
                        </a:rPr>
                        <a:t>9</a:t>
                      </a:r>
                    </a:p>
                  </a:txBody>
                  <a:tcPr marL="54864" marR="54864" marT="22860" marB="22860" anchor="ctr">
                    <a:solidFill>
                      <a:srgbClr val="FFFFFF"/>
                    </a:solidFill>
                  </a:tcPr>
                </a:tc>
                <a:tc>
                  <a:txBody>
                    <a:bodyPr wrap="square"/>
                    <a:lstStyle/>
                    <a:p>
                      <a:pPr algn="r"/>
                      <a:r>
                        <a:rPr sz="1100" b="0">
                          <a:solidFill>
                            <a:srgbClr val="14202E"/>
                          </a:solidFill>
                          <a:latin typeface="Calibri"/>
                        </a:rPr>
                        <a:t>9 · 0 · 11</a:t>
                      </a:r>
                    </a:p>
                  </a:txBody>
                  <a:tcPr marL="54864" marR="54864" marT="22860" marB="22860" anchor="ctr">
                    <a:solidFill>
                      <a:srgbClr val="FFFFFF"/>
                    </a:solidFill>
                  </a:tcPr>
                </a:tc>
                <a:tc>
                  <a:txBody>
                    <a:bodyPr wrap="square"/>
                    <a:lstStyle/>
                    <a:p>
                      <a:r>
                        <a:rPr sz="1000" b="0">
                          <a:solidFill>
                            <a:srgbClr val="14202E"/>
                          </a:solidFill>
                          <a:latin typeface="Calibri"/>
                        </a:rPr>
                        <a:t>Familia: divorcio, custodia, régimen matrimonial 20</a:t>
                      </a:r>
                    </a:p>
                  </a:txBody>
                  <a:tcPr marL="54864" marR="54864" marT="22860" marB="22860" anchor="ctr">
                    <a:solidFill>
                      <a:srgbClr val="FFFFFF"/>
                    </a:solidFill>
                  </a:tcPr>
                </a:tc>
              </a:tr>
            </a:tbl>
          </a:graphicData>
        </a:graphic>
      </p:graphicFrame>
      <p:sp>
        <p:nvSpPr>
          <p:cNvPr id="9" name="TextBox 8"/>
          <p:cNvSpPr txBox="1"/>
          <p:nvPr/>
        </p:nvSpPr>
        <p:spPr>
          <a:xfrm>
            <a:off x="548640" y="4023360"/>
            <a:ext cx="11064240" cy="77724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Derecho mercantil y emprendimiento · MER-1 domina (99); MER-2, MER-3 y MER-4 apenas aparecen (9, 7 y 3). «Alta de autónomo» pesa tanto como crear sociedad y merece su propia ruta.</a:t>
            </a:r>
          </a:p>
        </p:txBody>
      </p:sp>
      <p:graphicFrame>
        <p:nvGraphicFramePr>
          <p:cNvPr id="10" name="Table 9"/>
          <p:cNvGraphicFramePr>
            <a:graphicFrameLocks noGrp="1"/>
          </p:cNvGraphicFramePr>
          <p:nvPr/>
        </p:nvGraphicFramePr>
        <p:xfrm>
          <a:off x="548640" y="4572000"/>
          <a:ext cx="11064240" cy="2286000"/>
        </p:xfrm>
        <a:graphic>
          <a:graphicData uri="http://schemas.openxmlformats.org/drawingml/2006/table">
            <a:tbl>
              <a:tblPr firstRow="1" bandRow="1">
                <a:tableStyleId>{5C22544A-7EE6-4342-B048-85BDC9FD1C3A}</a:tableStyleId>
              </a:tblPr>
              <a:tblGrid>
                <a:gridCol w="3200400"/>
                <a:gridCol w="822960"/>
                <a:gridCol w="914400"/>
                <a:gridCol w="1005840"/>
                <a:gridCol w="5120640"/>
              </a:tblGrid>
              <a:tr h="457200">
                <a:tc>
                  <a:txBody>
                    <a:bodyPr wrap="square"/>
                    <a:lstStyle/>
                    <a:p>
                      <a:r>
                        <a:rPr sz="1100" b="1">
                          <a:solidFill>
                            <a:srgbClr val="FFFFFF"/>
                          </a:solidFill>
                          <a:latin typeface="Calibri"/>
                        </a:rPr>
                        <a:t>Hoja</a:t>
                      </a:r>
                    </a:p>
                  </a:txBody>
                  <a:tcPr marL="54864" marR="54864" marT="22860" marB="22860" anchor="ctr">
                    <a:solidFill>
                      <a:srgbClr val="0B5C7A"/>
                    </a:solidFill>
                  </a:tcPr>
                </a:tc>
                <a:tc>
                  <a:txBody>
                    <a:bodyPr wrap="square"/>
                    <a:lstStyle/>
                    <a:p>
                      <a:pPr algn="r"/>
                      <a:r>
                        <a:rPr sz="1100" b="1">
                          <a:solidFill>
                            <a:srgbClr val="FFFFFF"/>
                          </a:solidFill>
                          <a:latin typeface="Calibri"/>
                        </a:rPr>
                        <a:t>Menciones</a:t>
                      </a:r>
                    </a:p>
                  </a:txBody>
                  <a:tcPr marL="54864" marR="54864" marT="22860" marB="22860" anchor="ctr">
                    <a:solidFill>
                      <a:srgbClr val="0B5C7A"/>
                    </a:solidFill>
                  </a:tcPr>
                </a:tc>
                <a:tc>
                  <a:txBody>
                    <a:bodyPr wrap="square"/>
                    <a:lstStyle/>
                    <a:p>
                      <a:pPr algn="r"/>
                      <a:r>
                        <a:rPr sz="1100" b="1">
                          <a:solidFill>
                            <a:srgbClr val="FFFFFF"/>
                          </a:solidFill>
                          <a:latin typeface="Calibri"/>
                        </a:rPr>
                        <a:t>Tema principal</a:t>
                      </a:r>
                    </a:p>
                  </a:txBody>
                  <a:tcPr marL="54864" marR="54864" marT="22860" marB="22860" anchor="ctr">
                    <a:solidFill>
                      <a:srgbClr val="0B5C7A"/>
                    </a:solidFill>
                  </a:tcPr>
                </a:tc>
                <a:tc>
                  <a:txBody>
                    <a:bodyPr wrap="square"/>
                    <a:lstStyle/>
                    <a:p>
                      <a:pPr algn="r"/>
                      <a:r>
                        <a:rPr sz="1100" b="1">
                          <a:solidFill>
                            <a:srgbClr val="FFFFFF"/>
                          </a:solidFill>
                          <a:latin typeface="Calibri"/>
                        </a:rPr>
                        <a:t>ES · EN · FR</a:t>
                      </a:r>
                    </a:p>
                  </a:txBody>
                  <a:tcPr marL="54864" marR="54864" marT="22860" marB="22860" anchor="ctr">
                    <a:solidFill>
                      <a:srgbClr val="0B5C7A"/>
                    </a:solidFill>
                  </a:tcPr>
                </a:tc>
                <a:tc>
                  <a:txBody>
                    <a:bodyPr wrap="square"/>
                    <a:lstStyle/>
                    <a:p>
                      <a:r>
                        <a:rPr sz="1100" b="1">
                          <a:solidFill>
                            <a:srgbClr val="FFFFFF"/>
                          </a:solidFill>
                          <a:latin typeface="Calibri"/>
                        </a:rPr>
                        <a:t>Subespecialización que piden (subtemas con su n.º)</a:t>
                      </a:r>
                    </a:p>
                  </a:txBody>
                  <a:tcPr marL="54864" marR="54864" marT="22860" marB="22860" anchor="ctr">
                    <a:solidFill>
                      <a:srgbClr val="0B5C7A"/>
                    </a:solidFill>
                  </a:tcPr>
                </a:tc>
              </a:tr>
              <a:tr h="457200">
                <a:tc>
                  <a:txBody>
                    <a:bodyPr wrap="square"/>
                    <a:lstStyle/>
                    <a:p>
                      <a:r>
                        <a:rPr sz="1100" b="0">
                          <a:solidFill>
                            <a:srgbClr val="14202E"/>
                          </a:solidFill>
                          <a:latin typeface="Calibri"/>
                        </a:rPr>
                        <a:t>Creación de empresa en España</a:t>
                      </a:r>
                    </a:p>
                  </a:txBody>
                  <a:tcPr marL="54864" marR="54864" marT="22860" marB="22860" anchor="ctr">
                    <a:solidFill>
                      <a:srgbClr val="FFFFFF"/>
                    </a:solidFill>
                  </a:tcPr>
                </a:tc>
                <a:tc>
                  <a:txBody>
                    <a:bodyPr wrap="square"/>
                    <a:lstStyle/>
                    <a:p>
                      <a:pPr algn="r"/>
                      <a:r>
                        <a:rPr sz="1100" b="0">
                          <a:solidFill>
                            <a:srgbClr val="14202E"/>
                          </a:solidFill>
                          <a:latin typeface="Calibri"/>
                        </a:rPr>
                        <a:t>99</a:t>
                      </a:r>
                    </a:p>
                  </a:txBody>
                  <a:tcPr marL="54864" marR="54864" marT="22860" marB="22860" anchor="ctr">
                    <a:solidFill>
                      <a:srgbClr val="FFFFFF"/>
                    </a:solidFill>
                  </a:tcPr>
                </a:tc>
                <a:tc>
                  <a:txBody>
                    <a:bodyPr wrap="square"/>
                    <a:lstStyle/>
                    <a:p>
                      <a:pPr algn="r"/>
                      <a:r>
                        <a:rPr sz="1100" b="0">
                          <a:solidFill>
                            <a:srgbClr val="14202E"/>
                          </a:solidFill>
                          <a:latin typeface="Calibri"/>
                        </a:rPr>
                        <a:t>70</a:t>
                      </a:r>
                    </a:p>
                  </a:txBody>
                  <a:tcPr marL="54864" marR="54864" marT="22860" marB="22860" anchor="ctr">
                    <a:solidFill>
                      <a:srgbClr val="FFFFFF"/>
                    </a:solidFill>
                  </a:tcPr>
                </a:tc>
                <a:tc>
                  <a:txBody>
                    <a:bodyPr wrap="square"/>
                    <a:lstStyle/>
                    <a:p>
                      <a:pPr algn="r"/>
                      <a:r>
                        <a:rPr sz="1100" b="0">
                          <a:solidFill>
                            <a:srgbClr val="14202E"/>
                          </a:solidFill>
                          <a:latin typeface="Calibri"/>
                        </a:rPr>
                        <a:t>27 · 5 · 67</a:t>
                      </a:r>
                    </a:p>
                  </a:txBody>
                  <a:tcPr marL="54864" marR="54864" marT="22860" marB="22860" anchor="ctr">
                    <a:solidFill>
                      <a:srgbClr val="FFFFFF"/>
                    </a:solidFill>
                  </a:tcPr>
                </a:tc>
                <a:tc>
                  <a:txBody>
                    <a:bodyPr wrap="square"/>
                    <a:lstStyle/>
                    <a:p>
                      <a:r>
                        <a:rPr sz="1000" b="0">
                          <a:solidFill>
                            <a:srgbClr val="14202E"/>
                          </a:solidFill>
                          <a:latin typeface="Calibri"/>
                        </a:rPr>
                        <a:t>Crear una sociedad / abrir un negocio 78 · Alta de autónomo / freelance / auto-entrepreneur 27 · Implantación / inversión extranjera en España 4</a:t>
                      </a:r>
                    </a:p>
                  </a:txBody>
                  <a:tcPr marL="54864" marR="54864" marT="22860" marB="22860" anchor="ctr">
                    <a:solidFill>
                      <a:srgbClr val="FFFFFF"/>
                    </a:solidFill>
                  </a:tcPr>
                </a:tc>
              </a:tr>
              <a:tr h="457200">
                <a:tc>
                  <a:txBody>
                    <a:bodyPr wrap="square"/>
                    <a:lstStyle/>
                    <a:p>
                      <a:r>
                        <a:rPr sz="1100" b="0">
                          <a:solidFill>
                            <a:srgbClr val="14202E"/>
                          </a:solidFill>
                          <a:latin typeface="Calibri"/>
                        </a:rPr>
                        <a:t>Derecho mercantil y contratos comerciales</a:t>
                      </a:r>
                    </a:p>
                  </a:txBody>
                  <a:tcPr marL="54864" marR="54864" marT="22860" marB="22860" anchor="ctr">
                    <a:solidFill>
                      <a:srgbClr val="FAFBFC"/>
                    </a:solidFill>
                  </a:tcPr>
                </a:tc>
                <a:tc>
                  <a:txBody>
                    <a:bodyPr wrap="square"/>
                    <a:lstStyle/>
                    <a:p>
                      <a:pPr algn="r"/>
                      <a:r>
                        <a:rPr sz="1100" b="0">
                          <a:solidFill>
                            <a:srgbClr val="14202E"/>
                          </a:solidFill>
                          <a:latin typeface="Calibri"/>
                        </a:rPr>
                        <a:t>9</a:t>
                      </a:r>
                    </a:p>
                  </a:txBody>
                  <a:tcPr marL="54864" marR="54864" marT="22860" marB="22860" anchor="ctr">
                    <a:solidFill>
                      <a:srgbClr val="FAFBFC"/>
                    </a:solidFill>
                  </a:tcPr>
                </a:tc>
                <a:tc>
                  <a:txBody>
                    <a:bodyPr wrap="square"/>
                    <a:lstStyle/>
                    <a:p>
                      <a:pPr algn="r"/>
                      <a:r>
                        <a:rPr sz="1100" b="0">
                          <a:solidFill>
                            <a:srgbClr val="14202E"/>
                          </a:solidFill>
                          <a:latin typeface="Calibri"/>
                        </a:rPr>
                        <a:t>1</a:t>
                      </a:r>
                    </a:p>
                  </a:txBody>
                  <a:tcPr marL="54864" marR="54864" marT="22860" marB="22860" anchor="ctr">
                    <a:solidFill>
                      <a:srgbClr val="FAFBFC"/>
                    </a:solidFill>
                  </a:tcPr>
                </a:tc>
                <a:tc>
                  <a:txBody>
                    <a:bodyPr wrap="square"/>
                    <a:lstStyle/>
                    <a:p>
                      <a:pPr algn="r"/>
                      <a:r>
                        <a:rPr sz="1100" b="0">
                          <a:solidFill>
                            <a:srgbClr val="14202E"/>
                          </a:solidFill>
                          <a:latin typeface="Calibri"/>
                        </a:rPr>
                        <a:t>6 · 0 · 3</a:t>
                      </a:r>
                    </a:p>
                  </a:txBody>
                  <a:tcPr marL="54864" marR="54864" marT="22860" marB="22860" anchor="ctr">
                    <a:solidFill>
                      <a:srgbClr val="FAFBFC"/>
                    </a:solidFill>
                  </a:tcPr>
                </a:tc>
                <a:tc>
                  <a:txBody>
                    <a:bodyPr wrap="square"/>
                    <a:lstStyle/>
                    <a:p>
                      <a:r>
                        <a:rPr sz="1000" b="0">
                          <a:solidFill>
                            <a:srgbClr val="14202E"/>
                          </a:solidFill>
                          <a:latin typeface="Calibri"/>
                        </a:rPr>
                        <a:t>Marca, propiedad intelectual, RGPD 6 · Contratos mercantiles y de distribución 3</a:t>
                      </a:r>
                    </a:p>
                  </a:txBody>
                  <a:tcPr marL="54864" marR="54864" marT="22860" marB="22860" anchor="ctr">
                    <a:solidFill>
                      <a:srgbClr val="FAFBFC"/>
                    </a:solidFill>
                  </a:tcPr>
                </a:tc>
              </a:tr>
              <a:tr h="457200">
                <a:tc>
                  <a:txBody>
                    <a:bodyPr wrap="square"/>
                    <a:lstStyle/>
                    <a:p>
                      <a:r>
                        <a:rPr sz="1100" b="0">
                          <a:solidFill>
                            <a:srgbClr val="14202E"/>
                          </a:solidFill>
                          <a:latin typeface="Calibri"/>
                        </a:rPr>
                        <a:t>Auditoría y reestructuración empresarial</a:t>
                      </a:r>
                    </a:p>
                  </a:txBody>
                  <a:tcPr marL="54864" marR="54864" marT="22860" marB="22860" anchor="ctr">
                    <a:solidFill>
                      <a:srgbClr val="FFFFFF"/>
                    </a:solidFill>
                  </a:tcPr>
                </a:tc>
                <a:tc>
                  <a:txBody>
                    <a:bodyPr wrap="square"/>
                    <a:lstStyle/>
                    <a:p>
                      <a:pPr algn="r"/>
                      <a:r>
                        <a:rPr sz="1100" b="0">
                          <a:solidFill>
                            <a:srgbClr val="14202E"/>
                          </a:solidFill>
                          <a:latin typeface="Calibri"/>
                        </a:rPr>
                        <a:t>7</a:t>
                      </a:r>
                    </a:p>
                  </a:txBody>
                  <a:tcPr marL="54864" marR="54864" marT="22860" marB="22860" anchor="ctr">
                    <a:solidFill>
                      <a:srgbClr val="FFFFFF"/>
                    </a:solidFill>
                  </a:tcPr>
                </a:tc>
                <a:tc>
                  <a:txBody>
                    <a:bodyPr wrap="square"/>
                    <a:lstStyle/>
                    <a:p>
                      <a:pPr algn="r"/>
                      <a:r>
                        <a:rPr sz="1100" b="0">
                          <a:solidFill>
                            <a:srgbClr val="14202E"/>
                          </a:solidFill>
                          <a:latin typeface="Calibri"/>
                        </a:rPr>
                        <a:t>1</a:t>
                      </a:r>
                    </a:p>
                  </a:txBody>
                  <a:tcPr marL="54864" marR="54864" marT="22860" marB="22860" anchor="ctr">
                    <a:solidFill>
                      <a:srgbClr val="FFFFFF"/>
                    </a:solidFill>
                  </a:tcPr>
                </a:tc>
                <a:tc>
                  <a:txBody>
                    <a:bodyPr wrap="square"/>
                    <a:lstStyle/>
                    <a:p>
                      <a:pPr algn="r"/>
                      <a:r>
                        <a:rPr sz="1100" b="0">
                          <a:solidFill>
                            <a:srgbClr val="14202E"/>
                          </a:solidFill>
                          <a:latin typeface="Calibri"/>
                        </a:rPr>
                        <a:t>3 · 0 · 4</a:t>
                      </a:r>
                    </a:p>
                  </a:txBody>
                  <a:tcPr marL="54864" marR="54864" marT="22860" marB="22860" anchor="ctr">
                    <a:solidFill>
                      <a:srgbClr val="FFFFFF"/>
                    </a:solidFill>
                  </a:tcPr>
                </a:tc>
                <a:tc>
                  <a:txBody>
                    <a:bodyPr wrap="square"/>
                    <a:lstStyle/>
                    <a:p>
                      <a:r>
                        <a:rPr sz="1000" b="0">
                          <a:solidFill>
                            <a:srgbClr val="14202E"/>
                          </a:solidFill>
                          <a:latin typeface="Calibri"/>
                        </a:rPr>
                        <a:t>Insolvencia, concurso y reestructuración 7</a:t>
                      </a:r>
                    </a:p>
                  </a:txBody>
                  <a:tcPr marL="54864" marR="54864" marT="22860" marB="22860" anchor="ctr">
                    <a:solidFill>
                      <a:srgbClr val="FFFFFF"/>
                    </a:solidFill>
                  </a:tcPr>
                </a:tc>
              </a:tr>
              <a:tr h="457200">
                <a:tc>
                  <a:txBody>
                    <a:bodyPr wrap="square"/>
                    <a:lstStyle/>
                    <a:p>
                      <a:r>
                        <a:rPr sz="1100" b="0">
                          <a:solidFill>
                            <a:srgbClr val="14202E"/>
                          </a:solidFill>
                          <a:latin typeface="Calibri"/>
                        </a:rPr>
                        <a:t>Desarrollo de redes de franquicia</a:t>
                      </a:r>
                    </a:p>
                  </a:txBody>
                  <a:tcPr marL="54864" marR="54864" marT="22860" marB="22860" anchor="ctr">
                    <a:solidFill>
                      <a:srgbClr val="FAFBFC"/>
                    </a:solidFill>
                  </a:tcPr>
                </a:tc>
                <a:tc>
                  <a:txBody>
                    <a:bodyPr wrap="square"/>
                    <a:lstStyle/>
                    <a:p>
                      <a:pPr algn="r"/>
                      <a:r>
                        <a:rPr sz="1100" b="0">
                          <a:solidFill>
                            <a:srgbClr val="14202E"/>
                          </a:solidFill>
                          <a:latin typeface="Calibri"/>
                        </a:rPr>
                        <a:t>3</a:t>
                      </a:r>
                    </a:p>
                  </a:txBody>
                  <a:tcPr marL="54864" marR="54864" marT="22860" marB="22860" anchor="ctr">
                    <a:solidFill>
                      <a:srgbClr val="FAFBFC"/>
                    </a:solidFill>
                  </a:tcPr>
                </a:tc>
                <a:tc>
                  <a:txBody>
                    <a:bodyPr wrap="square"/>
                    <a:lstStyle/>
                    <a:p>
                      <a:pPr algn="r"/>
                      <a:r>
                        <a:rPr sz="1100" b="0">
                          <a:solidFill>
                            <a:srgbClr val="14202E"/>
                          </a:solidFill>
                          <a:latin typeface="Calibri"/>
                        </a:rPr>
                        <a:t>3</a:t>
                      </a:r>
                    </a:p>
                  </a:txBody>
                  <a:tcPr marL="54864" marR="54864" marT="22860" marB="22860" anchor="ctr">
                    <a:solidFill>
                      <a:srgbClr val="FAFBFC"/>
                    </a:solidFill>
                  </a:tcPr>
                </a:tc>
                <a:tc>
                  <a:txBody>
                    <a:bodyPr wrap="square"/>
                    <a:lstStyle/>
                    <a:p>
                      <a:pPr algn="r"/>
                      <a:r>
                        <a:rPr sz="1100" b="0">
                          <a:solidFill>
                            <a:srgbClr val="14202E"/>
                          </a:solidFill>
                          <a:latin typeface="Calibri"/>
                        </a:rPr>
                        <a:t>3 · 0 · 0</a:t>
                      </a:r>
                    </a:p>
                  </a:txBody>
                  <a:tcPr marL="54864" marR="54864" marT="22860" marB="22860" anchor="ctr">
                    <a:solidFill>
                      <a:srgbClr val="FAFBFC"/>
                    </a:solidFill>
                  </a:tcPr>
                </a:tc>
                <a:tc>
                  <a:txBody>
                    <a:bodyPr wrap="square"/>
                    <a:lstStyle/>
                    <a:p>
                      <a:r>
                        <a:rPr sz="1000" b="0">
                          <a:solidFill>
                            <a:srgbClr val="14202E"/>
                          </a:solidFill>
                          <a:latin typeface="Calibri"/>
                        </a:rPr>
                        <a:t>Franquicia 3</a:t>
                      </a:r>
                    </a:p>
                  </a:txBody>
                  <a:tcPr marL="54864" marR="54864" marT="22860" marB="22860" anchor="ctr">
                    <a:solidFill>
                      <a:srgbClr val="FAFBFC"/>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Árbol de especialidades frente a la demanda (4/4)</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14</a:t>
            </a:r>
          </a:p>
        </p:txBody>
      </p:sp>
      <p:sp>
        <p:nvSpPr>
          <p:cNvPr id="7" name="TextBox 6"/>
          <p:cNvSpPr txBox="1"/>
          <p:nvPr/>
        </p:nvSpPr>
        <p:spPr>
          <a:xfrm>
            <a:off x="548640" y="1463040"/>
            <a:ext cx="11064240" cy="77724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Derecho laboral y RRHH · La demanda laboral viene de personas (despido, contrato, salario: 47 menciones), no de empresas (RRHH, compliance y asesoría para empresas: 19). Conviene replantear qué hojas se destacan.</a:t>
            </a:r>
          </a:p>
        </p:txBody>
      </p:sp>
      <p:graphicFrame>
        <p:nvGraphicFramePr>
          <p:cNvPr id="8" name="Table 7"/>
          <p:cNvGraphicFramePr>
            <a:graphicFrameLocks noGrp="1"/>
          </p:cNvGraphicFramePr>
          <p:nvPr/>
        </p:nvGraphicFramePr>
        <p:xfrm>
          <a:off x="548640" y="2011680"/>
          <a:ext cx="11064240" cy="2286000"/>
        </p:xfrm>
        <a:graphic>
          <a:graphicData uri="http://schemas.openxmlformats.org/drawingml/2006/table">
            <a:tbl>
              <a:tblPr firstRow="1" bandRow="1">
                <a:tableStyleId>{5C22544A-7EE6-4342-B048-85BDC9FD1C3A}</a:tableStyleId>
              </a:tblPr>
              <a:tblGrid>
                <a:gridCol w="3200400"/>
                <a:gridCol w="822960"/>
                <a:gridCol w="914400"/>
                <a:gridCol w="1005840"/>
                <a:gridCol w="5120640"/>
              </a:tblGrid>
              <a:tr h="457200">
                <a:tc>
                  <a:txBody>
                    <a:bodyPr wrap="square"/>
                    <a:lstStyle/>
                    <a:p>
                      <a:r>
                        <a:rPr sz="1100" b="1">
                          <a:solidFill>
                            <a:srgbClr val="FFFFFF"/>
                          </a:solidFill>
                          <a:latin typeface="Calibri"/>
                        </a:rPr>
                        <a:t>Hoja</a:t>
                      </a:r>
                    </a:p>
                  </a:txBody>
                  <a:tcPr marL="54864" marR="54864" marT="22860" marB="22860" anchor="ctr">
                    <a:solidFill>
                      <a:srgbClr val="0B5C7A"/>
                    </a:solidFill>
                  </a:tcPr>
                </a:tc>
                <a:tc>
                  <a:txBody>
                    <a:bodyPr wrap="square"/>
                    <a:lstStyle/>
                    <a:p>
                      <a:pPr algn="r"/>
                      <a:r>
                        <a:rPr sz="1100" b="1">
                          <a:solidFill>
                            <a:srgbClr val="FFFFFF"/>
                          </a:solidFill>
                          <a:latin typeface="Calibri"/>
                        </a:rPr>
                        <a:t>Menciones</a:t>
                      </a:r>
                    </a:p>
                  </a:txBody>
                  <a:tcPr marL="54864" marR="54864" marT="22860" marB="22860" anchor="ctr">
                    <a:solidFill>
                      <a:srgbClr val="0B5C7A"/>
                    </a:solidFill>
                  </a:tcPr>
                </a:tc>
                <a:tc>
                  <a:txBody>
                    <a:bodyPr wrap="square"/>
                    <a:lstStyle/>
                    <a:p>
                      <a:pPr algn="r"/>
                      <a:r>
                        <a:rPr sz="1100" b="1">
                          <a:solidFill>
                            <a:srgbClr val="FFFFFF"/>
                          </a:solidFill>
                          <a:latin typeface="Calibri"/>
                        </a:rPr>
                        <a:t>Tema principal</a:t>
                      </a:r>
                    </a:p>
                  </a:txBody>
                  <a:tcPr marL="54864" marR="54864" marT="22860" marB="22860" anchor="ctr">
                    <a:solidFill>
                      <a:srgbClr val="0B5C7A"/>
                    </a:solidFill>
                  </a:tcPr>
                </a:tc>
                <a:tc>
                  <a:txBody>
                    <a:bodyPr wrap="square"/>
                    <a:lstStyle/>
                    <a:p>
                      <a:pPr algn="r"/>
                      <a:r>
                        <a:rPr sz="1100" b="1">
                          <a:solidFill>
                            <a:srgbClr val="FFFFFF"/>
                          </a:solidFill>
                          <a:latin typeface="Calibri"/>
                        </a:rPr>
                        <a:t>ES · EN · FR</a:t>
                      </a:r>
                    </a:p>
                  </a:txBody>
                  <a:tcPr marL="54864" marR="54864" marT="22860" marB="22860" anchor="ctr">
                    <a:solidFill>
                      <a:srgbClr val="0B5C7A"/>
                    </a:solidFill>
                  </a:tcPr>
                </a:tc>
                <a:tc>
                  <a:txBody>
                    <a:bodyPr wrap="square"/>
                    <a:lstStyle/>
                    <a:p>
                      <a:r>
                        <a:rPr sz="1100" b="1">
                          <a:solidFill>
                            <a:srgbClr val="FFFFFF"/>
                          </a:solidFill>
                          <a:latin typeface="Calibri"/>
                        </a:rPr>
                        <a:t>Subespecialización que piden (subtemas con su n.º)</a:t>
                      </a:r>
                    </a:p>
                  </a:txBody>
                  <a:tcPr marL="54864" marR="54864" marT="22860" marB="22860" anchor="ctr">
                    <a:solidFill>
                      <a:srgbClr val="0B5C7A"/>
                    </a:solidFill>
                  </a:tcPr>
                </a:tc>
              </a:tr>
              <a:tr h="457200">
                <a:tc>
                  <a:txBody>
                    <a:bodyPr wrap="square"/>
                    <a:lstStyle/>
                    <a:p>
                      <a:r>
                        <a:rPr sz="1100" b="0">
                          <a:solidFill>
                            <a:srgbClr val="14202E"/>
                          </a:solidFill>
                          <a:latin typeface="Calibri"/>
                        </a:rPr>
                        <a:t>Asesoría en derecho laboral y contratación</a:t>
                      </a:r>
                    </a:p>
                  </a:txBody>
                  <a:tcPr marL="54864" marR="54864" marT="22860" marB="22860" anchor="ctr">
                    <a:solidFill>
                      <a:srgbClr val="FFFFFF"/>
                    </a:solidFill>
                  </a:tcPr>
                </a:tc>
                <a:tc>
                  <a:txBody>
                    <a:bodyPr wrap="square"/>
                    <a:lstStyle/>
                    <a:p>
                      <a:pPr algn="r"/>
                      <a:r>
                        <a:rPr sz="1100" b="0">
                          <a:solidFill>
                            <a:srgbClr val="14202E"/>
                          </a:solidFill>
                          <a:latin typeface="Calibri"/>
                        </a:rPr>
                        <a:t>47</a:t>
                      </a:r>
                    </a:p>
                  </a:txBody>
                  <a:tcPr marL="54864" marR="54864" marT="22860" marB="22860" anchor="ctr">
                    <a:solidFill>
                      <a:srgbClr val="FFFFFF"/>
                    </a:solidFill>
                  </a:tcPr>
                </a:tc>
                <a:tc>
                  <a:txBody>
                    <a:bodyPr wrap="square"/>
                    <a:lstStyle/>
                    <a:p>
                      <a:pPr algn="r"/>
                      <a:r>
                        <a:rPr sz="1100" b="0">
                          <a:solidFill>
                            <a:srgbClr val="14202E"/>
                          </a:solidFill>
                          <a:latin typeface="Calibri"/>
                        </a:rPr>
                        <a:t>39</a:t>
                      </a:r>
                    </a:p>
                  </a:txBody>
                  <a:tcPr marL="54864" marR="54864" marT="22860" marB="22860" anchor="ctr">
                    <a:solidFill>
                      <a:srgbClr val="FFFFFF"/>
                    </a:solidFill>
                  </a:tcPr>
                </a:tc>
                <a:tc>
                  <a:txBody>
                    <a:bodyPr wrap="square"/>
                    <a:lstStyle/>
                    <a:p>
                      <a:pPr algn="r"/>
                      <a:r>
                        <a:rPr sz="1100" b="0">
                          <a:solidFill>
                            <a:srgbClr val="14202E"/>
                          </a:solidFill>
                          <a:latin typeface="Calibri"/>
                        </a:rPr>
                        <a:t>29 · 0 · 18</a:t>
                      </a:r>
                    </a:p>
                  </a:txBody>
                  <a:tcPr marL="54864" marR="54864" marT="22860" marB="22860" anchor="ctr">
                    <a:solidFill>
                      <a:srgbClr val="FFFFFF"/>
                    </a:solidFill>
                  </a:tcPr>
                </a:tc>
                <a:tc>
                  <a:txBody>
                    <a:bodyPr wrap="square"/>
                    <a:lstStyle/>
                    <a:p>
                      <a:r>
                        <a:rPr sz="1000" b="0">
                          <a:solidFill>
                            <a:srgbClr val="14202E"/>
                          </a:solidFill>
                          <a:latin typeface="Calibri"/>
                        </a:rPr>
                        <a:t>Contrato de trabajo, convenio, jornada y vacaciones 30 · Nóminas, impago de salarios, reclamaciones 13 · Despido, finiquito e indemnización 12 · Accidente laboral, baja médica, incapacidad 7</a:t>
                      </a:r>
                    </a:p>
                  </a:txBody>
                  <a:tcPr marL="54864" marR="54864" marT="22860" marB="22860" anchor="ctr">
                    <a:solidFill>
                      <a:srgbClr val="FFFFFF"/>
                    </a:solidFill>
                  </a:tcPr>
                </a:tc>
              </a:tr>
              <a:tr h="457200">
                <a:tc>
                  <a:txBody>
                    <a:bodyPr wrap="square"/>
                    <a:lstStyle/>
                    <a:p>
                      <a:r>
                        <a:rPr sz="1100" b="0">
                          <a:solidFill>
                            <a:srgbClr val="14202E"/>
                          </a:solidFill>
                          <a:latin typeface="Calibri"/>
                        </a:rPr>
                        <a:t>Asesoramiento en recursos humanos</a:t>
                      </a:r>
                    </a:p>
                  </a:txBody>
                  <a:tcPr marL="54864" marR="54864" marT="22860" marB="22860" anchor="ctr">
                    <a:solidFill>
                      <a:srgbClr val="FAFBFC"/>
                    </a:solidFill>
                  </a:tcPr>
                </a:tc>
                <a:tc>
                  <a:txBody>
                    <a:bodyPr wrap="square"/>
                    <a:lstStyle/>
                    <a:p>
                      <a:pPr algn="r"/>
                      <a:r>
                        <a:rPr sz="1100" b="0">
                          <a:solidFill>
                            <a:srgbClr val="14202E"/>
                          </a:solidFill>
                          <a:latin typeface="Calibri"/>
                        </a:rPr>
                        <a:t>4</a:t>
                      </a:r>
                    </a:p>
                  </a:txBody>
                  <a:tcPr marL="54864" marR="54864" marT="22860" marB="22860" anchor="ctr">
                    <a:solidFill>
                      <a:srgbClr val="FAFBFC"/>
                    </a:solidFill>
                  </a:tcPr>
                </a:tc>
                <a:tc>
                  <a:txBody>
                    <a:bodyPr wrap="square"/>
                    <a:lstStyle/>
                    <a:p>
                      <a:pPr algn="r"/>
                      <a:r>
                        <a:rPr sz="1100" b="0">
                          <a:solidFill>
                            <a:srgbClr val="14202E"/>
                          </a:solidFill>
                          <a:latin typeface="Calibri"/>
                        </a:rPr>
                        <a:t>1</a:t>
                      </a:r>
                    </a:p>
                  </a:txBody>
                  <a:tcPr marL="54864" marR="54864" marT="22860" marB="22860" anchor="ctr">
                    <a:solidFill>
                      <a:srgbClr val="FAFBFC"/>
                    </a:solidFill>
                  </a:tcPr>
                </a:tc>
                <a:tc>
                  <a:txBody>
                    <a:bodyPr wrap="square"/>
                    <a:lstStyle/>
                    <a:p>
                      <a:pPr algn="r"/>
                      <a:r>
                        <a:rPr sz="1100" b="0">
                          <a:solidFill>
                            <a:srgbClr val="14202E"/>
                          </a:solidFill>
                          <a:latin typeface="Calibri"/>
                        </a:rPr>
                        <a:t>1 · 0 · 3</a:t>
                      </a:r>
                    </a:p>
                  </a:txBody>
                  <a:tcPr marL="54864" marR="54864" marT="22860" marB="22860" anchor="ctr">
                    <a:solidFill>
                      <a:srgbClr val="FAFBFC"/>
                    </a:solidFill>
                  </a:tcPr>
                </a:tc>
                <a:tc>
                  <a:txBody>
                    <a:bodyPr wrap="square"/>
                    <a:lstStyle/>
                    <a:p>
                      <a:r>
                        <a:rPr sz="1000" b="0">
                          <a:solidFill>
                            <a:srgbClr val="14202E"/>
                          </a:solidFill>
                          <a:latin typeface="Calibri"/>
                        </a:rPr>
                        <a:t>Recursos humanos (reclutamiento, políticas de personal) 4</a:t>
                      </a:r>
                    </a:p>
                  </a:txBody>
                  <a:tcPr marL="54864" marR="54864" marT="22860" marB="22860" anchor="ctr">
                    <a:solidFill>
                      <a:srgbClr val="FAFBFC"/>
                    </a:solidFill>
                  </a:tcPr>
                </a:tc>
              </a:tr>
              <a:tr h="457200">
                <a:tc>
                  <a:txBody>
                    <a:bodyPr wrap="square"/>
                    <a:lstStyle/>
                    <a:p>
                      <a:r>
                        <a:rPr sz="1100" b="0">
                          <a:solidFill>
                            <a:srgbClr val="14202E"/>
                          </a:solidFill>
                          <a:latin typeface="Calibri"/>
                        </a:rPr>
                        <a:t>Compliance laboral</a:t>
                      </a:r>
                    </a:p>
                  </a:txBody>
                  <a:tcPr marL="54864" marR="54864" marT="22860" marB="22860" anchor="ctr">
                    <a:solidFill>
                      <a:srgbClr val="FFFFFF"/>
                    </a:solidFill>
                  </a:tcPr>
                </a:tc>
                <a:tc>
                  <a:txBody>
                    <a:bodyPr wrap="square"/>
                    <a:lstStyle/>
                    <a:p>
                      <a:pPr algn="r"/>
                      <a:r>
                        <a:rPr sz="1100" b="0">
                          <a:solidFill>
                            <a:srgbClr val="14202E"/>
                          </a:solidFill>
                          <a:latin typeface="Calibri"/>
                        </a:rPr>
                        <a:t>4</a:t>
                      </a:r>
                    </a:p>
                  </a:txBody>
                  <a:tcPr marL="54864" marR="54864" marT="22860" marB="22860" anchor="ctr">
                    <a:solidFill>
                      <a:srgbClr val="FFFFFF"/>
                    </a:solidFill>
                  </a:tcPr>
                </a:tc>
                <a:tc>
                  <a:txBody>
                    <a:bodyPr wrap="square"/>
                    <a:lstStyle/>
                    <a:p>
                      <a:pPr algn="r"/>
                      <a:r>
                        <a:rPr sz="1100" b="0">
                          <a:solidFill>
                            <a:srgbClr val="14202E"/>
                          </a:solidFill>
                          <a:latin typeface="Calibri"/>
                        </a:rPr>
                        <a:t>0</a:t>
                      </a:r>
                    </a:p>
                  </a:txBody>
                  <a:tcPr marL="54864" marR="54864" marT="22860" marB="22860" anchor="ctr">
                    <a:solidFill>
                      <a:srgbClr val="FFFFFF"/>
                    </a:solidFill>
                  </a:tcPr>
                </a:tc>
                <a:tc>
                  <a:txBody>
                    <a:bodyPr wrap="square"/>
                    <a:lstStyle/>
                    <a:p>
                      <a:pPr algn="r"/>
                      <a:r>
                        <a:rPr sz="1100" b="0">
                          <a:solidFill>
                            <a:srgbClr val="14202E"/>
                          </a:solidFill>
                          <a:latin typeface="Calibri"/>
                        </a:rPr>
                        <a:t>4 · 0 · 0</a:t>
                      </a:r>
                    </a:p>
                  </a:txBody>
                  <a:tcPr marL="54864" marR="54864" marT="22860" marB="22860" anchor="ctr">
                    <a:solidFill>
                      <a:srgbClr val="FFFFFF"/>
                    </a:solidFill>
                  </a:tcPr>
                </a:tc>
                <a:tc>
                  <a:txBody>
                    <a:bodyPr wrap="square"/>
                    <a:lstStyle/>
                    <a:p>
                      <a:r>
                        <a:rPr sz="1000" b="0">
                          <a:solidFill>
                            <a:srgbClr val="14202E"/>
                          </a:solidFill>
                          <a:latin typeface="Calibri"/>
                        </a:rPr>
                        <a:t>Compliance laboral (igualdad, canal de denuncias, registro horario) 4</a:t>
                      </a:r>
                    </a:p>
                  </a:txBody>
                  <a:tcPr marL="54864" marR="54864" marT="22860" marB="22860" anchor="ctr">
                    <a:solidFill>
                      <a:srgbClr val="FFFFFF"/>
                    </a:solidFill>
                  </a:tcPr>
                </a:tc>
              </a:tr>
              <a:tr h="457200">
                <a:tc>
                  <a:txBody>
                    <a:bodyPr wrap="square"/>
                    <a:lstStyle/>
                    <a:p>
                      <a:r>
                        <a:rPr sz="1100" b="0">
                          <a:solidFill>
                            <a:srgbClr val="14202E"/>
                          </a:solidFill>
                          <a:latin typeface="Calibri"/>
                        </a:rPr>
                        <a:t>Asesoramiento laboral para empresas</a:t>
                      </a:r>
                    </a:p>
                  </a:txBody>
                  <a:tcPr marL="54864" marR="54864" marT="22860" marB="22860" anchor="ctr">
                    <a:solidFill>
                      <a:srgbClr val="FAFBFC"/>
                    </a:solidFill>
                  </a:tcPr>
                </a:tc>
                <a:tc>
                  <a:txBody>
                    <a:bodyPr wrap="square"/>
                    <a:lstStyle/>
                    <a:p>
                      <a:pPr algn="r"/>
                      <a:r>
                        <a:rPr sz="1100" b="0">
                          <a:solidFill>
                            <a:srgbClr val="14202E"/>
                          </a:solidFill>
                          <a:latin typeface="Calibri"/>
                        </a:rPr>
                        <a:t>11</a:t>
                      </a:r>
                    </a:p>
                  </a:txBody>
                  <a:tcPr marL="54864" marR="54864" marT="22860" marB="22860" anchor="ctr">
                    <a:solidFill>
                      <a:srgbClr val="FAFBFC"/>
                    </a:solidFill>
                  </a:tcPr>
                </a:tc>
                <a:tc>
                  <a:txBody>
                    <a:bodyPr wrap="square"/>
                    <a:lstStyle/>
                    <a:p>
                      <a:pPr algn="r"/>
                      <a:r>
                        <a:rPr sz="1100" b="0">
                          <a:solidFill>
                            <a:srgbClr val="14202E"/>
                          </a:solidFill>
                          <a:latin typeface="Calibri"/>
                        </a:rPr>
                        <a:t>3</a:t>
                      </a:r>
                    </a:p>
                  </a:txBody>
                  <a:tcPr marL="54864" marR="54864" marT="22860" marB="22860" anchor="ctr">
                    <a:solidFill>
                      <a:srgbClr val="FAFBFC"/>
                    </a:solidFill>
                  </a:tcPr>
                </a:tc>
                <a:tc>
                  <a:txBody>
                    <a:bodyPr wrap="square"/>
                    <a:lstStyle/>
                    <a:p>
                      <a:pPr algn="r"/>
                      <a:r>
                        <a:rPr sz="1100" b="0">
                          <a:solidFill>
                            <a:srgbClr val="14202E"/>
                          </a:solidFill>
                          <a:latin typeface="Calibri"/>
                        </a:rPr>
                        <a:t>3 · 0 · 8</a:t>
                      </a:r>
                    </a:p>
                  </a:txBody>
                  <a:tcPr marL="54864" marR="54864" marT="22860" marB="22860" anchor="ctr">
                    <a:solidFill>
                      <a:srgbClr val="FAFBFC"/>
                    </a:solidFill>
                  </a:tcPr>
                </a:tc>
                <a:tc>
                  <a:txBody>
                    <a:bodyPr wrap="square"/>
                    <a:lstStyle/>
                    <a:p>
                      <a:r>
                        <a:rPr sz="1000" b="0">
                          <a:solidFill>
                            <a:srgbClr val="14202E"/>
                          </a:solidFill>
                          <a:latin typeface="Calibri"/>
                        </a:rPr>
                        <a:t>Asesoría laboral para empresas (altas, desplazados, inspecciones) 11</a:t>
                      </a:r>
                    </a:p>
                  </a:txBody>
                  <a:tcPr marL="54864" marR="54864" marT="22860" marB="22860" anchor="ctr">
                    <a:solidFill>
                      <a:srgbClr val="FAFBFC"/>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Temas combinados y etiquetas</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15</a:t>
            </a:r>
          </a:p>
        </p:txBody>
      </p:sp>
      <p:sp>
        <p:nvSpPr>
          <p:cNvPr id="7" name="TextBox 6"/>
          <p:cNvSpPr txBox="1"/>
          <p:nvPr/>
        </p:nvSpPr>
        <p:spPr>
          <a:xfrm>
            <a:off x="548640" y="1417320"/>
            <a:ext cx="11064240" cy="502920"/>
          </a:xfrm>
          <a:prstGeom prst="rect">
            <a:avLst/>
          </a:prstGeom>
          <a:noFill/>
        </p:spPr>
        <p:txBody>
          <a:bodyPr wrap="square" lIns="45720" rIns="45720" tIns="27432" bIns="27432">
            <a:spAutoFit/>
          </a:bodyPr>
          <a:lstStyle/>
          <a:p>
            <a:pPr>
              <a:spcAft>
                <a:spcPts val="400"/>
              </a:spcAft>
            </a:pPr>
            <a:r>
              <a:rPr sz="1100" b="0">
                <a:solidFill>
                  <a:srgbClr val="556575"/>
                </a:solidFill>
                <a:latin typeface="Calibri"/>
              </a:rPr>
              <a:t>Pares de subtemas que aparecen juntos en la misma solicitud. Cada par es una etiqueta combinada candidata, y una ruta con preguntas compartidas en el formulario. El CSV incluye el campo combo_label y la lista completa de subtemas por solicitud.</a:t>
            </a:r>
          </a:p>
        </p:txBody>
      </p:sp>
      <p:graphicFrame>
        <p:nvGraphicFramePr>
          <p:cNvPr id="8" name="Table 7"/>
          <p:cNvGraphicFramePr>
            <a:graphicFrameLocks noGrp="1"/>
          </p:cNvGraphicFramePr>
          <p:nvPr/>
        </p:nvGraphicFramePr>
        <p:xfrm>
          <a:off x="548640" y="2011680"/>
          <a:ext cx="11064238" cy="4279392"/>
        </p:xfrm>
        <a:graphic>
          <a:graphicData uri="http://schemas.openxmlformats.org/drawingml/2006/table">
            <a:tbl>
              <a:tblPr firstRow="1" bandRow="1">
                <a:tableStyleId>{5C22544A-7EE6-4342-B048-85BDC9FD1C3A}</a:tableStyleId>
              </a:tblPr>
              <a:tblGrid>
                <a:gridCol w="7255239"/>
                <a:gridCol w="1088285"/>
                <a:gridCol w="2720714"/>
              </a:tblGrid>
              <a:tr h="329184">
                <a:tc>
                  <a:txBody>
                    <a:bodyPr wrap="square"/>
                    <a:lstStyle/>
                    <a:p>
                      <a:r>
                        <a:rPr sz="1000" b="1">
                          <a:solidFill>
                            <a:srgbClr val="FFFFFF"/>
                          </a:solidFill>
                          <a:latin typeface="Calibri"/>
                        </a:rPr>
                        <a:t>Combinación</a:t>
                      </a:r>
                    </a:p>
                  </a:txBody>
                  <a:tcPr marL="54864" marR="54864" marT="22860" marB="22860" anchor="ctr">
                    <a:solidFill>
                      <a:srgbClr val="0B5C7A"/>
                    </a:solidFill>
                  </a:tcPr>
                </a:tc>
                <a:tc>
                  <a:txBody>
                    <a:bodyPr wrap="square"/>
                    <a:lstStyle/>
                    <a:p>
                      <a:pPr algn="r"/>
                      <a:r>
                        <a:rPr sz="1000" b="1">
                          <a:solidFill>
                            <a:srgbClr val="FFFFFF"/>
                          </a:solidFill>
                          <a:latin typeface="Calibri"/>
                        </a:rPr>
                        <a:t>Solicitudes</a:t>
                      </a:r>
                    </a:p>
                  </a:txBody>
                  <a:tcPr marL="54864" marR="54864" marT="22860" marB="22860" anchor="ctr">
                    <a:solidFill>
                      <a:srgbClr val="0B5C7A"/>
                    </a:solidFill>
                  </a:tcPr>
                </a:tc>
                <a:tc>
                  <a:txBody>
                    <a:bodyPr wrap="square"/>
                    <a:lstStyle/>
                    <a:p>
                      <a:r>
                        <a:rPr sz="1000" b="1">
                          <a:solidFill>
                            <a:srgbClr val="FFFFFF"/>
                          </a:solidFill>
                          <a:latin typeface="Calibri"/>
                        </a:rPr>
                        <a:t>Nombre propuesto</a:t>
                      </a:r>
                    </a:p>
                  </a:txBody>
                  <a:tcPr marL="54864" marR="54864" marT="22860" marB="22860" anchor="ctr">
                    <a:solidFill>
                      <a:srgbClr val="0B5C7A"/>
                    </a:solidFill>
                  </a:tcPr>
                </a:tc>
              </a:tr>
              <a:tr h="329184">
                <a:tc>
                  <a:txBody>
                    <a:bodyPr wrap="square"/>
                    <a:lstStyle/>
                    <a:p>
                      <a:r>
                        <a:rPr sz="1000" b="0">
                          <a:solidFill>
                            <a:srgbClr val="14202E"/>
                          </a:solidFill>
                          <a:latin typeface="Calibri"/>
                        </a:rPr>
                        <a:t>Empadronamiento + NIE y TIE (tarjeta)</a:t>
                      </a:r>
                    </a:p>
                  </a:txBody>
                  <a:tcPr marL="54864" marR="54864" marT="22860" marB="22860" anchor="ctr">
                    <a:solidFill>
                      <a:srgbClr val="FFFFFF"/>
                    </a:solidFill>
                  </a:tcPr>
                </a:tc>
                <a:tc>
                  <a:txBody>
                    <a:bodyPr wrap="square"/>
                    <a:lstStyle/>
                    <a:p>
                      <a:pPr algn="r"/>
                      <a:r>
                        <a:rPr sz="1000" b="0">
                          <a:solidFill>
                            <a:srgbClr val="14202E"/>
                          </a:solidFill>
                          <a:latin typeface="Calibri"/>
                        </a:rPr>
                        <a:t>15</a:t>
                      </a:r>
                    </a:p>
                  </a:txBody>
                  <a:tcPr marL="54864" marR="54864" marT="22860" marB="22860" anchor="ctr">
                    <a:solidFill>
                      <a:srgbClr val="FFFFFF"/>
                    </a:solidFill>
                  </a:tcPr>
                </a:tc>
                <a:tc>
                  <a:txBody>
                    <a:bodyPr wrap="square"/>
                    <a:lstStyle/>
                    <a:p>
                      <a:r>
                        <a:rPr sz="1000" b="0">
                          <a:solidFill>
                            <a:srgbClr val="14202E"/>
                          </a:solidFill>
                          <a:latin typeface="Calibri"/>
                        </a:rPr>
                        <a:t>Pack llegada</a:t>
                      </a:r>
                    </a:p>
                  </a:txBody>
                  <a:tcPr marL="54864" marR="54864" marT="22860" marB="22860" anchor="ctr">
                    <a:solidFill>
                      <a:srgbClr val="FFFFFF"/>
                    </a:solidFill>
                  </a:tcPr>
                </a:tc>
              </a:tr>
              <a:tr h="329184">
                <a:tc>
                  <a:txBody>
                    <a:bodyPr wrap="square"/>
                    <a:lstStyle/>
                    <a:p>
                      <a:r>
                        <a:rPr sz="1000" b="0">
                          <a:solidFill>
                            <a:srgbClr val="14202E"/>
                          </a:solidFill>
                          <a:latin typeface="Calibri"/>
                        </a:rPr>
                        <a:t>Convenio de doble imposición / residencia fiscal + Declaración de la renta (IRPF)</a:t>
                      </a:r>
                    </a:p>
                  </a:txBody>
                  <a:tcPr marL="54864" marR="54864" marT="22860" marB="22860" anchor="ctr">
                    <a:solidFill>
                      <a:srgbClr val="FAFBFC"/>
                    </a:solidFill>
                  </a:tcPr>
                </a:tc>
                <a:tc>
                  <a:txBody>
                    <a:bodyPr wrap="square"/>
                    <a:lstStyle/>
                    <a:p>
                      <a:pPr algn="r"/>
                      <a:r>
                        <a:rPr sz="1000" b="0">
                          <a:solidFill>
                            <a:srgbClr val="14202E"/>
                          </a:solidFill>
                          <a:latin typeface="Calibri"/>
                        </a:rPr>
                        <a:t>15</a:t>
                      </a:r>
                    </a:p>
                  </a:txBody>
                  <a:tcPr marL="54864" marR="54864" marT="22860" marB="22860" anchor="ctr">
                    <a:solidFill>
                      <a:srgbClr val="FAFBFC"/>
                    </a:solidFill>
                  </a:tcPr>
                </a:tc>
                <a:tc>
                  <a:txBody>
                    <a:bodyPr wrap="square"/>
                    <a:lstStyle/>
                    <a:p>
                      <a:r>
                        <a:rPr sz="1000" b="0">
                          <a:solidFill>
                            <a:srgbClr val="14202E"/>
                          </a:solidFill>
                          <a:latin typeface="Calibri"/>
                        </a:rPr>
                        <a:t>Fiscalidad del expatriado</a:t>
                      </a:r>
                    </a:p>
                  </a:txBody>
                  <a:tcPr marL="54864" marR="54864" marT="22860" marB="22860" anchor="ctr">
                    <a:solidFill>
                      <a:srgbClr val="FAFBFC"/>
                    </a:solidFill>
                  </a:tcPr>
                </a:tc>
              </a:tr>
              <a:tr h="329184">
                <a:tc>
                  <a:txBody>
                    <a:bodyPr wrap="square"/>
                    <a:lstStyle/>
                    <a:p>
                      <a:r>
                        <a:rPr sz="1000" b="0">
                          <a:solidFill>
                            <a:srgbClr val="14202E"/>
                          </a:solidFill>
                          <a:latin typeface="Calibri"/>
                        </a:rPr>
                        <a:t>IVA, contabilidad, gestoría e impuesto de sociedades + Crear una sociedad / abrir un negocio</a:t>
                      </a:r>
                    </a:p>
                  </a:txBody>
                  <a:tcPr marL="54864" marR="54864" marT="22860" marB="22860" anchor="ctr">
                    <a:solidFill>
                      <a:srgbClr val="FFFFFF"/>
                    </a:solidFill>
                  </a:tcPr>
                </a:tc>
                <a:tc>
                  <a:txBody>
                    <a:bodyPr wrap="square"/>
                    <a:lstStyle/>
                    <a:p>
                      <a:pPr algn="r"/>
                      <a:r>
                        <a:rPr sz="1000" b="0">
                          <a:solidFill>
                            <a:srgbClr val="14202E"/>
                          </a:solidFill>
                          <a:latin typeface="Calibri"/>
                        </a:rPr>
                        <a:t>13</a:t>
                      </a:r>
                    </a:p>
                  </a:txBody>
                  <a:tcPr marL="54864" marR="54864" marT="22860" marB="22860" anchor="ctr">
                    <a:solidFill>
                      <a:srgbClr val="FFFFFF"/>
                    </a:solidFill>
                  </a:tcPr>
                </a:tc>
                <a:tc>
                  <a:txBody>
                    <a:bodyPr wrap="square"/>
                    <a:lstStyle/>
                    <a:p>
                      <a:r>
                        <a:rPr sz="1000" b="0">
                          <a:solidFill>
                            <a:srgbClr val="14202E"/>
                          </a:solidFill>
                          <a:latin typeface="Calibri"/>
                        </a:rPr>
                        <a:t>Constitución y gestoría</a:t>
                      </a:r>
                    </a:p>
                  </a:txBody>
                  <a:tcPr marL="54864" marR="54864" marT="22860" marB="22860" anchor="ctr">
                    <a:solidFill>
                      <a:srgbClr val="FFFFFF"/>
                    </a:solidFill>
                  </a:tcPr>
                </a:tc>
              </a:tr>
              <a:tr h="329184">
                <a:tc>
                  <a:txBody>
                    <a:bodyPr wrap="square"/>
                    <a:lstStyle/>
                    <a:p>
                      <a:r>
                        <a:rPr sz="1000" b="0">
                          <a:solidFill>
                            <a:srgbClr val="14202E"/>
                          </a:solidFill>
                          <a:latin typeface="Calibri"/>
                        </a:rPr>
                        <a:t>NIE y TIE (tarjeta) + Crear una sociedad / abrir un negocio</a:t>
                      </a:r>
                    </a:p>
                  </a:txBody>
                  <a:tcPr marL="54864" marR="54864" marT="22860" marB="22860" anchor="ctr">
                    <a:solidFill>
                      <a:srgbClr val="FAFBFC"/>
                    </a:solidFill>
                  </a:tcPr>
                </a:tc>
                <a:tc>
                  <a:txBody>
                    <a:bodyPr wrap="square"/>
                    <a:lstStyle/>
                    <a:p>
                      <a:pPr algn="r"/>
                      <a:r>
                        <a:rPr sz="1000" b="0">
                          <a:solidFill>
                            <a:srgbClr val="14202E"/>
                          </a:solidFill>
                          <a:latin typeface="Calibri"/>
                        </a:rPr>
                        <a:t>13</a:t>
                      </a:r>
                    </a:p>
                  </a:txBody>
                  <a:tcPr marL="54864" marR="54864" marT="22860" marB="22860" anchor="ctr">
                    <a:solidFill>
                      <a:srgbClr val="FAFBFC"/>
                    </a:solidFill>
                  </a:tcPr>
                </a:tc>
                <a:tc>
                  <a:txBody>
                    <a:bodyPr wrap="square"/>
                    <a:lstStyle/>
                    <a:p>
                      <a:r>
                        <a:rPr sz="1000" b="0">
                          <a:solidFill>
                            <a:srgbClr val="14202E"/>
                          </a:solidFill>
                          <a:latin typeface="Calibri"/>
                        </a:rPr>
                        <a:t>Empresa y residencia</a:t>
                      </a:r>
                    </a:p>
                  </a:txBody>
                  <a:tcPr marL="54864" marR="54864" marT="22860" marB="22860" anchor="ctr">
                    <a:solidFill>
                      <a:srgbClr val="FAFBFC"/>
                    </a:solidFill>
                  </a:tcPr>
                </a:tc>
              </a:tr>
              <a:tr h="329184">
                <a:tc>
                  <a:txBody>
                    <a:bodyPr wrap="square"/>
                    <a:lstStyle/>
                    <a:p>
                      <a:r>
                        <a:rPr sz="1000" b="0">
                          <a:solidFill>
                            <a:srgbClr val="14202E"/>
                          </a:solidFill>
                          <a:latin typeface="Calibri"/>
                        </a:rPr>
                        <a:t>Emprendedor / ENISA / startups + Crear una sociedad / abrir un negocio</a:t>
                      </a:r>
                    </a:p>
                  </a:txBody>
                  <a:tcPr marL="54864" marR="54864" marT="22860" marB="22860" anchor="ctr">
                    <a:solidFill>
                      <a:srgbClr val="FFFFFF"/>
                    </a:solidFill>
                  </a:tcPr>
                </a:tc>
                <a:tc>
                  <a:txBody>
                    <a:bodyPr wrap="square"/>
                    <a:lstStyle/>
                    <a:p>
                      <a:pPr algn="r"/>
                      <a:r>
                        <a:rPr sz="1000" b="0">
                          <a:solidFill>
                            <a:srgbClr val="14202E"/>
                          </a:solidFill>
                          <a:latin typeface="Calibri"/>
                        </a:rPr>
                        <a:t>13</a:t>
                      </a:r>
                    </a:p>
                  </a:txBody>
                  <a:tcPr marL="54864" marR="54864" marT="22860" marB="22860" anchor="ctr">
                    <a:solidFill>
                      <a:srgbClr val="FFFFFF"/>
                    </a:solidFill>
                  </a:tcPr>
                </a:tc>
                <a:tc>
                  <a:txBody>
                    <a:bodyPr wrap="square"/>
                    <a:lstStyle/>
                    <a:p>
                      <a:r>
                        <a:rPr sz="1000" b="0">
                          <a:solidFill>
                            <a:srgbClr val="14202E"/>
                          </a:solidFill>
                          <a:latin typeface="Calibri"/>
                        </a:rPr>
                        <a:t>Residencia de emprendedor</a:t>
                      </a:r>
                    </a:p>
                  </a:txBody>
                  <a:tcPr marL="54864" marR="54864" marT="22860" marB="22860" anchor="ctr">
                    <a:solidFill>
                      <a:srgbClr val="FFFFFF"/>
                    </a:solidFill>
                  </a:tcPr>
                </a:tc>
              </a:tr>
              <a:tr h="329184">
                <a:tc>
                  <a:txBody>
                    <a:bodyPr wrap="square"/>
                    <a:lstStyle/>
                    <a:p>
                      <a:r>
                        <a:rPr sz="1000" b="0">
                          <a:solidFill>
                            <a:srgbClr val="14202E"/>
                          </a:solidFill>
                          <a:latin typeface="Calibri"/>
                        </a:rPr>
                        <a:t>Escritura, notaría y registro de la propiedad + Herencia, testamento y declaración de herederos</a:t>
                      </a:r>
                    </a:p>
                  </a:txBody>
                  <a:tcPr marL="54864" marR="54864" marT="22860" marB="22860" anchor="ctr">
                    <a:solidFill>
                      <a:srgbClr val="FAFBFC"/>
                    </a:solidFill>
                  </a:tcPr>
                </a:tc>
                <a:tc>
                  <a:txBody>
                    <a:bodyPr wrap="square"/>
                    <a:lstStyle/>
                    <a:p>
                      <a:pPr algn="r"/>
                      <a:r>
                        <a:rPr sz="1000" b="0">
                          <a:solidFill>
                            <a:srgbClr val="14202E"/>
                          </a:solidFill>
                          <a:latin typeface="Calibri"/>
                        </a:rPr>
                        <a:t>12</a:t>
                      </a:r>
                    </a:p>
                  </a:txBody>
                  <a:tcPr marL="54864" marR="54864" marT="22860" marB="22860" anchor="ctr">
                    <a:solidFill>
                      <a:srgbClr val="FAFBFC"/>
                    </a:solidFill>
                  </a:tcPr>
                </a:tc>
                <a:tc>
                  <a:txBody>
                    <a:bodyPr wrap="square"/>
                    <a:lstStyle/>
                    <a:p>
                      <a:r>
                        <a:rPr sz="1000" b="0">
                          <a:solidFill>
                            <a:srgbClr val="14202E"/>
                          </a:solidFill>
                          <a:latin typeface="Calibri"/>
                        </a:rPr>
                        <a:t>Herencia con inmueble</a:t>
                      </a:r>
                    </a:p>
                  </a:txBody>
                  <a:tcPr marL="54864" marR="54864" marT="22860" marB="22860" anchor="ctr">
                    <a:solidFill>
                      <a:srgbClr val="FAFBFC"/>
                    </a:solidFill>
                  </a:tcPr>
                </a:tc>
              </a:tr>
              <a:tr h="329184">
                <a:tc>
                  <a:txBody>
                    <a:bodyPr wrap="square"/>
                    <a:lstStyle/>
                    <a:p>
                      <a:r>
                        <a:rPr sz="1000" b="0">
                          <a:solidFill>
                            <a:srgbClr val="14202E"/>
                          </a:solidFill>
                          <a:latin typeface="Calibri"/>
                        </a:rPr>
                        <a:t>Traslado e instalación en España + NIE y TIE (tarjeta)</a:t>
                      </a:r>
                    </a:p>
                  </a:txBody>
                  <a:tcPr marL="54864" marR="54864" marT="22860" marB="22860" anchor="ctr">
                    <a:solidFill>
                      <a:srgbClr val="FFFFFF"/>
                    </a:solidFill>
                  </a:tcPr>
                </a:tc>
                <a:tc>
                  <a:txBody>
                    <a:bodyPr wrap="square"/>
                    <a:lstStyle/>
                    <a:p>
                      <a:pPr algn="r"/>
                      <a:r>
                        <a:rPr sz="1000" b="0">
                          <a:solidFill>
                            <a:srgbClr val="14202E"/>
                          </a:solidFill>
                          <a:latin typeface="Calibri"/>
                        </a:rPr>
                        <a:t>12</a:t>
                      </a:r>
                    </a:p>
                  </a:txBody>
                  <a:tcPr marL="54864" marR="54864" marT="22860" marB="22860" anchor="ctr">
                    <a:solidFill>
                      <a:srgbClr val="FFFFFF"/>
                    </a:solidFill>
                  </a:tcPr>
                </a:tc>
                <a:tc>
                  <a:txBody>
                    <a:bodyPr wrap="square"/>
                    <a:lstStyle/>
                    <a:p>
                      <a:r>
                        <a:rPr sz="1000" b="0">
                          <a:solidFill>
                            <a:srgbClr val="14202E"/>
                          </a:solidFill>
                          <a:latin typeface="Calibri"/>
                        </a:rPr>
                        <a:t>Pack llegada</a:t>
                      </a:r>
                    </a:p>
                  </a:txBody>
                  <a:tcPr marL="54864" marR="54864" marT="22860" marB="22860" anchor="ctr">
                    <a:solidFill>
                      <a:srgbClr val="FFFFFF"/>
                    </a:solidFill>
                  </a:tcPr>
                </a:tc>
              </a:tr>
              <a:tr h="329184">
                <a:tc>
                  <a:txBody>
                    <a:bodyPr wrap="square"/>
                    <a:lstStyle/>
                    <a:p>
                      <a:r>
                        <a:rPr sz="1000" b="0">
                          <a:solidFill>
                            <a:srgbClr val="14202E"/>
                          </a:solidFill>
                          <a:latin typeface="Calibri"/>
                        </a:rPr>
                        <a:t>NIE y TIE (tarjeta) + IVA, contabilidad, gestoría e impuesto de sociedades</a:t>
                      </a:r>
                    </a:p>
                  </a:txBody>
                  <a:tcPr marL="54864" marR="54864" marT="22860" marB="22860" anchor="ctr">
                    <a:solidFill>
                      <a:srgbClr val="FAFBFC"/>
                    </a:solidFill>
                  </a:tcPr>
                </a:tc>
                <a:tc>
                  <a:txBody>
                    <a:bodyPr wrap="square"/>
                    <a:lstStyle/>
                    <a:p>
                      <a:pPr algn="r"/>
                      <a:r>
                        <a:rPr sz="1000" b="0">
                          <a:solidFill>
                            <a:srgbClr val="14202E"/>
                          </a:solidFill>
                          <a:latin typeface="Calibri"/>
                        </a:rPr>
                        <a:t>11</a:t>
                      </a:r>
                    </a:p>
                  </a:txBody>
                  <a:tcPr marL="54864" marR="54864" marT="22860" marB="22860" anchor="ctr">
                    <a:solidFill>
                      <a:srgbClr val="FAFBFC"/>
                    </a:solidFill>
                  </a:tcPr>
                </a:tc>
                <a:tc>
                  <a:txBody>
                    <a:bodyPr wrap="square"/>
                    <a:lstStyle/>
                    <a:p>
                      <a:r>
                        <a:rPr sz="1000" b="0">
                          <a:solidFill>
                            <a:srgbClr val="14202E"/>
                          </a:solidFill>
                          <a:latin typeface="Calibri"/>
                        </a:rPr>
                        <a:t>Llegada y autónomo</a:t>
                      </a:r>
                    </a:p>
                  </a:txBody>
                  <a:tcPr marL="54864" marR="54864" marT="22860" marB="22860" anchor="ctr">
                    <a:solidFill>
                      <a:srgbClr val="FAFBFC"/>
                    </a:solidFill>
                  </a:tcPr>
                </a:tc>
              </a:tr>
              <a:tr h="329184">
                <a:tc>
                  <a:txBody>
                    <a:bodyPr wrap="square"/>
                    <a:lstStyle/>
                    <a:p>
                      <a:r>
                        <a:rPr sz="1000" b="0">
                          <a:solidFill>
                            <a:srgbClr val="14202E"/>
                          </a:solidFill>
                          <a:latin typeface="Calibri"/>
                        </a:rPr>
                        <a:t>NIE y TIE (tarjeta) + Compra de vivienda / inmueble</a:t>
                      </a:r>
                    </a:p>
                  </a:txBody>
                  <a:tcPr marL="54864" marR="54864" marT="22860" marB="22860" anchor="ctr">
                    <a:solidFill>
                      <a:srgbClr val="FFFFFF"/>
                    </a:solidFill>
                  </a:tcPr>
                </a:tc>
                <a:tc>
                  <a:txBody>
                    <a:bodyPr wrap="square"/>
                    <a:lstStyle/>
                    <a:p>
                      <a:pPr algn="r"/>
                      <a:r>
                        <a:rPr sz="1000" b="0">
                          <a:solidFill>
                            <a:srgbClr val="14202E"/>
                          </a:solidFill>
                          <a:latin typeface="Calibri"/>
                        </a:rPr>
                        <a:t>10</a:t>
                      </a:r>
                    </a:p>
                  </a:txBody>
                  <a:tcPr marL="54864" marR="54864" marT="22860" marB="22860" anchor="ctr">
                    <a:solidFill>
                      <a:srgbClr val="FFFFFF"/>
                    </a:solidFill>
                  </a:tcPr>
                </a:tc>
                <a:tc>
                  <a:txBody>
                    <a:bodyPr wrap="square"/>
                    <a:lstStyle/>
                    <a:p>
                      <a:r>
                        <a:rPr sz="1000" b="0">
                          <a:solidFill>
                            <a:srgbClr val="14202E"/>
                          </a:solidFill>
                          <a:latin typeface="Calibri"/>
                        </a:rPr>
                        <a:t>Comprar y residir</a:t>
                      </a:r>
                    </a:p>
                  </a:txBody>
                  <a:tcPr marL="54864" marR="54864" marT="22860" marB="22860" anchor="ctr">
                    <a:solidFill>
                      <a:srgbClr val="FFFFFF"/>
                    </a:solidFill>
                  </a:tcPr>
                </a:tc>
              </a:tr>
              <a:tr h="329184">
                <a:tc>
                  <a:txBody>
                    <a:bodyPr wrap="square"/>
                    <a:lstStyle/>
                    <a:p>
                      <a:r>
                        <a:rPr sz="1000" b="0">
                          <a:solidFill>
                            <a:srgbClr val="14202E"/>
                          </a:solidFill>
                          <a:latin typeface="Calibri"/>
                        </a:rPr>
                        <a:t>IVA, contabilidad, gestoría e impuesto de sociedades + Alta de autónomo / freelance / auto-entrepreneur</a:t>
                      </a:r>
                    </a:p>
                  </a:txBody>
                  <a:tcPr marL="54864" marR="54864" marT="22860" marB="22860" anchor="ctr">
                    <a:solidFill>
                      <a:srgbClr val="FAFBFC"/>
                    </a:solidFill>
                  </a:tcPr>
                </a:tc>
                <a:tc>
                  <a:txBody>
                    <a:bodyPr wrap="square"/>
                    <a:lstStyle/>
                    <a:p>
                      <a:pPr algn="r"/>
                      <a:r>
                        <a:rPr sz="1000" b="0">
                          <a:solidFill>
                            <a:srgbClr val="14202E"/>
                          </a:solidFill>
                          <a:latin typeface="Calibri"/>
                        </a:rPr>
                        <a:t>10</a:t>
                      </a:r>
                    </a:p>
                  </a:txBody>
                  <a:tcPr marL="54864" marR="54864" marT="22860" marB="22860" anchor="ctr">
                    <a:solidFill>
                      <a:srgbClr val="FAFBFC"/>
                    </a:solidFill>
                  </a:tcPr>
                </a:tc>
                <a:tc>
                  <a:txBody>
                    <a:bodyPr wrap="square"/>
                    <a:lstStyle/>
                    <a:p>
                      <a:r>
                        <a:rPr sz="1000" b="0">
                          <a:solidFill>
                            <a:srgbClr val="14202E"/>
                          </a:solidFill>
                          <a:latin typeface="Calibri"/>
                        </a:rPr>
                        <a:t>Autónomo y gestoría</a:t>
                      </a:r>
                    </a:p>
                  </a:txBody>
                  <a:tcPr marL="54864" marR="54864" marT="22860" marB="22860" anchor="ctr">
                    <a:solidFill>
                      <a:srgbClr val="FAFBFC"/>
                    </a:solidFill>
                  </a:tcPr>
                </a:tc>
              </a:tr>
              <a:tr h="329184">
                <a:tc>
                  <a:txBody>
                    <a:bodyPr wrap="square"/>
                    <a:lstStyle/>
                    <a:p>
                      <a:r>
                        <a:rPr sz="1000" b="0">
                          <a:solidFill>
                            <a:srgbClr val="14202E"/>
                          </a:solidFill>
                          <a:latin typeface="Calibri"/>
                        </a:rPr>
                        <a:t>Convenio de doble imposición / residencia fiscal + IVA, contabilidad, gestoría e impuesto de sociedades</a:t>
                      </a:r>
                    </a:p>
                  </a:txBody>
                  <a:tcPr marL="54864" marR="54864" marT="22860" marB="22860" anchor="ctr">
                    <a:solidFill>
                      <a:srgbClr val="FFFFFF"/>
                    </a:solidFill>
                  </a:tcPr>
                </a:tc>
                <a:tc>
                  <a:txBody>
                    <a:bodyPr wrap="square"/>
                    <a:lstStyle/>
                    <a:p>
                      <a:pPr algn="r"/>
                      <a:r>
                        <a:rPr sz="1000" b="0">
                          <a:solidFill>
                            <a:srgbClr val="14202E"/>
                          </a:solidFill>
                          <a:latin typeface="Calibri"/>
                        </a:rPr>
                        <a:t>10</a:t>
                      </a:r>
                    </a:p>
                  </a:txBody>
                  <a:tcPr marL="54864" marR="54864" marT="22860" marB="22860" anchor="ctr">
                    <a:solidFill>
                      <a:srgbClr val="FFFFFF"/>
                    </a:solidFill>
                  </a:tcPr>
                </a:tc>
                <a:tc>
                  <a:txBody>
                    <a:bodyPr wrap="square"/>
                    <a:lstStyle/>
                    <a:p>
                      <a:r>
                        <a:rPr sz="1000" b="0">
                          <a:solidFill>
                            <a:srgbClr val="14202E"/>
                          </a:solidFill>
                          <a:latin typeface="Calibri"/>
                        </a:rPr>
                        <a:t>Fiscalidad de empresa y expatriado</a:t>
                      </a:r>
                    </a:p>
                  </a:txBody>
                  <a:tcPr marL="54864" marR="54864" marT="22860" marB="22860" anchor="ctr">
                    <a:solidFill>
                      <a:srgbClr val="FFFFFF"/>
                    </a:solidFill>
                  </a:tcPr>
                </a:tc>
              </a:tr>
              <a:tr h="329184">
                <a:tc>
                  <a:txBody>
                    <a:bodyPr wrap="square"/>
                    <a:lstStyle/>
                    <a:p>
                      <a:r>
                        <a:rPr sz="1000" b="0">
                          <a:solidFill>
                            <a:srgbClr val="14202E"/>
                          </a:solidFill>
                          <a:latin typeface="Calibri"/>
                        </a:rPr>
                        <a:t>Traslado e instalación en España + Crear una sociedad / abrir un negocio</a:t>
                      </a:r>
                    </a:p>
                  </a:txBody>
                  <a:tcPr marL="54864" marR="54864" marT="22860" marB="22860" anchor="ctr">
                    <a:solidFill>
                      <a:srgbClr val="FAFBFC"/>
                    </a:solidFill>
                  </a:tcPr>
                </a:tc>
                <a:tc>
                  <a:txBody>
                    <a:bodyPr wrap="square"/>
                    <a:lstStyle/>
                    <a:p>
                      <a:pPr algn="r"/>
                      <a:r>
                        <a:rPr sz="1000" b="0">
                          <a:solidFill>
                            <a:srgbClr val="14202E"/>
                          </a:solidFill>
                          <a:latin typeface="Calibri"/>
                        </a:rPr>
                        <a:t>10</a:t>
                      </a:r>
                    </a:p>
                  </a:txBody>
                  <a:tcPr marL="54864" marR="54864" marT="22860" marB="22860" anchor="ctr">
                    <a:solidFill>
                      <a:srgbClr val="FAFBFC"/>
                    </a:solidFill>
                  </a:tcPr>
                </a:tc>
                <a:tc>
                  <a:txBody>
                    <a:bodyPr wrap="square"/>
                    <a:lstStyle/>
                    <a:p>
                      <a:r>
                        <a:rPr sz="1000" b="0">
                          <a:solidFill>
                            <a:srgbClr val="14202E"/>
                          </a:solidFill>
                          <a:latin typeface="Calibri"/>
                        </a:rPr>
                        <a:t>Mudanza con empresa</a:t>
                      </a:r>
                    </a:p>
                  </a:txBody>
                  <a:tcPr marL="54864" marR="54864" marT="22860" marB="22860" anchor="ctr">
                    <a:solidFill>
                      <a:srgbClr val="FAFBFC"/>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Formulario en 4 pasos</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16</a:t>
            </a:r>
          </a:p>
        </p:txBody>
      </p:sp>
      <p:sp>
        <p:nvSpPr>
          <p:cNvPr id="7" name="TextBox 6"/>
          <p:cNvSpPr txBox="1"/>
          <p:nvPr/>
        </p:nvSpPr>
        <p:spPr>
          <a:xfrm>
            <a:off x="548640" y="1417320"/>
            <a:ext cx="11064240" cy="640080"/>
          </a:xfrm>
          <a:prstGeom prst="rect">
            <a:avLst/>
          </a:prstGeom>
          <a:noFill/>
        </p:spPr>
        <p:txBody>
          <a:bodyPr wrap="square" lIns="45720" rIns="45720" tIns="27432" bIns="27432">
            <a:spAutoFit/>
          </a:bodyPr>
          <a:lstStyle/>
          <a:p>
            <a:pPr>
              <a:spcAft>
                <a:spcPts val="400"/>
              </a:spcAft>
            </a:pPr>
            <a:r>
              <a:rPr sz="1100" b="0">
                <a:solidFill>
                  <a:srgbClr val="556575"/>
                </a:solidFill>
                <a:latin typeface="Calibri"/>
              </a:rPr>
              <a:t>La propuesta sustituye el desplegable de especialidad por objetivos que la gente reconoce, acepta varias respuestas y precarga las preguntas de cada ruta. Las preguntas salen de lo que ya cuentan los mensajes y de lo que falta casi siempre; Félix y Sonia deben validarlas.</a:t>
            </a:r>
          </a:p>
        </p:txBody>
      </p:sp>
      <p:sp>
        <p:nvSpPr>
          <p:cNvPr id="8" name="Rounded Rectangle 7"/>
          <p:cNvSpPr/>
          <p:nvPr/>
        </p:nvSpPr>
        <p:spPr>
          <a:xfrm>
            <a:off x="548640" y="2148840"/>
            <a:ext cx="2651760" cy="411480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212848"/>
            <a:ext cx="2377440" cy="274320"/>
          </a:xfrm>
          <a:prstGeom prst="rect">
            <a:avLst/>
          </a:prstGeom>
          <a:noFill/>
        </p:spPr>
        <p:txBody>
          <a:bodyPr wrap="square" lIns="45720" rIns="45720" tIns="27432" bIns="27432">
            <a:spAutoFit/>
          </a:bodyPr>
          <a:lstStyle/>
          <a:p>
            <a:pPr>
              <a:spcAft>
                <a:spcPts val="400"/>
              </a:spcAft>
            </a:pPr>
            <a:r>
              <a:rPr sz="1100" b="1">
                <a:solidFill>
                  <a:srgbClr val="0B5C7A"/>
                </a:solidFill>
                <a:latin typeface="Calibri"/>
              </a:rPr>
              <a:t>Paso 1</a:t>
            </a:r>
          </a:p>
        </p:txBody>
      </p:sp>
      <p:sp>
        <p:nvSpPr>
          <p:cNvPr id="10" name="TextBox 9"/>
          <p:cNvSpPr txBox="1"/>
          <p:nvPr/>
        </p:nvSpPr>
        <p:spPr>
          <a:xfrm>
            <a:off x="658368" y="2514600"/>
            <a:ext cx="2377440" cy="640080"/>
          </a:xfrm>
          <a:prstGeom prst="rect">
            <a:avLst/>
          </a:prstGeom>
          <a:noFill/>
        </p:spPr>
        <p:txBody>
          <a:bodyPr wrap="square" lIns="45720" rIns="45720" tIns="27432" bIns="27432">
            <a:spAutoFit/>
          </a:bodyPr>
          <a:lstStyle/>
          <a:p>
            <a:pPr>
              <a:spcAft>
                <a:spcPts val="400"/>
              </a:spcAft>
            </a:pPr>
            <a:r>
              <a:rPr sz="1600" b="1">
                <a:solidFill>
                  <a:srgbClr val="14202E"/>
                </a:solidFill>
                <a:latin typeface="Georgia"/>
              </a:rPr>
              <a:t>¿Qué necesita?</a:t>
            </a:r>
          </a:p>
        </p:txBody>
      </p:sp>
      <p:sp>
        <p:nvSpPr>
          <p:cNvPr id="11" name="TextBox 10"/>
          <p:cNvSpPr txBox="1"/>
          <p:nvPr/>
        </p:nvSpPr>
        <p:spPr>
          <a:xfrm>
            <a:off x="658368" y="3200400"/>
            <a:ext cx="2423160" cy="297180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 Tarjetas por objetivo, no por rama del derecho</a:t>
            </a:r>
          </a:p>
          <a:p>
            <a:pPr>
              <a:spcAft>
                <a:spcPts val="400"/>
              </a:spcAft>
            </a:pPr>
            <a:r>
              <a:rPr sz="1100" b="0">
                <a:solidFill>
                  <a:srgbClr val="14202E"/>
                </a:solidFill>
                <a:latin typeface="Calibri"/>
              </a:rPr>
              <a:t>• Selección múltiple (el 36 % mezcla temas)</a:t>
            </a:r>
          </a:p>
          <a:p>
            <a:pPr>
              <a:spcAft>
                <a:spcPts val="400"/>
              </a:spcAft>
            </a:pPr>
            <a:r>
              <a:rPr sz="1100" b="0">
                <a:solidFill>
                  <a:srgbClr val="14202E"/>
                </a:solidFill>
                <a:latin typeface="Calibri"/>
              </a:rPr>
              <a:t>• Etiquetas ocultas: área, hoja y subtema</a:t>
            </a:r>
          </a:p>
          <a:p>
            <a:pPr>
              <a:spcAft>
                <a:spcPts val="400"/>
              </a:spcAft>
            </a:pPr>
            <a:r>
              <a:rPr sz="1100" b="0">
                <a:solidFill>
                  <a:srgbClr val="14202E"/>
                </a:solidFill>
                <a:latin typeface="Calibri"/>
              </a:rPr>
              <a:t>• Tras elegir: hasta 3 guías del blog en el idioma de la página</a:t>
            </a:r>
          </a:p>
        </p:txBody>
      </p:sp>
      <p:sp>
        <p:nvSpPr>
          <p:cNvPr id="12" name="Rounded Rectangle 11"/>
          <p:cNvSpPr/>
          <p:nvPr/>
        </p:nvSpPr>
        <p:spPr>
          <a:xfrm>
            <a:off x="3337560" y="2148840"/>
            <a:ext cx="2651760" cy="411480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47288" y="2212848"/>
            <a:ext cx="2377440" cy="274320"/>
          </a:xfrm>
          <a:prstGeom prst="rect">
            <a:avLst/>
          </a:prstGeom>
          <a:noFill/>
        </p:spPr>
        <p:txBody>
          <a:bodyPr wrap="square" lIns="45720" rIns="45720" tIns="27432" bIns="27432">
            <a:spAutoFit/>
          </a:bodyPr>
          <a:lstStyle/>
          <a:p>
            <a:pPr>
              <a:spcAft>
                <a:spcPts val="400"/>
              </a:spcAft>
            </a:pPr>
            <a:r>
              <a:rPr sz="1100" b="1">
                <a:solidFill>
                  <a:srgbClr val="0B5C7A"/>
                </a:solidFill>
                <a:latin typeface="Calibri"/>
              </a:rPr>
              <a:t>Paso 2</a:t>
            </a:r>
          </a:p>
        </p:txBody>
      </p:sp>
      <p:sp>
        <p:nvSpPr>
          <p:cNvPr id="14" name="TextBox 13"/>
          <p:cNvSpPr txBox="1"/>
          <p:nvPr/>
        </p:nvSpPr>
        <p:spPr>
          <a:xfrm>
            <a:off x="3447288" y="2514600"/>
            <a:ext cx="2377440" cy="640080"/>
          </a:xfrm>
          <a:prstGeom prst="rect">
            <a:avLst/>
          </a:prstGeom>
          <a:noFill/>
        </p:spPr>
        <p:txBody>
          <a:bodyPr wrap="square" lIns="45720" rIns="45720" tIns="27432" bIns="27432">
            <a:spAutoFit/>
          </a:bodyPr>
          <a:lstStyle/>
          <a:p>
            <a:pPr>
              <a:spcAft>
                <a:spcPts val="400"/>
              </a:spcAft>
            </a:pPr>
            <a:r>
              <a:rPr sz="1600" b="1">
                <a:solidFill>
                  <a:srgbClr val="14202E"/>
                </a:solidFill>
                <a:latin typeface="Georgia"/>
              </a:rPr>
              <a:t>Su situación</a:t>
            </a:r>
          </a:p>
        </p:txBody>
      </p:sp>
      <p:sp>
        <p:nvSpPr>
          <p:cNvPr id="15" name="TextBox 14"/>
          <p:cNvSpPr txBox="1"/>
          <p:nvPr/>
        </p:nvSpPr>
        <p:spPr>
          <a:xfrm>
            <a:off x="3447288" y="3200400"/>
            <a:ext cx="2423160" cy="297180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 Nacionalidad y país de residencia (campos propios, hoy no existen)</a:t>
            </a:r>
          </a:p>
          <a:p>
            <a:pPr>
              <a:spcAft>
                <a:spcPts val="400"/>
              </a:spcAft>
            </a:pPr>
            <a:r>
              <a:rPr sz="1100" b="0">
                <a:solidFill>
                  <a:srgbClr val="14202E"/>
                </a:solidFill>
                <a:latin typeface="Calibri"/>
              </a:rPr>
              <a:t>• Particular o empresa</a:t>
            </a:r>
          </a:p>
          <a:p>
            <a:pPr>
              <a:spcAft>
                <a:spcPts val="400"/>
              </a:spcAft>
            </a:pPr>
            <a:r>
              <a:rPr sz="1100" b="0">
                <a:solidFill>
                  <a:srgbClr val="14202E"/>
                </a:solidFill>
                <a:latin typeface="Calibri"/>
              </a:rPr>
              <a:t>• ¿Vive ya en España?</a:t>
            </a:r>
          </a:p>
          <a:p>
            <a:pPr>
              <a:spcAft>
                <a:spcPts val="400"/>
              </a:spcAft>
            </a:pPr>
            <a:r>
              <a:rPr sz="1100" b="0">
                <a:solidFill>
                  <a:srgbClr val="14202E"/>
                </a:solidFill>
                <a:latin typeface="Calibri"/>
              </a:rPr>
              <a:t>• Fecha límite si la hay</a:t>
            </a:r>
          </a:p>
        </p:txBody>
      </p:sp>
      <p:sp>
        <p:nvSpPr>
          <p:cNvPr id="16" name="Rounded Rectangle 15"/>
          <p:cNvSpPr/>
          <p:nvPr/>
        </p:nvSpPr>
        <p:spPr>
          <a:xfrm>
            <a:off x="6126479" y="2148840"/>
            <a:ext cx="2651760" cy="411480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6207" y="2212848"/>
            <a:ext cx="2377440" cy="274320"/>
          </a:xfrm>
          <a:prstGeom prst="rect">
            <a:avLst/>
          </a:prstGeom>
          <a:noFill/>
        </p:spPr>
        <p:txBody>
          <a:bodyPr wrap="square" lIns="45720" rIns="45720" tIns="27432" bIns="27432">
            <a:spAutoFit/>
          </a:bodyPr>
          <a:lstStyle/>
          <a:p>
            <a:pPr>
              <a:spcAft>
                <a:spcPts val="400"/>
              </a:spcAft>
            </a:pPr>
            <a:r>
              <a:rPr sz="1100" b="1">
                <a:solidFill>
                  <a:srgbClr val="0B5C7A"/>
                </a:solidFill>
                <a:latin typeface="Calibri"/>
              </a:rPr>
              <a:t>Paso 3</a:t>
            </a:r>
          </a:p>
        </p:txBody>
      </p:sp>
      <p:sp>
        <p:nvSpPr>
          <p:cNvPr id="18" name="TextBox 17"/>
          <p:cNvSpPr txBox="1"/>
          <p:nvPr/>
        </p:nvSpPr>
        <p:spPr>
          <a:xfrm>
            <a:off x="6236207" y="2514600"/>
            <a:ext cx="2377440" cy="640080"/>
          </a:xfrm>
          <a:prstGeom prst="rect">
            <a:avLst/>
          </a:prstGeom>
          <a:noFill/>
        </p:spPr>
        <p:txBody>
          <a:bodyPr wrap="square" lIns="45720" rIns="45720" tIns="27432" bIns="27432">
            <a:spAutoFit/>
          </a:bodyPr>
          <a:lstStyle/>
          <a:p>
            <a:pPr>
              <a:spcAft>
                <a:spcPts val="400"/>
              </a:spcAft>
            </a:pPr>
            <a:r>
              <a:rPr sz="1600" b="1">
                <a:solidFill>
                  <a:srgbClr val="14202E"/>
                </a:solidFill>
                <a:latin typeface="Georgia"/>
              </a:rPr>
              <a:t>Detalles de su caso</a:t>
            </a:r>
          </a:p>
        </p:txBody>
      </p:sp>
      <p:sp>
        <p:nvSpPr>
          <p:cNvPr id="19" name="TextBox 18"/>
          <p:cNvSpPr txBox="1"/>
          <p:nvPr/>
        </p:nvSpPr>
        <p:spPr>
          <a:xfrm>
            <a:off x="6236207" y="3200400"/>
            <a:ext cx="2423160" cy="297180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 De 4 a 6 preguntas precargadas según las rutas marcadas</a:t>
            </a:r>
          </a:p>
          <a:p>
            <a:pPr>
              <a:spcAft>
                <a:spcPts val="400"/>
              </a:spcAft>
            </a:pPr>
            <a:r>
              <a:rPr sz="1100" b="0">
                <a:solidFill>
                  <a:srgbClr val="14202E"/>
                </a:solidFill>
                <a:latin typeface="Calibri"/>
              </a:rPr>
              <a:t>• Respuestas cortas o de elección</a:t>
            </a:r>
          </a:p>
          <a:p>
            <a:pPr>
              <a:spcAft>
                <a:spcPts val="400"/>
              </a:spcAft>
            </a:pPr>
            <a:r>
              <a:rPr sz="1100" b="0">
                <a:solidFill>
                  <a:srgbClr val="14202E"/>
                </a:solidFill>
                <a:latin typeface="Calibri"/>
              </a:rPr>
              <a:t>• Adjuntar resolución o documento clave (opcional)</a:t>
            </a:r>
          </a:p>
        </p:txBody>
      </p:sp>
      <p:sp>
        <p:nvSpPr>
          <p:cNvPr id="20" name="Rounded Rectangle 19"/>
          <p:cNvSpPr/>
          <p:nvPr/>
        </p:nvSpPr>
        <p:spPr>
          <a:xfrm>
            <a:off x="8915399" y="2148840"/>
            <a:ext cx="2651760" cy="411480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25127" y="2212848"/>
            <a:ext cx="2377440" cy="274320"/>
          </a:xfrm>
          <a:prstGeom prst="rect">
            <a:avLst/>
          </a:prstGeom>
          <a:noFill/>
        </p:spPr>
        <p:txBody>
          <a:bodyPr wrap="square" lIns="45720" rIns="45720" tIns="27432" bIns="27432">
            <a:spAutoFit/>
          </a:bodyPr>
          <a:lstStyle/>
          <a:p>
            <a:pPr>
              <a:spcAft>
                <a:spcPts val="400"/>
              </a:spcAft>
            </a:pPr>
            <a:r>
              <a:rPr sz="1100" b="1">
                <a:solidFill>
                  <a:srgbClr val="0B5C7A"/>
                </a:solidFill>
                <a:latin typeface="Calibri"/>
              </a:rPr>
              <a:t>Paso 4</a:t>
            </a:r>
          </a:p>
        </p:txBody>
      </p:sp>
      <p:sp>
        <p:nvSpPr>
          <p:cNvPr id="22" name="TextBox 21"/>
          <p:cNvSpPr txBox="1"/>
          <p:nvPr/>
        </p:nvSpPr>
        <p:spPr>
          <a:xfrm>
            <a:off x="9025127" y="2514600"/>
            <a:ext cx="2377440" cy="640080"/>
          </a:xfrm>
          <a:prstGeom prst="rect">
            <a:avLst/>
          </a:prstGeom>
          <a:noFill/>
        </p:spPr>
        <p:txBody>
          <a:bodyPr wrap="square" lIns="45720" rIns="45720" tIns="27432" bIns="27432">
            <a:spAutoFit/>
          </a:bodyPr>
          <a:lstStyle/>
          <a:p>
            <a:pPr>
              <a:spcAft>
                <a:spcPts val="400"/>
              </a:spcAft>
            </a:pPr>
            <a:r>
              <a:rPr sz="1600" b="1">
                <a:solidFill>
                  <a:srgbClr val="14202E"/>
                </a:solidFill>
                <a:latin typeface="Georgia"/>
              </a:rPr>
              <a:t>Contacto y siguiente paso</a:t>
            </a:r>
          </a:p>
        </p:txBody>
      </p:sp>
      <p:sp>
        <p:nvSpPr>
          <p:cNvPr id="23" name="TextBox 22"/>
          <p:cNvSpPr txBox="1"/>
          <p:nvPr/>
        </p:nvSpPr>
        <p:spPr>
          <a:xfrm>
            <a:off x="9025127" y="3200400"/>
            <a:ext cx="2423160" cy="2971800"/>
          </a:xfrm>
          <a:prstGeom prst="rect">
            <a:avLst/>
          </a:prstGeom>
          <a:noFill/>
        </p:spPr>
        <p:txBody>
          <a:bodyPr wrap="square" lIns="45720" rIns="45720" tIns="27432" bIns="27432">
            <a:spAutoFit/>
          </a:bodyPr>
          <a:lstStyle/>
          <a:p>
            <a:pPr>
              <a:spcAft>
                <a:spcPts val="400"/>
              </a:spcAft>
            </a:pPr>
            <a:r>
              <a:rPr sz="1100" b="0">
                <a:solidFill>
                  <a:srgbClr val="14202E"/>
                </a:solidFill>
                <a:latin typeface="Calibri"/>
              </a:rPr>
              <a:t>• Nombre, correo, teléfono, canal preferido</a:t>
            </a:r>
          </a:p>
          <a:p>
            <a:pPr>
              <a:spcAft>
                <a:spcPts val="400"/>
              </a:spcAft>
            </a:pPr>
            <a:r>
              <a:rPr sz="1100" b="0">
                <a:solidFill>
                  <a:srgbClr val="14202E"/>
                </a:solidFill>
                <a:latin typeface="Calibri"/>
              </a:rPr>
              <a:t>• Resumen etiquetado antes de enviar</a:t>
            </a:r>
          </a:p>
          <a:p>
            <a:pPr>
              <a:spcAft>
                <a:spcPts val="400"/>
              </a:spcAft>
            </a:pPr>
            <a:r>
              <a:rPr sz="1100" b="0">
                <a:solidFill>
                  <a:srgbClr val="14202E"/>
                </a:solidFill>
                <a:latin typeface="Calibri"/>
              </a:rPr>
              <a:t>• Dos salidas: «Quiero una consulta» o «Solo quiero información» (guías y suscripción)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FORMULARIO EN 4 PASOS</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Rutas del paso 1, con su demanda y las preguntas del paso 3</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17</a:t>
            </a:r>
          </a:p>
        </p:txBody>
      </p:sp>
      <p:sp>
        <p:nvSpPr>
          <p:cNvPr id="7" name="Rounded Rectangle 6"/>
          <p:cNvSpPr/>
          <p:nvPr/>
        </p:nvSpPr>
        <p:spPr>
          <a:xfrm>
            <a:off x="548640"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Residir, trabajar o estudiar en España</a:t>
            </a:r>
          </a:p>
        </p:txBody>
      </p:sp>
      <p:sp>
        <p:nvSpPr>
          <p:cNvPr id="9" name="TextBox 8"/>
          <p:cNvSpPr txBox="1"/>
          <p:nvPr/>
        </p:nvSpPr>
        <p:spPr>
          <a:xfrm>
            <a:off x="658368"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260 solicitudes · 35 % solo información</a:t>
            </a:r>
          </a:p>
        </p:txBody>
      </p:sp>
      <p:sp>
        <p:nvSpPr>
          <p:cNvPr id="10" name="TextBox 9"/>
          <p:cNvSpPr txBox="1"/>
          <p:nvPr/>
        </p:nvSpPr>
        <p:spPr>
          <a:xfrm>
            <a:off x="658368" y="2377440"/>
            <a:ext cx="3383280" cy="2788920"/>
          </a:xfrm>
          <a:prstGeom prst="rect">
            <a:avLst/>
          </a:prstGeom>
          <a:noFill/>
        </p:spPr>
        <p:txBody>
          <a:bodyPr wrap="square" lIns="45720" rIns="45720" tIns="27432" bIns="27432">
            <a:spAutoFit/>
          </a:bodyPr>
          <a:lstStyle/>
          <a:p>
            <a:pPr>
              <a:spcAft>
                <a:spcPts val="400"/>
              </a:spcAft>
            </a:pPr>
            <a:r>
              <a:rPr sz="900" b="0">
                <a:solidFill>
                  <a:srgbClr val="14202E"/>
                </a:solidFill>
                <a:latin typeface="Calibri"/>
              </a:rPr>
              <a:t>1. ¿Dónde está hoy? Fuera de España · en España con permiso · en España sin permiso o con plazo vencido · ciudadano de la UE o familiar</a:t>
            </a:r>
          </a:p>
          <a:p>
            <a:pPr>
              <a:spcAft>
                <a:spcPts val="400"/>
              </a:spcAft>
            </a:pPr>
            <a:r>
              <a:rPr sz="900" b="0">
                <a:solidFill>
                  <a:srgbClr val="14202E"/>
                </a:solidFill>
                <a:latin typeface="Calibri"/>
              </a:rPr>
              <a:t>2. ¿Qué quiere hacer? Vivir sin trabajar · teletrabajar para una empresa extranjera · trabajar por cuenta ajena · montar un negocio · estudiar · reagrupar a familia o pareja · nacionalidad · regularización · recurrir una denegación</a:t>
            </a:r>
          </a:p>
          <a:p>
            <a:pPr>
              <a:spcAft>
                <a:spcPts val="400"/>
              </a:spcAft>
            </a:pPr>
            <a:r>
              <a:rPr sz="900" b="0">
                <a:solidFill>
                  <a:srgbClr val="14202E"/>
                </a:solidFill>
                <a:latin typeface="Calibri"/>
              </a:rPr>
              <a:t>3. ¿Quién le acompaña? Cónyuge, hijos, padres, y su nacionalidad</a:t>
            </a:r>
          </a:p>
          <a:p>
            <a:pPr>
              <a:spcAft>
                <a:spcPts val="400"/>
              </a:spcAft>
            </a:pPr>
            <a:r>
              <a:rPr sz="900" b="0">
                <a:solidFill>
                  <a:srgbClr val="14202E"/>
                </a:solidFill>
                <a:latin typeface="Calibri"/>
              </a:rPr>
              <a:t>4. Fecha clave: vencimiento de la tarjeta o visado, plazo de un requerimiento o llegada prevista</a:t>
            </a:r>
          </a:p>
          <a:p>
            <a:pPr>
              <a:spcAft>
                <a:spcPts val="400"/>
              </a:spcAft>
            </a:pPr>
            <a:r>
              <a:rPr sz="900" b="0">
                <a:solidFill>
                  <a:srgbClr val="14202E"/>
                </a:solidFill>
                <a:latin typeface="Calibri"/>
              </a:rPr>
              <a:t>5. Origen e importe aproximado de los ingresos (solo nómada, no lucrativa y emprendedor)</a:t>
            </a:r>
          </a:p>
          <a:p>
            <a:pPr>
              <a:spcAft>
                <a:spcPts val="400"/>
              </a:spcAft>
            </a:pPr>
            <a:r>
              <a:rPr sz="900" b="0">
                <a:solidFill>
                  <a:srgbClr val="14202E"/>
                </a:solidFill>
                <a:latin typeface="Calibri"/>
              </a:rPr>
              <a:t>6. ¿Ha recibido una denegación o requerimiento? Subir la resolución</a:t>
            </a:r>
          </a:p>
        </p:txBody>
      </p:sp>
      <p:sp>
        <p:nvSpPr>
          <p:cNvPr id="11" name="TextBox 10"/>
          <p:cNvSpPr txBox="1"/>
          <p:nvPr/>
        </p:nvSpPr>
        <p:spPr>
          <a:xfrm>
            <a:off x="658368"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Guías hoy (selección automática, a curar)</a:t>
            </a:r>
          </a:p>
          <a:p>
            <a:pPr>
              <a:spcAft>
                <a:spcPts val="200"/>
              </a:spcAft>
            </a:pPr>
            <a:r>
              <a:rPr sz="900" b="0">
                <a:solidFill>
                  <a:srgbClr val="14202E"/>
                </a:solidFill>
                <a:latin typeface="Calibri"/>
              </a:rPr>
              <a:t>Renovación de la residencia no lucrativa: el nuevo requisito de 183 días (RD 1155/2024)</a:t>
            </a:r>
          </a:p>
          <a:p>
            <a:pPr>
              <a:spcAft>
                <a:spcPts val="200"/>
              </a:spcAft>
            </a:pPr>
            <a:r>
              <a:rPr sz="900" b="0">
                <a:solidFill>
                  <a:srgbClr val="14202E"/>
                </a:solidFill>
                <a:latin typeface="Calibri"/>
              </a:rPr>
              <a:t>Visa nómada digital en España: requisitos y cómo solicitarla</a:t>
            </a:r>
          </a:p>
        </p:txBody>
      </p:sp>
      <p:sp>
        <p:nvSpPr>
          <p:cNvPr id="12" name="Rounded Rectangle 11"/>
          <p:cNvSpPr/>
          <p:nvPr/>
        </p:nvSpPr>
        <p:spPr>
          <a:xfrm>
            <a:off x="4297679"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7"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Impuestos y fiscalidad</a:t>
            </a:r>
          </a:p>
        </p:txBody>
      </p:sp>
      <p:sp>
        <p:nvSpPr>
          <p:cNvPr id="14" name="TextBox 13"/>
          <p:cNvSpPr txBox="1"/>
          <p:nvPr/>
        </p:nvSpPr>
        <p:spPr>
          <a:xfrm>
            <a:off x="4407407"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193 solicitudes · 35 % solo información</a:t>
            </a:r>
          </a:p>
        </p:txBody>
      </p:sp>
      <p:sp>
        <p:nvSpPr>
          <p:cNvPr id="15" name="TextBox 14"/>
          <p:cNvSpPr txBox="1"/>
          <p:nvPr/>
        </p:nvSpPr>
        <p:spPr>
          <a:xfrm>
            <a:off x="4407407" y="2377440"/>
            <a:ext cx="3383280" cy="2788920"/>
          </a:xfrm>
          <a:prstGeom prst="rect">
            <a:avLst/>
          </a:prstGeom>
          <a:noFill/>
        </p:spPr>
        <p:txBody>
          <a:bodyPr wrap="square" lIns="45720" rIns="45720" tIns="27432" bIns="27432">
            <a:spAutoFit/>
          </a:bodyPr>
          <a:lstStyle/>
          <a:p>
            <a:pPr>
              <a:spcAft>
                <a:spcPts val="400"/>
              </a:spcAft>
            </a:pPr>
            <a:r>
              <a:rPr sz="1050" b="0">
                <a:solidFill>
                  <a:srgbClr val="14202E"/>
                </a:solidFill>
                <a:latin typeface="Calibri"/>
              </a:rPr>
              <a:t>1. Perfil fiscal: residente en España · no residente con inmueble · llega este año · duda sobre dónde es residente fiscal</a:t>
            </a:r>
          </a:p>
          <a:p>
            <a:pPr>
              <a:spcAft>
                <a:spcPts val="400"/>
              </a:spcAft>
            </a:pPr>
            <a:r>
              <a:rPr sz="1050" b="0">
                <a:solidFill>
                  <a:srgbClr val="14202E"/>
                </a:solidFill>
                <a:latin typeface="Calibri"/>
              </a:rPr>
              <a:t>2. Países implicados y tipo de ingresos: salario, alquiler, autónomo, dividendos, pensión, venta de inmueble, cripto</a:t>
            </a:r>
          </a:p>
          <a:p>
            <a:pPr>
              <a:spcAft>
                <a:spcPts val="400"/>
              </a:spcAft>
            </a:pPr>
            <a:r>
              <a:rPr sz="1050" b="0">
                <a:solidFill>
                  <a:srgbClr val="14202E"/>
                </a:solidFill>
                <a:latin typeface="Calibri"/>
              </a:rPr>
              <a:t>3. Tema: declaración de la renta · Modelo 210 · régimen Beckham · bienes en el extranjero · plusvalía · IVA y contabilidad · notificación de Hacienda</a:t>
            </a:r>
          </a:p>
          <a:p>
            <a:pPr>
              <a:spcAft>
                <a:spcPts val="400"/>
              </a:spcAft>
            </a:pPr>
            <a:r>
              <a:rPr sz="1050" b="0">
                <a:solidFill>
                  <a:srgbClr val="14202E"/>
                </a:solidFill>
                <a:latin typeface="Calibri"/>
              </a:rPr>
              <a:t>4. Ejercicios afectados y plazo de cualquier requerimiento</a:t>
            </a:r>
          </a:p>
          <a:p>
            <a:pPr>
              <a:spcAft>
                <a:spcPts val="400"/>
              </a:spcAft>
            </a:pPr>
            <a:r>
              <a:rPr sz="1050" b="0">
                <a:solidFill>
                  <a:srgbClr val="14202E"/>
                </a:solidFill>
                <a:latin typeface="Calibri"/>
              </a:rPr>
              <a:t>5. ¿Tiene patrimonio relevante fuera de España?</a:t>
            </a:r>
          </a:p>
        </p:txBody>
      </p:sp>
      <p:sp>
        <p:nvSpPr>
          <p:cNvPr id="16" name="TextBox 15"/>
          <p:cNvSpPr txBox="1"/>
          <p:nvPr/>
        </p:nvSpPr>
        <p:spPr>
          <a:xfrm>
            <a:off x="4407407"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Guías hoy (selección automática, a curar)</a:t>
            </a:r>
          </a:p>
          <a:p>
            <a:pPr>
              <a:spcAft>
                <a:spcPts val="200"/>
              </a:spcAft>
            </a:pPr>
            <a:r>
              <a:rPr sz="900" b="0">
                <a:solidFill>
                  <a:srgbClr val="14202E"/>
                </a:solidFill>
                <a:latin typeface="Calibri"/>
              </a:rPr>
              <a:t>El ‘Síndrome Van Gaal’ y la Ley Beckham: cómo protegerse del control de Hacienda en 2026</a:t>
            </a:r>
          </a:p>
          <a:p>
            <a:pPr>
              <a:spcAft>
                <a:spcPts val="200"/>
              </a:spcAft>
            </a:pPr>
            <a:r>
              <a:rPr sz="900" b="0">
                <a:solidFill>
                  <a:srgbClr val="14202E"/>
                </a:solidFill>
                <a:latin typeface="Calibri"/>
              </a:rPr>
              <a:t>Impatriados en España: lo que Hacienda espera que sepas antes de volver</a:t>
            </a:r>
          </a:p>
        </p:txBody>
      </p:sp>
      <p:sp>
        <p:nvSpPr>
          <p:cNvPr id="17" name="Rounded Rectangle 16"/>
          <p:cNvSpPr/>
          <p:nvPr/>
        </p:nvSpPr>
        <p:spPr>
          <a:xfrm>
            <a:off x="8046719"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56447"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Comprar, vender o alquilar un inmueble</a:t>
            </a:r>
          </a:p>
        </p:txBody>
      </p:sp>
      <p:sp>
        <p:nvSpPr>
          <p:cNvPr id="19" name="TextBox 18"/>
          <p:cNvSpPr txBox="1"/>
          <p:nvPr/>
        </p:nvSpPr>
        <p:spPr>
          <a:xfrm>
            <a:off x="8156447"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174 solicitudes · 29 % solo información</a:t>
            </a:r>
          </a:p>
        </p:txBody>
      </p:sp>
      <p:sp>
        <p:nvSpPr>
          <p:cNvPr id="20" name="TextBox 19"/>
          <p:cNvSpPr txBox="1"/>
          <p:nvPr/>
        </p:nvSpPr>
        <p:spPr>
          <a:xfrm>
            <a:off x="8156447" y="2377440"/>
            <a:ext cx="3383280" cy="2788920"/>
          </a:xfrm>
          <a:prstGeom prst="rect">
            <a:avLst/>
          </a:prstGeom>
          <a:noFill/>
        </p:spPr>
        <p:txBody>
          <a:bodyPr wrap="square" lIns="45720" rIns="45720" tIns="27432" bIns="27432">
            <a:spAutoFit/>
          </a:bodyPr>
          <a:lstStyle/>
          <a:p>
            <a:pPr>
              <a:spcAft>
                <a:spcPts val="400"/>
              </a:spcAft>
            </a:pPr>
            <a:r>
              <a:rPr sz="1150" b="0">
                <a:solidFill>
                  <a:srgbClr val="14202E"/>
                </a:solidFill>
                <a:latin typeface="Calibri"/>
              </a:rPr>
              <a:t>1. ¿Qué necesita? Comprar · vender · alquilar · obras o licencias · comunidad de propietarios · vivienda turística · conflicto</a:t>
            </a:r>
          </a:p>
          <a:p>
            <a:pPr>
              <a:spcAft>
                <a:spcPts val="400"/>
              </a:spcAft>
            </a:pPr>
            <a:r>
              <a:rPr sz="1150" b="0">
                <a:solidFill>
                  <a:srgbClr val="14202E"/>
                </a:solidFill>
                <a:latin typeface="Calibri"/>
              </a:rPr>
              <a:t>2. ¿En qué punto está? Buscando · oferta o arras hechas · contrato firmado · problema posterior</a:t>
            </a:r>
          </a:p>
          <a:p>
            <a:pPr>
              <a:spcAft>
                <a:spcPts val="400"/>
              </a:spcAft>
            </a:pPr>
            <a:r>
              <a:rPr sz="1150" b="0">
                <a:solidFill>
                  <a:srgbClr val="14202E"/>
                </a:solidFill>
                <a:latin typeface="Calibri"/>
              </a:rPr>
              <a:t>3. Provincia o municipio y tipo de inmueble</a:t>
            </a:r>
          </a:p>
          <a:p>
            <a:pPr>
              <a:spcAft>
                <a:spcPts val="400"/>
              </a:spcAft>
            </a:pPr>
            <a:r>
              <a:rPr sz="1150" b="0">
                <a:solidFill>
                  <a:srgbClr val="14202E"/>
                </a:solidFill>
                <a:latin typeface="Calibri"/>
              </a:rPr>
              <a:t>4. ¿Compra como persona o con sociedad? ¿Es residente fiscal en España?</a:t>
            </a:r>
          </a:p>
          <a:p>
            <a:pPr>
              <a:spcAft>
                <a:spcPts val="400"/>
              </a:spcAft>
            </a:pPr>
            <a:r>
              <a:rPr sz="1150" b="0">
                <a:solidFill>
                  <a:srgbClr val="14202E"/>
                </a:solidFill>
                <a:latin typeface="Calibri"/>
              </a:rPr>
              <a:t>5. ¿Necesita hipoteca o financiación? Precio aproximado</a:t>
            </a:r>
          </a:p>
          <a:p>
            <a:pPr>
              <a:spcAft>
                <a:spcPts val="400"/>
              </a:spcAft>
            </a:pPr>
            <a:r>
              <a:rPr sz="1150" b="0">
                <a:solidFill>
                  <a:srgbClr val="14202E"/>
                </a:solidFill>
                <a:latin typeface="Calibri"/>
              </a:rPr>
              <a:t>6. Si hay conflicto: contrato o escritura a mano y contraparte</a:t>
            </a:r>
          </a:p>
        </p:txBody>
      </p:sp>
      <p:sp>
        <p:nvSpPr>
          <p:cNvPr id="21" name="TextBox 20"/>
          <p:cNvSpPr txBox="1"/>
          <p:nvPr/>
        </p:nvSpPr>
        <p:spPr>
          <a:xfrm>
            <a:off x="8156447"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Guías hoy (selección automática, a curar)</a:t>
            </a:r>
          </a:p>
          <a:p>
            <a:pPr>
              <a:spcAft>
                <a:spcPts val="200"/>
              </a:spcAft>
            </a:pPr>
            <a:r>
              <a:rPr sz="900" b="0">
                <a:solidFill>
                  <a:srgbClr val="14202E"/>
                </a:solidFill>
                <a:latin typeface="Calibri"/>
              </a:rPr>
              <a:t>Alquiler de infravivienda en Valencia: riesgos legales y cómo actuar</a:t>
            </a:r>
          </a:p>
          <a:p>
            <a:pPr>
              <a:spcAft>
                <a:spcPts val="200"/>
              </a:spcAft>
            </a:pPr>
            <a:r>
              <a:rPr sz="900" b="0">
                <a:solidFill>
                  <a:srgbClr val="14202E"/>
                </a:solidFill>
                <a:latin typeface="Calibri"/>
              </a:rPr>
              <a:t>Alquiler de infravivienda en Valencia: riesgos legales y cómo actuar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FORMULARIO EN 4 PASOS</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Rutas del paso 1, con su demanda y las preguntas del paso 3</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18</a:t>
            </a:r>
          </a:p>
        </p:txBody>
      </p:sp>
      <p:sp>
        <p:nvSpPr>
          <p:cNvPr id="7" name="Rounded Rectangle 6"/>
          <p:cNvSpPr/>
          <p:nvPr/>
        </p:nvSpPr>
        <p:spPr>
          <a:xfrm>
            <a:off x="548640"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Llegar y organizarse (NIE, padrón, sanidad, banco)</a:t>
            </a:r>
          </a:p>
        </p:txBody>
      </p:sp>
      <p:sp>
        <p:nvSpPr>
          <p:cNvPr id="9" name="TextBox 8"/>
          <p:cNvSpPr txBox="1"/>
          <p:nvPr/>
        </p:nvSpPr>
        <p:spPr>
          <a:xfrm>
            <a:off x="658368"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131 solicitudes · 33 % solo información</a:t>
            </a:r>
          </a:p>
        </p:txBody>
      </p:sp>
      <p:sp>
        <p:nvSpPr>
          <p:cNvPr id="10" name="TextBox 9"/>
          <p:cNvSpPr txBox="1"/>
          <p:nvPr/>
        </p:nvSpPr>
        <p:spPr>
          <a:xfrm>
            <a:off x="658368" y="2377440"/>
            <a:ext cx="3383280" cy="2788920"/>
          </a:xfrm>
          <a:prstGeom prst="rect">
            <a:avLst/>
          </a:prstGeom>
          <a:noFill/>
        </p:spPr>
        <p:txBody>
          <a:bodyPr wrap="square" lIns="45720" rIns="45720" tIns="27432" bIns="27432">
            <a:spAutoFit/>
          </a:bodyPr>
          <a:lstStyle/>
          <a:p>
            <a:pPr>
              <a:spcAft>
                <a:spcPts val="400"/>
              </a:spcAft>
            </a:pPr>
            <a:r>
              <a:rPr sz="1150" b="0">
                <a:solidFill>
                  <a:srgbClr val="14202E"/>
                </a:solidFill>
                <a:latin typeface="Calibri"/>
              </a:rPr>
              <a:t>1. ¿Tiene ya NIE? ¿Está empadronado?</a:t>
            </a:r>
          </a:p>
          <a:p>
            <a:pPr>
              <a:spcAft>
                <a:spcPts val="400"/>
              </a:spcAft>
            </a:pPr>
            <a:r>
              <a:rPr sz="1150" b="0">
                <a:solidFill>
                  <a:srgbClr val="14202E"/>
                </a:solidFill>
                <a:latin typeface="Calibri"/>
              </a:rPr>
              <a:t>2. Fecha de llegada o mudanza y ciudad</a:t>
            </a:r>
          </a:p>
          <a:p>
            <a:pPr>
              <a:spcAft>
                <a:spcPts val="400"/>
              </a:spcAft>
            </a:pPr>
            <a:r>
              <a:rPr sz="1150" b="0">
                <a:solidFill>
                  <a:srgbClr val="14202E"/>
                </a:solidFill>
                <a:latin typeface="Calibri"/>
              </a:rPr>
              <a:t>3. ¿Qué necesita? NIE y TIE · padrón · tarjeta sanitaria y número de Seguridad Social · cuenta bancaria · canje de carné · homologación de títulos</a:t>
            </a:r>
          </a:p>
          <a:p>
            <a:pPr>
              <a:spcAft>
                <a:spcPts val="400"/>
              </a:spcAft>
            </a:pPr>
            <a:r>
              <a:rPr sz="1150" b="0">
                <a:solidFill>
                  <a:srgbClr val="14202E"/>
                </a:solidFill>
                <a:latin typeface="Calibri"/>
              </a:rPr>
              <a:t>4. ¿Viaja con familia o con niños en edad escolar?</a:t>
            </a:r>
          </a:p>
          <a:p>
            <a:pPr>
              <a:spcAft>
                <a:spcPts val="400"/>
              </a:spcAft>
            </a:pPr>
            <a:r>
              <a:rPr sz="1150" b="0">
                <a:solidFill>
                  <a:srgbClr val="14202E"/>
                </a:solidFill>
                <a:latin typeface="Calibri"/>
              </a:rPr>
              <a:t>5. ¿Va a abrir una empresa o darse de alta como autónomo? (si sí, proponer la ruta Empresa)</a:t>
            </a:r>
          </a:p>
        </p:txBody>
      </p:sp>
      <p:sp>
        <p:nvSpPr>
          <p:cNvPr id="11" name="TextBox 10"/>
          <p:cNvSpPr txBox="1"/>
          <p:nvPr/>
        </p:nvSpPr>
        <p:spPr>
          <a:xfrm>
            <a:off x="658368"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Guías hoy (selección automática, a curar)</a:t>
            </a:r>
          </a:p>
          <a:p>
            <a:pPr>
              <a:spcAft>
                <a:spcPts val="200"/>
              </a:spcAft>
            </a:pPr>
            <a:r>
              <a:rPr sz="900" b="0">
                <a:solidFill>
                  <a:srgbClr val="14202E"/>
                </a:solidFill>
                <a:latin typeface="Calibri"/>
              </a:rPr>
              <a:t>NIE en España: qué es, cómo obtenerlo y para qué lo necesita</a:t>
            </a:r>
          </a:p>
          <a:p>
            <a:pPr>
              <a:spcAft>
                <a:spcPts val="200"/>
              </a:spcAft>
            </a:pPr>
            <a:r>
              <a:rPr sz="900" b="0">
                <a:solidFill>
                  <a:srgbClr val="14202E"/>
                </a:solidFill>
                <a:latin typeface="Calibri"/>
              </a:rPr>
              <a:t>Empadronamiento en España: qué es, cómo hacerlo y documentos necesarios</a:t>
            </a:r>
          </a:p>
        </p:txBody>
      </p:sp>
      <p:sp>
        <p:nvSpPr>
          <p:cNvPr id="12" name="Rounded Rectangle 11"/>
          <p:cNvSpPr/>
          <p:nvPr/>
        </p:nvSpPr>
        <p:spPr>
          <a:xfrm>
            <a:off x="4297679"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7"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Crear o gestionar una empresa</a:t>
            </a:r>
          </a:p>
        </p:txBody>
      </p:sp>
      <p:sp>
        <p:nvSpPr>
          <p:cNvPr id="14" name="TextBox 13"/>
          <p:cNvSpPr txBox="1"/>
          <p:nvPr/>
        </p:nvSpPr>
        <p:spPr>
          <a:xfrm>
            <a:off x="4407407"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112 solicitudes · 32 % solo información</a:t>
            </a:r>
          </a:p>
        </p:txBody>
      </p:sp>
      <p:sp>
        <p:nvSpPr>
          <p:cNvPr id="15" name="TextBox 14"/>
          <p:cNvSpPr txBox="1"/>
          <p:nvPr/>
        </p:nvSpPr>
        <p:spPr>
          <a:xfrm>
            <a:off x="4407407" y="2377440"/>
            <a:ext cx="3383280" cy="2788920"/>
          </a:xfrm>
          <a:prstGeom prst="rect">
            <a:avLst/>
          </a:prstGeom>
          <a:noFill/>
        </p:spPr>
        <p:txBody>
          <a:bodyPr wrap="square" lIns="45720" rIns="45720" tIns="27432" bIns="27432">
            <a:spAutoFit/>
          </a:bodyPr>
          <a:lstStyle/>
          <a:p>
            <a:pPr>
              <a:spcAft>
                <a:spcPts val="400"/>
              </a:spcAft>
            </a:pPr>
            <a:r>
              <a:rPr sz="1150" b="0">
                <a:solidFill>
                  <a:srgbClr val="14202E"/>
                </a:solidFill>
                <a:latin typeface="Calibri"/>
              </a:rPr>
              <a:t>1. ¿Qué necesita? Crear una sociedad · alta de autónomo · sucursal o filial · holding · contrato mercantil · insolvencia o reestructuración · franquicia</a:t>
            </a:r>
          </a:p>
          <a:p>
            <a:pPr>
              <a:spcAft>
                <a:spcPts val="400"/>
              </a:spcAft>
            </a:pPr>
            <a:r>
              <a:rPr sz="1150" b="0">
                <a:solidFill>
                  <a:srgbClr val="14202E"/>
                </a:solidFill>
                <a:latin typeface="Calibri"/>
              </a:rPr>
              <a:t>2. ¿Existe ya una empresa en otro país? País y forma jurídica</a:t>
            </a:r>
          </a:p>
          <a:p>
            <a:pPr>
              <a:spcAft>
                <a:spcPts val="400"/>
              </a:spcAft>
            </a:pPr>
            <a:r>
              <a:rPr sz="1150" b="0">
                <a:solidFill>
                  <a:srgbClr val="14202E"/>
                </a:solidFill>
                <a:latin typeface="Calibri"/>
              </a:rPr>
              <a:t>3. Socios o administradores y dónde residen (¿necesitan NIE o residencia?)</a:t>
            </a:r>
          </a:p>
          <a:p>
            <a:pPr>
              <a:spcAft>
                <a:spcPts val="400"/>
              </a:spcAft>
            </a:pPr>
            <a:r>
              <a:rPr sz="1150" b="0">
                <a:solidFill>
                  <a:srgbClr val="14202E"/>
                </a:solidFill>
                <a:latin typeface="Calibri"/>
              </a:rPr>
              <a:t>4. Actividad y facturación prevista; ¿necesita gestoría contable?</a:t>
            </a:r>
          </a:p>
          <a:p>
            <a:pPr>
              <a:spcAft>
                <a:spcPts val="400"/>
              </a:spcAft>
            </a:pPr>
            <a:r>
              <a:rPr sz="1150" b="0">
                <a:solidFill>
                  <a:srgbClr val="14202E"/>
                </a:solidFill>
                <a:latin typeface="Calibri"/>
              </a:rPr>
              <a:t>5. Plazo de arranque</a:t>
            </a:r>
          </a:p>
        </p:txBody>
      </p:sp>
      <p:sp>
        <p:nvSpPr>
          <p:cNvPr id="16" name="TextBox 15"/>
          <p:cNvSpPr txBox="1"/>
          <p:nvPr/>
        </p:nvSpPr>
        <p:spPr>
          <a:xfrm>
            <a:off x="4407407"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Guías hoy (selección automática, a curar)</a:t>
            </a:r>
          </a:p>
          <a:p>
            <a:pPr>
              <a:spcAft>
                <a:spcPts val="200"/>
              </a:spcAft>
            </a:pPr>
            <a:r>
              <a:rPr sz="900" b="0">
                <a:solidFill>
                  <a:srgbClr val="14202E"/>
                </a:solidFill>
                <a:latin typeface="Calibri"/>
              </a:rPr>
              <a:t>Concurso de acreedores para autónomos y pymes: guía 2026</a:t>
            </a:r>
          </a:p>
          <a:p>
            <a:pPr>
              <a:spcAft>
                <a:spcPts val="200"/>
              </a:spcAft>
            </a:pPr>
            <a:r>
              <a:rPr sz="900" b="0">
                <a:solidFill>
                  <a:srgbClr val="14202E"/>
                </a:solidFill>
                <a:latin typeface="Calibri"/>
              </a:rPr>
              <a:t>Hacerse autónomo en España: alta, cuotas y obligaciones</a:t>
            </a:r>
          </a:p>
        </p:txBody>
      </p:sp>
      <p:sp>
        <p:nvSpPr>
          <p:cNvPr id="17" name="Rounded Rectangle 16"/>
          <p:cNvSpPr/>
          <p:nvPr/>
        </p:nvSpPr>
        <p:spPr>
          <a:xfrm>
            <a:off x="8046719"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56447"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Herencia, testamento y patrimonio</a:t>
            </a:r>
          </a:p>
        </p:txBody>
      </p:sp>
      <p:sp>
        <p:nvSpPr>
          <p:cNvPr id="19" name="TextBox 18"/>
          <p:cNvSpPr txBox="1"/>
          <p:nvPr/>
        </p:nvSpPr>
        <p:spPr>
          <a:xfrm>
            <a:off x="8156447"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96 solicitudes · 34 % solo información</a:t>
            </a:r>
          </a:p>
        </p:txBody>
      </p:sp>
      <p:sp>
        <p:nvSpPr>
          <p:cNvPr id="20" name="TextBox 19"/>
          <p:cNvSpPr txBox="1"/>
          <p:nvPr/>
        </p:nvSpPr>
        <p:spPr>
          <a:xfrm>
            <a:off x="8156447" y="2377440"/>
            <a:ext cx="3383280" cy="2788920"/>
          </a:xfrm>
          <a:prstGeom prst="rect">
            <a:avLst/>
          </a:prstGeom>
          <a:noFill/>
        </p:spPr>
        <p:txBody>
          <a:bodyPr wrap="square" lIns="45720" rIns="45720" tIns="27432" bIns="27432">
            <a:spAutoFit/>
          </a:bodyPr>
          <a:lstStyle/>
          <a:p>
            <a:pPr>
              <a:spcAft>
                <a:spcPts val="400"/>
              </a:spcAft>
            </a:pPr>
            <a:r>
              <a:rPr sz="1150" b="0">
                <a:solidFill>
                  <a:srgbClr val="14202E"/>
                </a:solidFill>
                <a:latin typeface="Calibri"/>
              </a:rPr>
              <a:t>1. ¿Hay un fallecimiento o planifica en vida (testamento, donación)?</a:t>
            </a:r>
          </a:p>
          <a:p>
            <a:pPr>
              <a:spcAft>
                <a:spcPts val="400"/>
              </a:spcAft>
            </a:pPr>
            <a:r>
              <a:rPr sz="1150" b="0">
                <a:solidFill>
                  <a:srgbClr val="14202E"/>
                </a:solidFill>
                <a:latin typeface="Calibri"/>
              </a:rPr>
              <a:t>2. País de residencia y nacionalidad del fallecido o de quien otorga</a:t>
            </a:r>
          </a:p>
          <a:p>
            <a:pPr>
              <a:spcAft>
                <a:spcPts val="400"/>
              </a:spcAft>
            </a:pPr>
            <a:r>
              <a:rPr sz="1150" b="0">
                <a:solidFill>
                  <a:srgbClr val="14202E"/>
                </a:solidFill>
                <a:latin typeface="Calibri"/>
              </a:rPr>
              <a:t>3. Bienes en España y en otros países; herederos y dónde viven</a:t>
            </a:r>
          </a:p>
          <a:p>
            <a:pPr>
              <a:spcAft>
                <a:spcPts val="400"/>
              </a:spcAft>
            </a:pPr>
            <a:r>
              <a:rPr sz="1150" b="0">
                <a:solidFill>
                  <a:srgbClr val="14202E"/>
                </a:solidFill>
                <a:latin typeface="Calibri"/>
              </a:rPr>
              <a:t>4. ¿Existe testamento? ¿Hay conflicto entre herederos?</a:t>
            </a:r>
          </a:p>
          <a:p>
            <a:pPr>
              <a:spcAft>
                <a:spcPts val="400"/>
              </a:spcAft>
            </a:pPr>
            <a:r>
              <a:rPr sz="1150" b="0">
                <a:solidFill>
                  <a:srgbClr val="14202E"/>
                </a:solidFill>
                <a:latin typeface="Calibri"/>
              </a:rPr>
              <a:t>5. Fecha del fallecimiento (hay plazos fiscales)</a:t>
            </a:r>
          </a:p>
        </p:txBody>
      </p:sp>
      <p:sp>
        <p:nvSpPr>
          <p:cNvPr id="21" name="TextBox 20"/>
          <p:cNvSpPr txBox="1"/>
          <p:nvPr/>
        </p:nvSpPr>
        <p:spPr>
          <a:xfrm>
            <a:off x="8156447"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Guías hoy (selección automática, a curar)</a:t>
            </a:r>
          </a:p>
          <a:p>
            <a:pPr>
              <a:spcAft>
                <a:spcPts val="200"/>
              </a:spcAft>
            </a:pPr>
            <a:r>
              <a:rPr sz="900" b="0">
                <a:solidFill>
                  <a:srgbClr val="14202E"/>
                </a:solidFill>
                <a:latin typeface="Calibri"/>
              </a:rPr>
              <a:t>Impuesto de sucesiones en la Comunidad Valenciana: guía 2026</a:t>
            </a:r>
          </a:p>
          <a:p>
            <a:pPr>
              <a:spcAft>
                <a:spcPts val="200"/>
              </a:spcAft>
            </a:pPr>
            <a:r>
              <a:rPr sz="900" b="0">
                <a:solidFill>
                  <a:srgbClr val="14202E"/>
                </a:solidFill>
                <a:latin typeface="Calibri"/>
              </a:rPr>
              <a:t>Optimización fiscal en España en 2026: claves esenciales para la planificación de la renta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FORMULARIO EN 4 PASOS</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Rutas del paso 1, con su demanda y las preguntas del paso 3</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19</a:t>
            </a:r>
          </a:p>
        </p:txBody>
      </p:sp>
      <p:sp>
        <p:nvSpPr>
          <p:cNvPr id="7" name="Rounded Rectangle 6"/>
          <p:cNvSpPr/>
          <p:nvPr/>
        </p:nvSpPr>
        <p:spPr>
          <a:xfrm>
            <a:off x="548640"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Trabajo y empleo</a:t>
            </a:r>
          </a:p>
        </p:txBody>
      </p:sp>
      <p:sp>
        <p:nvSpPr>
          <p:cNvPr id="9" name="TextBox 8"/>
          <p:cNvSpPr txBox="1"/>
          <p:nvPr/>
        </p:nvSpPr>
        <p:spPr>
          <a:xfrm>
            <a:off x="658368"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56 solicitudes · 26 % solo información</a:t>
            </a:r>
          </a:p>
        </p:txBody>
      </p:sp>
      <p:sp>
        <p:nvSpPr>
          <p:cNvPr id="10" name="TextBox 9"/>
          <p:cNvSpPr txBox="1"/>
          <p:nvPr/>
        </p:nvSpPr>
        <p:spPr>
          <a:xfrm>
            <a:off x="658368" y="2377440"/>
            <a:ext cx="3383280" cy="2788920"/>
          </a:xfrm>
          <a:prstGeom prst="rect">
            <a:avLst/>
          </a:prstGeom>
          <a:noFill/>
        </p:spPr>
        <p:txBody>
          <a:bodyPr wrap="square" lIns="45720" rIns="45720" tIns="27432" bIns="27432">
            <a:spAutoFit/>
          </a:bodyPr>
          <a:lstStyle/>
          <a:p>
            <a:pPr>
              <a:spcAft>
                <a:spcPts val="400"/>
              </a:spcAft>
            </a:pPr>
            <a:r>
              <a:rPr sz="1150" b="0">
                <a:solidFill>
                  <a:srgbClr val="14202E"/>
                </a:solidFill>
                <a:latin typeface="Calibri"/>
              </a:rPr>
              <a:t>1. ¿Es trabajador o empresa?</a:t>
            </a:r>
          </a:p>
          <a:p>
            <a:pPr>
              <a:spcAft>
                <a:spcPts val="400"/>
              </a:spcAft>
            </a:pPr>
            <a:r>
              <a:rPr sz="1150" b="0">
                <a:solidFill>
                  <a:srgbClr val="14202E"/>
                </a:solidFill>
                <a:latin typeface="Calibri"/>
              </a:rPr>
              <a:t>2. Tema: despido · contrato · salario o finiquito · baja o accidente · acoso · alta de trabajadores o desplazados · RRHH o compliance</a:t>
            </a:r>
          </a:p>
          <a:p>
            <a:pPr>
              <a:spcAft>
                <a:spcPts val="400"/>
              </a:spcAft>
            </a:pPr>
            <a:r>
              <a:rPr sz="1150" b="0">
                <a:solidFill>
                  <a:srgbClr val="14202E"/>
                </a:solidFill>
                <a:latin typeface="Calibri"/>
              </a:rPr>
              <a:t>3. Fecha del hecho (los plazos para reclamar son cortos)</a:t>
            </a:r>
          </a:p>
          <a:p>
            <a:pPr>
              <a:spcAft>
                <a:spcPts val="400"/>
              </a:spcAft>
            </a:pPr>
            <a:r>
              <a:rPr sz="1150" b="0">
                <a:solidFill>
                  <a:srgbClr val="14202E"/>
                </a:solidFill>
                <a:latin typeface="Calibri"/>
              </a:rPr>
              <a:t>4. Antigüedad, tipo de contrato y país del empleador</a:t>
            </a:r>
          </a:p>
          <a:p>
            <a:pPr>
              <a:spcAft>
                <a:spcPts val="400"/>
              </a:spcAft>
            </a:pPr>
            <a:r>
              <a:rPr sz="1150" b="0">
                <a:solidFill>
                  <a:srgbClr val="14202E"/>
                </a:solidFill>
                <a:latin typeface="Calibri"/>
              </a:rPr>
              <a:t>5. ¿Tiene carta o documentos?</a:t>
            </a:r>
          </a:p>
        </p:txBody>
      </p:sp>
      <p:sp>
        <p:nvSpPr>
          <p:cNvPr id="11" name="TextBox 10"/>
          <p:cNvSpPr txBox="1"/>
          <p:nvPr/>
        </p:nvSpPr>
        <p:spPr>
          <a:xfrm>
            <a:off x="658368"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Guías hoy (selección automática, a curar)</a:t>
            </a:r>
          </a:p>
          <a:p>
            <a:pPr>
              <a:spcAft>
                <a:spcPts val="200"/>
              </a:spcAft>
            </a:pPr>
            <a:r>
              <a:rPr sz="900" b="0">
                <a:solidFill>
                  <a:srgbClr val="14202E"/>
                </a:solidFill>
                <a:latin typeface="Calibri"/>
              </a:rPr>
              <a:t>Contratar trabajadores en España: costes, contratos y obligaciones para empresas</a:t>
            </a:r>
          </a:p>
          <a:p>
            <a:pPr>
              <a:spcAft>
                <a:spcPts val="200"/>
              </a:spcAft>
            </a:pPr>
            <a:r>
              <a:rPr sz="900" b="0">
                <a:solidFill>
                  <a:srgbClr val="14202E"/>
                </a:solidFill>
                <a:latin typeface="Calibri"/>
              </a:rPr>
              <a:t>Teletrabajo internacional y desplazamientos: cómo evitar la doble imposición y los riesgos laborales de su plantilla global</a:t>
            </a:r>
          </a:p>
        </p:txBody>
      </p:sp>
      <p:sp>
        <p:nvSpPr>
          <p:cNvPr id="12" name="Rounded Rectangle 11"/>
          <p:cNvSpPr/>
          <p:nvPr/>
        </p:nvSpPr>
        <p:spPr>
          <a:xfrm>
            <a:off x="4297679"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7"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Jubilación, pensiones y seguro médico</a:t>
            </a:r>
          </a:p>
        </p:txBody>
      </p:sp>
      <p:sp>
        <p:nvSpPr>
          <p:cNvPr id="14" name="TextBox 13"/>
          <p:cNvSpPr txBox="1"/>
          <p:nvPr/>
        </p:nvSpPr>
        <p:spPr>
          <a:xfrm>
            <a:off x="4407407"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44 solicitudes · 32 % solo información</a:t>
            </a:r>
          </a:p>
        </p:txBody>
      </p:sp>
      <p:sp>
        <p:nvSpPr>
          <p:cNvPr id="15" name="TextBox 14"/>
          <p:cNvSpPr txBox="1"/>
          <p:nvPr/>
        </p:nvSpPr>
        <p:spPr>
          <a:xfrm>
            <a:off x="4407407" y="2377440"/>
            <a:ext cx="3383280" cy="2788920"/>
          </a:xfrm>
          <a:prstGeom prst="rect">
            <a:avLst/>
          </a:prstGeom>
          <a:noFill/>
        </p:spPr>
        <p:txBody>
          <a:bodyPr wrap="square" lIns="45720" rIns="45720" tIns="27432" bIns="27432">
            <a:spAutoFit/>
          </a:bodyPr>
          <a:lstStyle/>
          <a:p>
            <a:pPr>
              <a:spcAft>
                <a:spcPts val="400"/>
              </a:spcAft>
            </a:pPr>
            <a:r>
              <a:rPr sz="1150" b="0">
                <a:solidFill>
                  <a:srgbClr val="14202E"/>
                </a:solidFill>
                <a:latin typeface="Calibri"/>
              </a:rPr>
              <a:t>1. Países en los que ha cotizado y años aproximados</a:t>
            </a:r>
          </a:p>
          <a:p>
            <a:pPr>
              <a:spcAft>
                <a:spcPts val="400"/>
              </a:spcAft>
            </a:pPr>
            <a:r>
              <a:rPr sz="1150" b="0">
                <a:solidFill>
                  <a:srgbClr val="14202E"/>
                </a:solidFill>
                <a:latin typeface="Calibri"/>
              </a:rPr>
              <a:t>2. Edad y fecha prevista de jubilación; ¿cobra ya pensión de otro país?</a:t>
            </a:r>
          </a:p>
          <a:p>
            <a:pPr>
              <a:spcAft>
                <a:spcPts val="400"/>
              </a:spcAft>
            </a:pPr>
            <a:r>
              <a:rPr sz="1150" b="0">
                <a:solidFill>
                  <a:srgbClr val="14202E"/>
                </a:solidFill>
                <a:latin typeface="Calibri"/>
              </a:rPr>
              <a:t>3. Tema: pensión de jubilación o viudedad · seguro médico · prestaciones</a:t>
            </a:r>
          </a:p>
          <a:p>
            <a:pPr>
              <a:spcAft>
                <a:spcPts val="400"/>
              </a:spcAft>
            </a:pPr>
            <a:r>
              <a:rPr sz="1150" b="0">
                <a:solidFill>
                  <a:srgbClr val="14202E"/>
                </a:solidFill>
                <a:latin typeface="Calibri"/>
              </a:rPr>
              <a:t>4. Residencia actual</a:t>
            </a:r>
          </a:p>
        </p:txBody>
      </p:sp>
      <p:sp>
        <p:nvSpPr>
          <p:cNvPr id="16" name="TextBox 15"/>
          <p:cNvSpPr txBox="1"/>
          <p:nvPr/>
        </p:nvSpPr>
        <p:spPr>
          <a:xfrm>
            <a:off x="4407407"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Guías hoy (selección automática, a curar)</a:t>
            </a:r>
          </a:p>
        </p:txBody>
      </p:sp>
      <p:sp>
        <p:nvSpPr>
          <p:cNvPr id="17" name="Rounded Rectangle 16"/>
          <p:cNvSpPr/>
          <p:nvPr/>
        </p:nvSpPr>
        <p:spPr>
          <a:xfrm>
            <a:off x="8046719" y="1508760"/>
            <a:ext cx="3611880" cy="4846320"/>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56447" y="1554480"/>
            <a:ext cx="3383280" cy="502920"/>
          </a:xfrm>
          <a:prstGeom prst="rect">
            <a:avLst/>
          </a:prstGeom>
          <a:noFill/>
        </p:spPr>
        <p:txBody>
          <a:bodyPr wrap="square" lIns="45720" rIns="45720" tIns="27432" bIns="27432">
            <a:spAutoFit/>
          </a:bodyPr>
          <a:lstStyle/>
          <a:p>
            <a:pPr>
              <a:spcAft>
                <a:spcPts val="400"/>
              </a:spcAft>
            </a:pPr>
            <a:r>
              <a:rPr sz="1300" b="1">
                <a:solidFill>
                  <a:srgbClr val="0B5C7A"/>
                </a:solidFill>
                <a:latin typeface="Calibri"/>
              </a:rPr>
              <a:t>Conflicto, reclamación o familia</a:t>
            </a:r>
          </a:p>
        </p:txBody>
      </p:sp>
      <p:sp>
        <p:nvSpPr>
          <p:cNvPr id="19" name="TextBox 18"/>
          <p:cNvSpPr txBox="1"/>
          <p:nvPr/>
        </p:nvSpPr>
        <p:spPr>
          <a:xfrm>
            <a:off x="8156447" y="2057400"/>
            <a:ext cx="3383280" cy="27432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44 solicitudes · 42 % solo información</a:t>
            </a:r>
          </a:p>
        </p:txBody>
      </p:sp>
      <p:sp>
        <p:nvSpPr>
          <p:cNvPr id="20" name="TextBox 19"/>
          <p:cNvSpPr txBox="1"/>
          <p:nvPr/>
        </p:nvSpPr>
        <p:spPr>
          <a:xfrm>
            <a:off x="8156447" y="2377440"/>
            <a:ext cx="3383280" cy="2788920"/>
          </a:xfrm>
          <a:prstGeom prst="rect">
            <a:avLst/>
          </a:prstGeom>
          <a:noFill/>
        </p:spPr>
        <p:txBody>
          <a:bodyPr wrap="square" lIns="45720" rIns="45720" tIns="27432" bIns="27432">
            <a:spAutoFit/>
          </a:bodyPr>
          <a:lstStyle/>
          <a:p>
            <a:pPr>
              <a:spcAft>
                <a:spcPts val="400"/>
              </a:spcAft>
            </a:pPr>
            <a:r>
              <a:rPr sz="1150" b="0">
                <a:solidFill>
                  <a:srgbClr val="14202E"/>
                </a:solidFill>
                <a:latin typeface="Calibri"/>
              </a:rPr>
              <a:t>1. Tipo: reclamación de deuda · litigio mercantil · vecinos o comunidad · familia (divorcio, custodia, adopción) · penal o denuncia</a:t>
            </a:r>
          </a:p>
          <a:p>
            <a:pPr>
              <a:spcAft>
                <a:spcPts val="400"/>
              </a:spcAft>
            </a:pPr>
            <a:r>
              <a:rPr sz="1150" b="0">
                <a:solidFill>
                  <a:srgbClr val="14202E"/>
                </a:solidFill>
                <a:latin typeface="Calibri"/>
              </a:rPr>
              <a:t>2. Contraparte y país; fase: previa · demanda recibida · sentencia</a:t>
            </a:r>
          </a:p>
          <a:p>
            <a:pPr>
              <a:spcAft>
                <a:spcPts val="400"/>
              </a:spcAft>
            </a:pPr>
            <a:r>
              <a:rPr sz="1150" b="0">
                <a:solidFill>
                  <a:srgbClr val="14202E"/>
                </a:solidFill>
                <a:latin typeface="Calibri"/>
              </a:rPr>
              <a:t>3. Cuantía aproximada</a:t>
            </a:r>
          </a:p>
          <a:p>
            <a:pPr>
              <a:spcAft>
                <a:spcPts val="400"/>
              </a:spcAft>
            </a:pPr>
            <a:r>
              <a:rPr sz="1150" b="0">
                <a:solidFill>
                  <a:srgbClr val="14202E"/>
                </a:solidFill>
                <a:latin typeface="Calibri"/>
              </a:rPr>
              <a:t>4. Fechas límite (notificación, vista)</a:t>
            </a:r>
          </a:p>
          <a:p>
            <a:pPr>
              <a:spcAft>
                <a:spcPts val="400"/>
              </a:spcAft>
            </a:pPr>
            <a:r>
              <a:rPr sz="1150" b="0">
                <a:solidFill>
                  <a:srgbClr val="14202E"/>
                </a:solidFill>
                <a:latin typeface="Calibri"/>
              </a:rPr>
              <a:t>5. ¿Prefiere intentar mediación?</a:t>
            </a:r>
          </a:p>
        </p:txBody>
      </p:sp>
      <p:sp>
        <p:nvSpPr>
          <p:cNvPr id="21" name="TextBox 20"/>
          <p:cNvSpPr txBox="1"/>
          <p:nvPr/>
        </p:nvSpPr>
        <p:spPr>
          <a:xfrm>
            <a:off x="8156447" y="5212080"/>
            <a:ext cx="3383280" cy="1097280"/>
          </a:xfrm>
          <a:prstGeom prst="rect">
            <a:avLst/>
          </a:prstGeom>
          <a:noFill/>
        </p:spPr>
        <p:txBody>
          <a:bodyPr wrap="square" lIns="45720" rIns="45720" tIns="27432" bIns="27432">
            <a:spAutoFit/>
          </a:bodyPr>
          <a:lstStyle/>
          <a:p>
            <a:pPr>
              <a:spcAft>
                <a:spcPts val="200"/>
              </a:spcAft>
            </a:pPr>
            <a:r>
              <a:rPr sz="900" b="1">
                <a:solidFill>
                  <a:srgbClr val="0B5C7A"/>
                </a:solidFill>
                <a:latin typeface="Calibri"/>
              </a:rPr>
              <a:t>Guías hoy (selección automática, a curar)</a:t>
            </a:r>
          </a:p>
          <a:p>
            <a:pPr>
              <a:spcAft>
                <a:spcPts val="200"/>
              </a:spcAft>
            </a:pPr>
            <a:r>
              <a:rPr sz="900" b="0">
                <a:solidFill>
                  <a:srgbClr val="14202E"/>
                </a:solidFill>
                <a:latin typeface="Calibri"/>
              </a:rPr>
              <a:t>Protección de datos en empresas: la clave para evitar multas RGPD y ganar confianza</a:t>
            </a:r>
          </a:p>
          <a:p>
            <a:pPr>
              <a:spcAft>
                <a:spcPts val="200"/>
              </a:spcAft>
            </a:pPr>
            <a:r>
              <a:rPr sz="900" b="0">
                <a:solidFill>
                  <a:srgbClr val="14202E"/>
                </a:solidFill>
                <a:latin typeface="Calibri"/>
              </a:rPr>
              <a:t>Propiedad horizontal: conflictos en comunidades de vecinos y cómo resolverlos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Blog: lo que se pide frente a lo que hay publicado</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20</a:t>
            </a:r>
          </a:p>
        </p:txBody>
      </p:sp>
      <p:sp>
        <p:nvSpPr>
          <p:cNvPr id="7" name="TextBox 6"/>
          <p:cNvSpPr txBox="1"/>
          <p:nvPr/>
        </p:nvSpPr>
        <p:spPr>
          <a:xfrm>
            <a:off x="548640" y="1417320"/>
            <a:ext cx="11064240" cy="640080"/>
          </a:xfrm>
          <a:prstGeom prst="rect">
            <a:avLst/>
          </a:prstGeom>
          <a:noFill/>
        </p:spPr>
        <p:txBody>
          <a:bodyPr wrap="square" lIns="45720" rIns="45720" tIns="27432" bIns="27432">
            <a:spAutoFit/>
          </a:bodyPr>
          <a:lstStyle/>
          <a:p>
            <a:pPr>
              <a:spcAft>
                <a:spcPts val="400"/>
              </a:spcAft>
            </a:pPr>
            <a:r>
              <a:rPr sz="1000" b="0">
                <a:solidFill>
                  <a:srgbClr val="556575"/>
                </a:solidFill>
                <a:latin typeface="Calibri"/>
              </a:rPr>
              <a:t>Recorridos registrados: 644 de 1169 solicitudes (desde diciembre de 2024). 103 pasaron por algún artículo del blog antes de escribir y 73 entraron a la web por un artículo. La tabla cruza los subtemas con más solicitudes con los artículos publicados cuyo título los trata (búsqueda automática por título y dirección, a verificar).</a:t>
            </a:r>
          </a:p>
        </p:txBody>
      </p:sp>
      <p:graphicFrame>
        <p:nvGraphicFramePr>
          <p:cNvPr id="8" name="Table 7"/>
          <p:cNvGraphicFramePr>
            <a:graphicFrameLocks noGrp="1"/>
          </p:cNvGraphicFramePr>
          <p:nvPr/>
        </p:nvGraphicFramePr>
        <p:xfrm>
          <a:off x="548640" y="2057400"/>
          <a:ext cx="11064240" cy="3909045"/>
        </p:xfrm>
        <a:graphic>
          <a:graphicData uri="http://schemas.openxmlformats.org/drawingml/2006/table">
            <a:tbl>
              <a:tblPr firstRow="1" bandRow="1">
                <a:tableStyleId>{5C22544A-7EE6-4342-B048-85BDC9FD1C3A}</a:tableStyleId>
              </a:tblPr>
              <a:tblGrid>
                <a:gridCol w="5120640"/>
                <a:gridCol w="1828800"/>
                <a:gridCol w="1828800"/>
                <a:gridCol w="2286000"/>
              </a:tblGrid>
              <a:tr h="260603">
                <a:tc>
                  <a:txBody>
                    <a:bodyPr wrap="square"/>
                    <a:lstStyle/>
                    <a:p>
                      <a:r>
                        <a:rPr sz="1000" b="1">
                          <a:solidFill>
                            <a:srgbClr val="FFFFFF"/>
                          </a:solidFill>
                          <a:latin typeface="Calibri"/>
                        </a:rPr>
                        <a:t>Subtema</a:t>
                      </a:r>
                    </a:p>
                  </a:txBody>
                  <a:tcPr marL="54864" marR="54864" marT="22860" marB="22860" anchor="ctr">
                    <a:solidFill>
                      <a:srgbClr val="0B5C7A"/>
                    </a:solidFill>
                  </a:tcPr>
                </a:tc>
                <a:tc>
                  <a:txBody>
                    <a:bodyPr wrap="square"/>
                    <a:lstStyle/>
                    <a:p>
                      <a:pPr algn="r"/>
                      <a:r>
                        <a:rPr sz="1000" b="1">
                          <a:solidFill>
                            <a:srgbClr val="FFFFFF"/>
                          </a:solidFill>
                          <a:latin typeface="Calibri"/>
                        </a:rPr>
                        <a:t>Solicitudes ES · FR · EN</a:t>
                      </a:r>
                    </a:p>
                  </a:txBody>
                  <a:tcPr marL="54864" marR="54864" marT="22860" marB="22860" anchor="ctr">
                    <a:solidFill>
                      <a:srgbClr val="0B5C7A"/>
                    </a:solidFill>
                  </a:tcPr>
                </a:tc>
                <a:tc>
                  <a:txBody>
                    <a:bodyPr wrap="square"/>
                    <a:lstStyle/>
                    <a:p>
                      <a:pPr algn="r"/>
                      <a:r>
                        <a:rPr sz="1000" b="1">
                          <a:solidFill>
                            <a:srgbClr val="FFFFFF"/>
                          </a:solidFill>
                          <a:latin typeface="Calibri"/>
                        </a:rPr>
                        <a:t>Artículos ES · EN · FR</a:t>
                      </a:r>
                    </a:p>
                  </a:txBody>
                  <a:tcPr marL="54864" marR="54864" marT="22860" marB="22860" anchor="ctr">
                    <a:solidFill>
                      <a:srgbClr val="0B5C7A"/>
                    </a:solidFill>
                  </a:tcPr>
                </a:tc>
                <a:tc>
                  <a:txBody>
                    <a:bodyPr wrap="square"/>
                    <a:lstStyle/>
                    <a:p>
                      <a:r>
                        <a:rPr sz="1000" b="1">
                          <a:solidFill>
                            <a:srgbClr val="FFFFFF"/>
                          </a:solidFill>
                          <a:latin typeface="Calibri"/>
                        </a:rPr>
                        <a:t/>
                      </a:r>
                    </a:p>
                  </a:txBody>
                  <a:tcPr marL="54864" marR="54864" marT="22860" marB="22860" anchor="ctr">
                    <a:solidFill>
                      <a:srgbClr val="0B5C7A"/>
                    </a:solidFill>
                  </a:tcPr>
                </a:tc>
              </a:tr>
              <a:tr h="260603">
                <a:tc>
                  <a:txBody>
                    <a:bodyPr wrap="square"/>
                    <a:lstStyle/>
                    <a:p>
                      <a:r>
                        <a:rPr sz="1000" b="0">
                          <a:solidFill>
                            <a:srgbClr val="14202E"/>
                          </a:solidFill>
                          <a:latin typeface="Calibri"/>
                        </a:rPr>
                        <a:t>Compra de vivienda / inmueble</a:t>
                      </a:r>
                    </a:p>
                  </a:txBody>
                  <a:tcPr marL="54864" marR="54864" marT="22860" marB="22860" anchor="ctr">
                    <a:solidFill>
                      <a:srgbClr val="FFFFFF"/>
                    </a:solidFill>
                  </a:tcPr>
                </a:tc>
                <a:tc>
                  <a:txBody>
                    <a:bodyPr wrap="square"/>
                    <a:lstStyle/>
                    <a:p>
                      <a:pPr algn="r"/>
                      <a:r>
                        <a:rPr sz="1000" b="0">
                          <a:solidFill>
                            <a:srgbClr val="14202E"/>
                          </a:solidFill>
                          <a:latin typeface="Calibri"/>
                        </a:rPr>
                        <a:t>21 · 63 · 0</a:t>
                      </a:r>
                    </a:p>
                  </a:txBody>
                  <a:tcPr marL="54864" marR="54864" marT="22860" marB="22860" anchor="ctr">
                    <a:solidFill>
                      <a:srgbClr val="FFFFFF"/>
                    </a:solidFill>
                  </a:tcPr>
                </a:tc>
                <a:tc>
                  <a:txBody>
                    <a:bodyPr wrap="square"/>
                    <a:lstStyle/>
                    <a:p>
                      <a:pPr algn="r"/>
                      <a:r>
                        <a:rPr sz="1000" b="0">
                          <a:solidFill>
                            <a:srgbClr val="14202E"/>
                          </a:solidFill>
                          <a:latin typeface="Calibri"/>
                        </a:rPr>
                        <a:t>0 · 4 · 3</a:t>
                      </a:r>
                    </a:p>
                  </a:txBody>
                  <a:tcPr marL="54864" marR="54864" marT="22860" marB="22860" anchor="ctr">
                    <a:solidFill>
                      <a:srgbClr val="FFFFFF"/>
                    </a:solidFill>
                  </a:tcPr>
                </a:tc>
                <a:tc>
                  <a:txBody>
                    <a:bodyPr wrap="square"/>
                    <a:lstStyle/>
                    <a:p>
                      <a:r>
                        <a:rPr sz="1000" b="1">
                          <a:solidFill>
                            <a:srgbClr val="A24A07"/>
                          </a:solidFill>
                          <a:latin typeface="Calibri"/>
                        </a:rPr>
                        <a:t>Laguna ES</a:t>
                      </a:r>
                    </a:p>
                  </a:txBody>
                  <a:tcPr marL="54864" marR="54864" marT="22860" marB="22860" anchor="ctr">
                    <a:solidFill>
                      <a:srgbClr val="FFFFFF"/>
                    </a:solidFill>
                  </a:tcPr>
                </a:tc>
              </a:tr>
              <a:tr h="260603">
                <a:tc>
                  <a:txBody>
                    <a:bodyPr wrap="square"/>
                    <a:lstStyle/>
                    <a:p>
                      <a:r>
                        <a:rPr sz="1000" b="0">
                          <a:solidFill>
                            <a:srgbClr val="14202E"/>
                          </a:solidFill>
                          <a:latin typeface="Calibri"/>
                        </a:rPr>
                        <a:t>NIE y TIE (tarjeta)</a:t>
                      </a:r>
                    </a:p>
                  </a:txBody>
                  <a:tcPr marL="54864" marR="54864" marT="22860" marB="22860" anchor="ctr">
                    <a:solidFill>
                      <a:srgbClr val="FAFBFC"/>
                    </a:solidFill>
                  </a:tcPr>
                </a:tc>
                <a:tc>
                  <a:txBody>
                    <a:bodyPr wrap="square"/>
                    <a:lstStyle/>
                    <a:p>
                      <a:pPr algn="r"/>
                      <a:r>
                        <a:rPr sz="1000" b="0">
                          <a:solidFill>
                            <a:srgbClr val="14202E"/>
                          </a:solidFill>
                          <a:latin typeface="Calibri"/>
                        </a:rPr>
                        <a:t>16 · 58 · 3</a:t>
                      </a:r>
                    </a:p>
                  </a:txBody>
                  <a:tcPr marL="54864" marR="54864" marT="22860" marB="22860" anchor="ctr">
                    <a:solidFill>
                      <a:srgbClr val="FAFBFC"/>
                    </a:solidFill>
                  </a:tcPr>
                </a:tc>
                <a:tc>
                  <a:txBody>
                    <a:bodyPr wrap="square"/>
                    <a:lstStyle/>
                    <a:p>
                      <a:pPr algn="r"/>
                      <a:r>
                        <a:rPr sz="1000" b="0">
                          <a:solidFill>
                            <a:srgbClr val="14202E"/>
                          </a:solidFill>
                          <a:latin typeface="Calibri"/>
                        </a:rPr>
                        <a:t>1 · 4 · 2</a:t>
                      </a:r>
                    </a:p>
                  </a:txBody>
                  <a:tcPr marL="54864" marR="54864" marT="22860" marB="22860" anchor="ctr">
                    <a:solidFill>
                      <a:srgbClr val="FAFBFC"/>
                    </a:solidFill>
                  </a:tcPr>
                </a:tc>
                <a:tc>
                  <a:txBody>
                    <a:bodyPr wrap="square"/>
                    <a:lstStyle/>
                    <a:p>
                      <a:r>
                        <a:rPr sz="1000" b="1">
                          <a:solidFill>
                            <a:srgbClr val="A24A07"/>
                          </a:solidFill>
                          <a:latin typeface="Calibri"/>
                        </a:rPr>
                        <a:t>Laguna ES</a:t>
                      </a:r>
                    </a:p>
                  </a:txBody>
                  <a:tcPr marL="54864" marR="54864" marT="22860" marB="22860" anchor="ctr">
                    <a:solidFill>
                      <a:srgbClr val="FAFBFC"/>
                    </a:solidFill>
                  </a:tcPr>
                </a:tc>
              </a:tr>
              <a:tr h="260603">
                <a:tc>
                  <a:txBody>
                    <a:bodyPr wrap="square"/>
                    <a:lstStyle/>
                    <a:p>
                      <a:r>
                        <a:rPr sz="1000" b="0">
                          <a:solidFill>
                            <a:srgbClr val="14202E"/>
                          </a:solidFill>
                          <a:latin typeface="Calibri"/>
                        </a:rPr>
                        <a:t>Declaración de la renta (IRPF)</a:t>
                      </a:r>
                    </a:p>
                  </a:txBody>
                  <a:tcPr marL="54864" marR="54864" marT="22860" marB="22860" anchor="ctr">
                    <a:solidFill>
                      <a:srgbClr val="FFFFFF"/>
                    </a:solidFill>
                  </a:tcPr>
                </a:tc>
                <a:tc>
                  <a:txBody>
                    <a:bodyPr wrap="square"/>
                    <a:lstStyle/>
                    <a:p>
                      <a:pPr algn="r"/>
                      <a:r>
                        <a:rPr sz="1000" b="0">
                          <a:solidFill>
                            <a:srgbClr val="14202E"/>
                          </a:solidFill>
                          <a:latin typeface="Calibri"/>
                        </a:rPr>
                        <a:t>12 · 30 · 3</a:t>
                      </a:r>
                    </a:p>
                  </a:txBody>
                  <a:tcPr marL="54864" marR="54864" marT="22860" marB="22860" anchor="ctr">
                    <a:solidFill>
                      <a:srgbClr val="FFFFFF"/>
                    </a:solidFill>
                  </a:tcPr>
                </a:tc>
                <a:tc>
                  <a:txBody>
                    <a:bodyPr wrap="square"/>
                    <a:lstStyle/>
                    <a:p>
                      <a:pPr algn="r"/>
                      <a:r>
                        <a:rPr sz="1000" b="0">
                          <a:solidFill>
                            <a:srgbClr val="14202E"/>
                          </a:solidFill>
                          <a:latin typeface="Calibri"/>
                        </a:rPr>
                        <a:t>1 · 1 · 4</a:t>
                      </a:r>
                    </a:p>
                  </a:txBody>
                  <a:tcPr marL="54864" marR="54864" marT="22860" marB="22860" anchor="ctr">
                    <a:solidFill>
                      <a:srgbClr val="FFFFFF"/>
                    </a:solidFill>
                  </a:tcPr>
                </a:tc>
                <a:tc>
                  <a:txBody>
                    <a:bodyPr wrap="square"/>
                    <a:lstStyle/>
                    <a:p>
                      <a:r>
                        <a:rPr sz="1000" b="1">
                          <a:solidFill>
                            <a:srgbClr val="A24A07"/>
                          </a:solidFill>
                          <a:latin typeface="Calibri"/>
                        </a:rPr>
                        <a:t>Laguna ES</a:t>
                      </a:r>
                    </a:p>
                  </a:txBody>
                  <a:tcPr marL="54864" marR="54864" marT="22860" marB="22860" anchor="ctr">
                    <a:solidFill>
                      <a:srgbClr val="FFFFFF"/>
                    </a:solidFill>
                  </a:tcPr>
                </a:tc>
              </a:tr>
              <a:tr h="260603">
                <a:tc>
                  <a:txBody>
                    <a:bodyPr wrap="square"/>
                    <a:lstStyle/>
                    <a:p>
                      <a:r>
                        <a:rPr sz="1000" b="0">
                          <a:solidFill>
                            <a:srgbClr val="14202E"/>
                          </a:solidFill>
                          <a:latin typeface="Calibri"/>
                        </a:rPr>
                        <a:t>Estancia irregular / overstay / 90 días</a:t>
                      </a:r>
                    </a:p>
                  </a:txBody>
                  <a:tcPr marL="54864" marR="54864" marT="22860" marB="22860" anchor="ctr">
                    <a:solidFill>
                      <a:srgbClr val="FAFBFC"/>
                    </a:solidFill>
                  </a:tcPr>
                </a:tc>
                <a:tc>
                  <a:txBody>
                    <a:bodyPr wrap="square"/>
                    <a:lstStyle/>
                    <a:p>
                      <a:pPr algn="r"/>
                      <a:r>
                        <a:rPr sz="1000" b="0">
                          <a:solidFill>
                            <a:srgbClr val="14202E"/>
                          </a:solidFill>
                          <a:latin typeface="Calibri"/>
                        </a:rPr>
                        <a:t>8 · 29 · 3</a:t>
                      </a:r>
                    </a:p>
                  </a:txBody>
                  <a:tcPr marL="54864" marR="54864" marT="22860" marB="22860" anchor="ctr">
                    <a:solidFill>
                      <a:srgbClr val="FAFBFC"/>
                    </a:solidFill>
                  </a:tcPr>
                </a:tc>
                <a:tc>
                  <a:txBody>
                    <a:bodyPr wrap="square"/>
                    <a:lstStyle/>
                    <a:p>
                      <a:pPr algn="r"/>
                      <a:r>
                        <a:rPr sz="1000" b="0">
                          <a:solidFill>
                            <a:srgbClr val="14202E"/>
                          </a:solidFill>
                          <a:latin typeface="Calibri"/>
                        </a:rPr>
                        <a:t>0 · 2 · 0</a:t>
                      </a:r>
                    </a:p>
                  </a:txBody>
                  <a:tcPr marL="54864" marR="54864" marT="22860" marB="22860" anchor="ctr">
                    <a:solidFill>
                      <a:srgbClr val="FAFBFC"/>
                    </a:solidFill>
                  </a:tcPr>
                </a:tc>
                <a:tc>
                  <a:txBody>
                    <a:bodyPr wrap="square"/>
                    <a:lstStyle/>
                    <a:p>
                      <a:r>
                        <a:rPr sz="1000" b="1">
                          <a:solidFill>
                            <a:srgbClr val="A24A07"/>
                          </a:solidFill>
                          <a:latin typeface="Calibri"/>
                        </a:rPr>
                        <a:t>Laguna ES, FR</a:t>
                      </a:r>
                    </a:p>
                  </a:txBody>
                  <a:tcPr marL="54864" marR="54864" marT="22860" marB="22860" anchor="ctr">
                    <a:solidFill>
                      <a:srgbClr val="FAFBFC"/>
                    </a:solidFill>
                  </a:tcPr>
                </a:tc>
              </a:tr>
              <a:tr h="260603">
                <a:tc>
                  <a:txBody>
                    <a:bodyPr wrap="square"/>
                    <a:lstStyle/>
                    <a:p>
                      <a:r>
                        <a:rPr sz="1000" b="0">
                          <a:solidFill>
                            <a:srgbClr val="14202E"/>
                          </a:solidFill>
                          <a:latin typeface="Calibri"/>
                        </a:rPr>
                        <a:t>Jubilación, pensiones y prestaciones</a:t>
                      </a:r>
                    </a:p>
                  </a:txBody>
                  <a:tcPr marL="54864" marR="54864" marT="22860" marB="22860" anchor="ctr">
                    <a:solidFill>
                      <a:srgbClr val="FFFFFF"/>
                    </a:solidFill>
                  </a:tcPr>
                </a:tc>
                <a:tc>
                  <a:txBody>
                    <a:bodyPr wrap="square"/>
                    <a:lstStyle/>
                    <a:p>
                      <a:pPr algn="r"/>
                      <a:r>
                        <a:rPr sz="1000" b="0">
                          <a:solidFill>
                            <a:srgbClr val="14202E"/>
                          </a:solidFill>
                          <a:latin typeface="Calibri"/>
                        </a:rPr>
                        <a:t>16 · 22 · 1</a:t>
                      </a:r>
                    </a:p>
                  </a:txBody>
                  <a:tcPr marL="54864" marR="54864" marT="22860" marB="22860" anchor="ctr">
                    <a:solidFill>
                      <a:srgbClr val="FFFFFF"/>
                    </a:solidFill>
                  </a:tcPr>
                </a:tc>
                <a:tc>
                  <a:txBody>
                    <a:bodyPr wrap="square"/>
                    <a:lstStyle/>
                    <a:p>
                      <a:pPr algn="r"/>
                      <a:r>
                        <a:rPr sz="1000" b="0">
                          <a:solidFill>
                            <a:srgbClr val="14202E"/>
                          </a:solidFill>
                          <a:latin typeface="Calibri"/>
                        </a:rPr>
                        <a:t>0 · 1 · 2</a:t>
                      </a:r>
                    </a:p>
                  </a:txBody>
                  <a:tcPr marL="54864" marR="54864" marT="22860" marB="22860" anchor="ctr">
                    <a:solidFill>
                      <a:srgbClr val="FFFFFF"/>
                    </a:solidFill>
                  </a:tcPr>
                </a:tc>
                <a:tc>
                  <a:txBody>
                    <a:bodyPr wrap="square"/>
                    <a:lstStyle/>
                    <a:p>
                      <a:r>
                        <a:rPr sz="1000" b="1">
                          <a:solidFill>
                            <a:srgbClr val="A24A07"/>
                          </a:solidFill>
                          <a:latin typeface="Calibri"/>
                        </a:rPr>
                        <a:t>Laguna ES</a:t>
                      </a:r>
                    </a:p>
                  </a:txBody>
                  <a:tcPr marL="54864" marR="54864" marT="22860" marB="22860" anchor="ctr">
                    <a:solidFill>
                      <a:srgbClr val="FFFFFF"/>
                    </a:solidFill>
                  </a:tcPr>
                </a:tc>
              </a:tr>
              <a:tr h="260603">
                <a:tc>
                  <a:txBody>
                    <a:bodyPr wrap="square"/>
                    <a:lstStyle/>
                    <a:p>
                      <a:r>
                        <a:rPr sz="1000" b="0">
                          <a:solidFill>
                            <a:srgbClr val="14202E"/>
                          </a:solidFill>
                          <a:latin typeface="Calibri"/>
                        </a:rPr>
                        <a:t>Denegación, recurso, requerimiento</a:t>
                      </a:r>
                    </a:p>
                  </a:txBody>
                  <a:tcPr marL="54864" marR="54864" marT="22860" marB="22860" anchor="ctr">
                    <a:solidFill>
                      <a:srgbClr val="FAFBFC"/>
                    </a:solidFill>
                  </a:tcPr>
                </a:tc>
                <a:tc>
                  <a:txBody>
                    <a:bodyPr wrap="square"/>
                    <a:lstStyle/>
                    <a:p>
                      <a:pPr algn="r"/>
                      <a:r>
                        <a:rPr sz="1000" b="0">
                          <a:solidFill>
                            <a:srgbClr val="14202E"/>
                          </a:solidFill>
                          <a:latin typeface="Calibri"/>
                        </a:rPr>
                        <a:t>14 · 22 · 1</a:t>
                      </a:r>
                    </a:p>
                  </a:txBody>
                  <a:tcPr marL="54864" marR="54864" marT="22860" marB="22860" anchor="ctr">
                    <a:solidFill>
                      <a:srgbClr val="FAFBFC"/>
                    </a:solidFill>
                  </a:tcPr>
                </a:tc>
                <a:tc>
                  <a:txBody>
                    <a:bodyPr wrap="square"/>
                    <a:lstStyle/>
                    <a:p>
                      <a:pPr algn="r"/>
                      <a:r>
                        <a:rPr sz="1000" b="0">
                          <a:solidFill>
                            <a:srgbClr val="14202E"/>
                          </a:solidFill>
                          <a:latin typeface="Calibri"/>
                        </a:rPr>
                        <a:t>0 · 0 · 1</a:t>
                      </a:r>
                    </a:p>
                  </a:txBody>
                  <a:tcPr marL="54864" marR="54864" marT="22860" marB="22860" anchor="ctr">
                    <a:solidFill>
                      <a:srgbClr val="FAFBFC"/>
                    </a:solidFill>
                  </a:tcPr>
                </a:tc>
                <a:tc>
                  <a:txBody>
                    <a:bodyPr wrap="square"/>
                    <a:lstStyle/>
                    <a:p>
                      <a:r>
                        <a:rPr sz="1000" b="1">
                          <a:solidFill>
                            <a:srgbClr val="A24A07"/>
                          </a:solidFill>
                          <a:latin typeface="Calibri"/>
                        </a:rPr>
                        <a:t>Laguna ES, FR</a:t>
                      </a:r>
                    </a:p>
                  </a:txBody>
                  <a:tcPr marL="54864" marR="54864" marT="22860" marB="22860" anchor="ctr">
                    <a:solidFill>
                      <a:srgbClr val="FAFBFC"/>
                    </a:solidFill>
                  </a:tcPr>
                </a:tc>
              </a:tr>
              <a:tr h="260603">
                <a:tc>
                  <a:txBody>
                    <a:bodyPr wrap="square"/>
                    <a:lstStyle/>
                    <a:p>
                      <a:r>
                        <a:rPr sz="1000" b="0">
                          <a:solidFill>
                            <a:srgbClr val="14202E"/>
                          </a:solidFill>
                          <a:latin typeface="Calibri"/>
                        </a:rPr>
                        <a:t>Escritura, notaría y registro de la propiedad</a:t>
                      </a:r>
                    </a:p>
                  </a:txBody>
                  <a:tcPr marL="54864" marR="54864" marT="22860" marB="22860" anchor="ctr">
                    <a:solidFill>
                      <a:srgbClr val="FFFFFF"/>
                    </a:solidFill>
                  </a:tcPr>
                </a:tc>
                <a:tc>
                  <a:txBody>
                    <a:bodyPr wrap="square"/>
                    <a:lstStyle/>
                    <a:p>
                      <a:pPr algn="r"/>
                      <a:r>
                        <a:rPr sz="1000" b="0">
                          <a:solidFill>
                            <a:srgbClr val="14202E"/>
                          </a:solidFill>
                          <a:latin typeface="Calibri"/>
                        </a:rPr>
                        <a:t>28 · 8 · 0</a:t>
                      </a:r>
                    </a:p>
                  </a:txBody>
                  <a:tcPr marL="54864" marR="54864" marT="22860" marB="22860" anchor="ctr">
                    <a:solidFill>
                      <a:srgbClr val="FFFFFF"/>
                    </a:solidFill>
                  </a:tcPr>
                </a:tc>
                <a:tc>
                  <a:txBody>
                    <a:bodyPr wrap="square"/>
                    <a:lstStyle/>
                    <a:p>
                      <a:pPr algn="r"/>
                      <a:r>
                        <a:rPr sz="1000" b="0">
                          <a:solidFill>
                            <a:srgbClr val="14202E"/>
                          </a:solidFill>
                          <a:latin typeface="Calibri"/>
                        </a:rPr>
                        <a:t>0 · 0 · 0</a:t>
                      </a:r>
                    </a:p>
                  </a:txBody>
                  <a:tcPr marL="54864" marR="54864" marT="22860" marB="22860" anchor="ctr">
                    <a:solidFill>
                      <a:srgbClr val="FFFFFF"/>
                    </a:solidFill>
                  </a:tcPr>
                </a:tc>
                <a:tc>
                  <a:txBody>
                    <a:bodyPr wrap="square"/>
                    <a:lstStyle/>
                    <a:p>
                      <a:r>
                        <a:rPr sz="1000" b="1">
                          <a:solidFill>
                            <a:srgbClr val="A24A07"/>
                          </a:solidFill>
                          <a:latin typeface="Calibri"/>
                        </a:rPr>
                        <a:t>Laguna ES, FR</a:t>
                      </a:r>
                    </a:p>
                  </a:txBody>
                  <a:tcPr marL="54864" marR="54864" marT="22860" marB="22860" anchor="ctr">
                    <a:solidFill>
                      <a:srgbClr val="FFFFFF"/>
                    </a:solidFill>
                  </a:tcPr>
                </a:tc>
              </a:tr>
              <a:tr h="260603">
                <a:tc>
                  <a:txBody>
                    <a:bodyPr wrap="square"/>
                    <a:lstStyle/>
                    <a:p>
                      <a:r>
                        <a:rPr sz="1000" b="0">
                          <a:solidFill>
                            <a:srgbClr val="14202E"/>
                          </a:solidFill>
                          <a:latin typeface="Calibri"/>
                        </a:rPr>
                        <a:t>Alquiler y contrato de arrendamiento</a:t>
                      </a:r>
                    </a:p>
                  </a:txBody>
                  <a:tcPr marL="54864" marR="54864" marT="22860" marB="22860" anchor="ctr">
                    <a:solidFill>
                      <a:srgbClr val="FAFBFC"/>
                    </a:solidFill>
                  </a:tcPr>
                </a:tc>
                <a:tc>
                  <a:txBody>
                    <a:bodyPr wrap="square"/>
                    <a:lstStyle/>
                    <a:p>
                      <a:pPr algn="r"/>
                      <a:r>
                        <a:rPr sz="1000" b="0">
                          <a:solidFill>
                            <a:srgbClr val="14202E"/>
                          </a:solidFill>
                          <a:latin typeface="Calibri"/>
                        </a:rPr>
                        <a:t>12 · 20 · 0</a:t>
                      </a:r>
                    </a:p>
                  </a:txBody>
                  <a:tcPr marL="54864" marR="54864" marT="22860" marB="22860" anchor="ctr">
                    <a:solidFill>
                      <a:srgbClr val="FAFBFC"/>
                    </a:solidFill>
                  </a:tcPr>
                </a:tc>
                <a:tc>
                  <a:txBody>
                    <a:bodyPr wrap="square"/>
                    <a:lstStyle/>
                    <a:p>
                      <a:pPr algn="r"/>
                      <a:r>
                        <a:rPr sz="1000" b="0">
                          <a:solidFill>
                            <a:srgbClr val="14202E"/>
                          </a:solidFill>
                          <a:latin typeface="Calibri"/>
                        </a:rPr>
                        <a:t>4 · 1 · 1</a:t>
                      </a:r>
                    </a:p>
                  </a:txBody>
                  <a:tcPr marL="54864" marR="54864" marT="22860" marB="22860" anchor="ctr">
                    <a:solidFill>
                      <a:srgbClr val="FAFBFC"/>
                    </a:solidFill>
                  </a:tcPr>
                </a:tc>
                <a:tc>
                  <a:txBody>
                    <a:bodyPr wrap="square"/>
                    <a:lstStyle/>
                    <a:p>
                      <a:r>
                        <a:rPr sz="1000" b="1">
                          <a:solidFill>
                            <a:srgbClr val="A24A07"/>
                          </a:solidFill>
                          <a:latin typeface="Calibri"/>
                        </a:rPr>
                        <a:t>Laguna FR</a:t>
                      </a:r>
                    </a:p>
                  </a:txBody>
                  <a:tcPr marL="54864" marR="54864" marT="22860" marB="22860" anchor="ctr">
                    <a:solidFill>
                      <a:srgbClr val="FAFBFC"/>
                    </a:solidFill>
                  </a:tcPr>
                </a:tc>
              </a:tr>
              <a:tr h="260603">
                <a:tc>
                  <a:txBody>
                    <a:bodyPr wrap="square"/>
                    <a:lstStyle/>
                    <a:p>
                      <a:r>
                        <a:rPr sz="1000" b="0">
                          <a:solidFill>
                            <a:srgbClr val="14202E"/>
                          </a:solidFill>
                          <a:latin typeface="Calibri"/>
                        </a:rPr>
                        <a:t>Nacionalidad española</a:t>
                      </a:r>
                    </a:p>
                  </a:txBody>
                  <a:tcPr marL="54864" marR="54864" marT="22860" marB="22860" anchor="ctr">
                    <a:solidFill>
                      <a:srgbClr val="FFFFFF"/>
                    </a:solidFill>
                  </a:tcPr>
                </a:tc>
                <a:tc>
                  <a:txBody>
                    <a:bodyPr wrap="square"/>
                    <a:lstStyle/>
                    <a:p>
                      <a:pPr algn="r"/>
                      <a:r>
                        <a:rPr sz="1000" b="0">
                          <a:solidFill>
                            <a:srgbClr val="14202E"/>
                          </a:solidFill>
                          <a:latin typeface="Calibri"/>
                        </a:rPr>
                        <a:t>11 · 18 · 2</a:t>
                      </a:r>
                    </a:p>
                  </a:txBody>
                  <a:tcPr marL="54864" marR="54864" marT="22860" marB="22860" anchor="ctr">
                    <a:solidFill>
                      <a:srgbClr val="FFFFFF"/>
                    </a:solidFill>
                  </a:tcPr>
                </a:tc>
                <a:tc>
                  <a:txBody>
                    <a:bodyPr wrap="square"/>
                    <a:lstStyle/>
                    <a:p>
                      <a:pPr algn="r"/>
                      <a:r>
                        <a:rPr sz="1000" b="0">
                          <a:solidFill>
                            <a:srgbClr val="14202E"/>
                          </a:solidFill>
                          <a:latin typeface="Calibri"/>
                        </a:rPr>
                        <a:t>0 · 2 · 0</a:t>
                      </a:r>
                    </a:p>
                  </a:txBody>
                  <a:tcPr marL="54864" marR="54864" marT="22860" marB="22860" anchor="ctr">
                    <a:solidFill>
                      <a:srgbClr val="FFFFFF"/>
                    </a:solidFill>
                  </a:tcPr>
                </a:tc>
                <a:tc>
                  <a:txBody>
                    <a:bodyPr wrap="square"/>
                    <a:lstStyle/>
                    <a:p>
                      <a:r>
                        <a:rPr sz="1000" b="1">
                          <a:solidFill>
                            <a:srgbClr val="A24A07"/>
                          </a:solidFill>
                          <a:latin typeface="Calibri"/>
                        </a:rPr>
                        <a:t>Laguna ES, FR</a:t>
                      </a:r>
                    </a:p>
                  </a:txBody>
                  <a:tcPr marL="54864" marR="54864" marT="22860" marB="22860" anchor="ctr">
                    <a:solidFill>
                      <a:srgbClr val="FFFFFF"/>
                    </a:solidFill>
                  </a:tcPr>
                </a:tc>
              </a:tr>
              <a:tr h="260603">
                <a:tc>
                  <a:txBody>
                    <a:bodyPr wrap="square"/>
                    <a:lstStyle/>
                    <a:p>
                      <a:r>
                        <a:rPr sz="1000" b="0">
                          <a:solidFill>
                            <a:srgbClr val="14202E"/>
                          </a:solidFill>
                          <a:latin typeface="Calibri"/>
                        </a:rPr>
                        <a:t>Reagrupación familiar / pareja / familiar de comunitario</a:t>
                      </a:r>
                    </a:p>
                  </a:txBody>
                  <a:tcPr marL="54864" marR="54864" marT="22860" marB="22860" anchor="ctr">
                    <a:solidFill>
                      <a:srgbClr val="FAFBFC"/>
                    </a:solidFill>
                  </a:tcPr>
                </a:tc>
                <a:tc>
                  <a:txBody>
                    <a:bodyPr wrap="square"/>
                    <a:lstStyle/>
                    <a:p>
                      <a:pPr algn="r"/>
                      <a:r>
                        <a:rPr sz="1000" b="0">
                          <a:solidFill>
                            <a:srgbClr val="14202E"/>
                          </a:solidFill>
                          <a:latin typeface="Calibri"/>
                        </a:rPr>
                        <a:t>11 · 9 · 10</a:t>
                      </a:r>
                    </a:p>
                  </a:txBody>
                  <a:tcPr marL="54864" marR="54864" marT="22860" marB="22860" anchor="ctr">
                    <a:solidFill>
                      <a:srgbClr val="FAFBFC"/>
                    </a:solidFill>
                  </a:tcPr>
                </a:tc>
                <a:tc>
                  <a:txBody>
                    <a:bodyPr wrap="square"/>
                    <a:lstStyle/>
                    <a:p>
                      <a:pPr algn="r"/>
                      <a:r>
                        <a:rPr sz="1000" b="0">
                          <a:solidFill>
                            <a:srgbClr val="14202E"/>
                          </a:solidFill>
                          <a:latin typeface="Calibri"/>
                        </a:rPr>
                        <a:t>0 · 3 · 1</a:t>
                      </a:r>
                    </a:p>
                  </a:txBody>
                  <a:tcPr marL="54864" marR="54864" marT="22860" marB="22860" anchor="ctr">
                    <a:solidFill>
                      <a:srgbClr val="FAFBFC"/>
                    </a:solidFill>
                  </a:tcPr>
                </a:tc>
                <a:tc>
                  <a:txBody>
                    <a:bodyPr wrap="square"/>
                    <a:lstStyle/>
                    <a:p>
                      <a:r>
                        <a:rPr sz="1000" b="1">
                          <a:solidFill>
                            <a:srgbClr val="A24A07"/>
                          </a:solidFill>
                          <a:latin typeface="Calibri"/>
                        </a:rPr>
                        <a:t>Laguna ES, FR</a:t>
                      </a:r>
                    </a:p>
                  </a:txBody>
                  <a:tcPr marL="54864" marR="54864" marT="22860" marB="22860" anchor="ctr">
                    <a:solidFill>
                      <a:srgbClr val="FAFBFC"/>
                    </a:solidFill>
                  </a:tcPr>
                </a:tc>
              </a:tr>
              <a:tr h="260603">
                <a:tc>
                  <a:txBody>
                    <a:bodyPr wrap="square"/>
                    <a:lstStyle/>
                    <a:p>
                      <a:r>
                        <a:rPr sz="1000" b="0">
                          <a:solidFill>
                            <a:srgbClr val="14202E"/>
                          </a:solidFill>
                          <a:latin typeface="Calibri"/>
                        </a:rPr>
                        <a:t>Empadronamiento</a:t>
                      </a:r>
                    </a:p>
                  </a:txBody>
                  <a:tcPr marL="54864" marR="54864" marT="22860" marB="22860" anchor="ctr">
                    <a:solidFill>
                      <a:srgbClr val="FFFFFF"/>
                    </a:solidFill>
                  </a:tcPr>
                </a:tc>
                <a:tc>
                  <a:txBody>
                    <a:bodyPr wrap="square"/>
                    <a:lstStyle/>
                    <a:p>
                      <a:pPr algn="r"/>
                      <a:r>
                        <a:rPr sz="1000" b="0">
                          <a:solidFill>
                            <a:srgbClr val="14202E"/>
                          </a:solidFill>
                          <a:latin typeface="Calibri"/>
                        </a:rPr>
                        <a:t>9 · 10 · 4</a:t>
                      </a:r>
                    </a:p>
                  </a:txBody>
                  <a:tcPr marL="54864" marR="54864" marT="22860" marB="22860" anchor="ctr">
                    <a:solidFill>
                      <a:srgbClr val="FFFFFF"/>
                    </a:solidFill>
                  </a:tcPr>
                </a:tc>
                <a:tc>
                  <a:txBody>
                    <a:bodyPr wrap="square"/>
                    <a:lstStyle/>
                    <a:p>
                      <a:pPr algn="r"/>
                      <a:r>
                        <a:rPr sz="1000" b="0">
                          <a:solidFill>
                            <a:srgbClr val="14202E"/>
                          </a:solidFill>
                          <a:latin typeface="Calibri"/>
                        </a:rPr>
                        <a:t>1 · 1 · 1</a:t>
                      </a:r>
                    </a:p>
                  </a:txBody>
                  <a:tcPr marL="54864" marR="54864" marT="22860" marB="22860" anchor="ctr">
                    <a:solidFill>
                      <a:srgbClr val="FFFFFF"/>
                    </a:solidFill>
                  </a:tcPr>
                </a:tc>
                <a:tc>
                  <a:txBody>
                    <a:bodyPr wrap="square"/>
                    <a:lstStyle/>
                    <a:p>
                      <a:r>
                        <a:rPr sz="1000" b="1">
                          <a:solidFill>
                            <a:srgbClr val="A24A07"/>
                          </a:solidFill>
                          <a:latin typeface="Calibri"/>
                        </a:rPr>
                        <a:t>Laguna ES, FR</a:t>
                      </a:r>
                    </a:p>
                  </a:txBody>
                  <a:tcPr marL="54864" marR="54864" marT="22860" marB="22860" anchor="ctr">
                    <a:solidFill>
                      <a:srgbClr val="FFFFFF"/>
                    </a:solidFill>
                  </a:tcPr>
                </a:tc>
              </a:tr>
              <a:tr h="260603">
                <a:tc>
                  <a:txBody>
                    <a:bodyPr wrap="square"/>
                    <a:lstStyle/>
                    <a:p>
                      <a:r>
                        <a:rPr sz="1000" b="0">
                          <a:solidFill>
                            <a:srgbClr val="14202E"/>
                          </a:solidFill>
                          <a:latin typeface="Calibri"/>
                        </a:rPr>
                        <a:t>Litigio, reclamación y mediación</a:t>
                      </a:r>
                    </a:p>
                  </a:txBody>
                  <a:tcPr marL="54864" marR="54864" marT="22860" marB="22860" anchor="ctr">
                    <a:solidFill>
                      <a:srgbClr val="FAFBFC"/>
                    </a:solidFill>
                  </a:tcPr>
                </a:tc>
                <a:tc>
                  <a:txBody>
                    <a:bodyPr wrap="square"/>
                    <a:lstStyle/>
                    <a:p>
                      <a:pPr algn="r"/>
                      <a:r>
                        <a:rPr sz="1000" b="0">
                          <a:solidFill>
                            <a:srgbClr val="14202E"/>
                          </a:solidFill>
                          <a:latin typeface="Calibri"/>
                        </a:rPr>
                        <a:t>13 · 9 · 0</a:t>
                      </a:r>
                    </a:p>
                  </a:txBody>
                  <a:tcPr marL="54864" marR="54864" marT="22860" marB="22860" anchor="ctr">
                    <a:solidFill>
                      <a:srgbClr val="FAFBFC"/>
                    </a:solidFill>
                  </a:tcPr>
                </a:tc>
                <a:tc>
                  <a:txBody>
                    <a:bodyPr wrap="square"/>
                    <a:lstStyle/>
                    <a:p>
                      <a:pPr algn="r"/>
                      <a:r>
                        <a:rPr sz="1000" b="0">
                          <a:solidFill>
                            <a:srgbClr val="14202E"/>
                          </a:solidFill>
                          <a:latin typeface="Calibri"/>
                        </a:rPr>
                        <a:t>5 · 2 · 1</a:t>
                      </a:r>
                    </a:p>
                  </a:txBody>
                  <a:tcPr marL="54864" marR="54864" marT="22860" marB="22860" anchor="ctr">
                    <a:solidFill>
                      <a:srgbClr val="FAFBFC"/>
                    </a:solidFill>
                  </a:tcPr>
                </a:tc>
                <a:tc>
                  <a:txBody>
                    <a:bodyPr wrap="square"/>
                    <a:lstStyle/>
                    <a:p>
                      <a:r>
                        <a:rPr sz="1000" b="1">
                          <a:solidFill>
                            <a:srgbClr val="A24A07"/>
                          </a:solidFill>
                          <a:latin typeface="Calibri"/>
                        </a:rPr>
                        <a:t>Laguna FR</a:t>
                      </a:r>
                    </a:p>
                  </a:txBody>
                  <a:tcPr marL="54864" marR="54864" marT="22860" marB="22860" anchor="ctr">
                    <a:solidFill>
                      <a:srgbClr val="FAFBFC"/>
                    </a:solidFill>
                  </a:tcPr>
                </a:tc>
              </a:tr>
              <a:tr h="260603">
                <a:tc>
                  <a:txBody>
                    <a:bodyPr wrap="square"/>
                    <a:lstStyle/>
                    <a:p>
                      <a:r>
                        <a:rPr sz="1000" b="0">
                          <a:solidFill>
                            <a:srgbClr val="14202E"/>
                          </a:solidFill>
                          <a:latin typeface="Calibri"/>
                        </a:rPr>
                        <a:t>Impuesto de sucesiones y donaciones</a:t>
                      </a:r>
                    </a:p>
                  </a:txBody>
                  <a:tcPr marL="54864" marR="54864" marT="22860" marB="22860" anchor="ctr">
                    <a:solidFill>
                      <a:srgbClr val="FFFFFF"/>
                    </a:solidFill>
                  </a:tcPr>
                </a:tc>
                <a:tc>
                  <a:txBody>
                    <a:bodyPr wrap="square"/>
                    <a:lstStyle/>
                    <a:p>
                      <a:pPr algn="r"/>
                      <a:r>
                        <a:rPr sz="1000" b="0">
                          <a:solidFill>
                            <a:srgbClr val="14202E"/>
                          </a:solidFill>
                          <a:latin typeface="Calibri"/>
                        </a:rPr>
                        <a:t>11 · 11 · 0</a:t>
                      </a:r>
                    </a:p>
                  </a:txBody>
                  <a:tcPr marL="54864" marR="54864" marT="22860" marB="22860" anchor="ctr">
                    <a:solidFill>
                      <a:srgbClr val="FFFFFF"/>
                    </a:solidFill>
                  </a:tcPr>
                </a:tc>
                <a:tc>
                  <a:txBody>
                    <a:bodyPr wrap="square"/>
                    <a:lstStyle/>
                    <a:p>
                      <a:pPr algn="r"/>
                      <a:r>
                        <a:rPr sz="1000" b="0">
                          <a:solidFill>
                            <a:srgbClr val="14202E"/>
                          </a:solidFill>
                          <a:latin typeface="Calibri"/>
                        </a:rPr>
                        <a:t>1 · 2 · 2</a:t>
                      </a:r>
                    </a:p>
                  </a:txBody>
                  <a:tcPr marL="54864" marR="54864" marT="22860" marB="22860" anchor="ctr">
                    <a:solidFill>
                      <a:srgbClr val="FFFFFF"/>
                    </a:solidFill>
                  </a:tcPr>
                </a:tc>
                <a:tc>
                  <a:txBody>
                    <a:bodyPr wrap="square"/>
                    <a:lstStyle/>
                    <a:p>
                      <a:r>
                        <a:rPr sz="1000" b="1">
                          <a:solidFill>
                            <a:srgbClr val="A24A07"/>
                          </a:solidFill>
                          <a:latin typeface="Calibri"/>
                        </a:rPr>
                        <a:t>Laguna ES</a:t>
                      </a:r>
                    </a:p>
                  </a:txBody>
                  <a:tcPr marL="54864" marR="54864" marT="22860" marB="22860" anchor="ctr">
                    <a:solidFill>
                      <a:srgbClr val="FFFFFF"/>
                    </a:solidFill>
                  </a:tcPr>
                </a:tc>
              </a:tr>
              <a:tr h="260603">
                <a:tc>
                  <a:txBody>
                    <a:bodyPr wrap="square"/>
                    <a:lstStyle/>
                    <a:p>
                      <a:r>
                        <a:rPr sz="1000" b="0">
                          <a:solidFill>
                            <a:srgbClr val="14202E"/>
                          </a:solidFill>
                          <a:latin typeface="Calibri"/>
                        </a:rPr>
                        <a:t>Familia: divorcio, custodia, régimen matrimonial</a:t>
                      </a:r>
                    </a:p>
                  </a:txBody>
                  <a:tcPr marL="54864" marR="54864" marT="22860" marB="22860" anchor="ctr">
                    <a:solidFill>
                      <a:srgbClr val="FAFBFC"/>
                    </a:solidFill>
                  </a:tcPr>
                </a:tc>
                <a:tc>
                  <a:txBody>
                    <a:bodyPr wrap="square"/>
                    <a:lstStyle/>
                    <a:p>
                      <a:pPr algn="r"/>
                      <a:r>
                        <a:rPr sz="1000" b="0">
                          <a:solidFill>
                            <a:srgbClr val="14202E"/>
                          </a:solidFill>
                          <a:latin typeface="Calibri"/>
                        </a:rPr>
                        <a:t>9 · 11 · 0</a:t>
                      </a:r>
                    </a:p>
                  </a:txBody>
                  <a:tcPr marL="54864" marR="54864" marT="22860" marB="22860" anchor="ctr">
                    <a:solidFill>
                      <a:srgbClr val="FAFBFC"/>
                    </a:solidFill>
                  </a:tcPr>
                </a:tc>
                <a:tc>
                  <a:txBody>
                    <a:bodyPr wrap="square"/>
                    <a:lstStyle/>
                    <a:p>
                      <a:pPr algn="r"/>
                      <a:r>
                        <a:rPr sz="1000" b="0">
                          <a:solidFill>
                            <a:srgbClr val="14202E"/>
                          </a:solidFill>
                          <a:latin typeface="Calibri"/>
                        </a:rPr>
                        <a:t>0 · 3 · 2</a:t>
                      </a:r>
                    </a:p>
                  </a:txBody>
                  <a:tcPr marL="54864" marR="54864" marT="22860" marB="22860" anchor="ctr">
                    <a:solidFill>
                      <a:srgbClr val="FAFBFC"/>
                    </a:solidFill>
                  </a:tcPr>
                </a:tc>
                <a:tc>
                  <a:txBody>
                    <a:bodyPr wrap="square"/>
                    <a:lstStyle/>
                    <a:p>
                      <a:r>
                        <a:rPr sz="1000" b="1">
                          <a:solidFill>
                            <a:srgbClr val="A24A07"/>
                          </a:solidFill>
                          <a:latin typeface="Calibri"/>
                        </a:rPr>
                        <a:t>Laguna ES</a:t>
                      </a:r>
                    </a:p>
                  </a:txBody>
                  <a:tcPr marL="54864" marR="54864" marT="22860" marB="22860" anchor="ctr">
                    <a:solidFill>
                      <a:srgbClr val="FAFBFC"/>
                    </a:solidFill>
                  </a:tcPr>
                </a:tc>
              </a:tr>
            </a:tbl>
          </a:graphicData>
        </a:graphic>
      </p:graphicFrame>
      <p:sp>
        <p:nvSpPr>
          <p:cNvPr id="9" name="TextBox 8"/>
          <p:cNvSpPr txBox="1"/>
          <p:nvPr/>
        </p:nvSpPr>
        <p:spPr>
          <a:xfrm>
            <a:off x="548640" y="6144768"/>
            <a:ext cx="1106424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Laguna: un idioma con 8 o más solicitudes del subtema y 0 o 1 artículo en ese idioma. EN: solo se conoce el tema de 33 de 376 solicitudes.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Recomendaciones</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21</a:t>
            </a:r>
          </a:p>
        </p:txBody>
      </p:sp>
      <p:sp>
        <p:nvSpPr>
          <p:cNvPr id="7" name="Rounded Rectangle 6"/>
          <p:cNvSpPr/>
          <p:nvPr/>
        </p:nvSpPr>
        <p:spPr>
          <a:xfrm>
            <a:off x="548640" y="1508760"/>
            <a:ext cx="11064240" cy="621792"/>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27048"/>
            <a:ext cx="3566160" cy="585216"/>
          </a:xfrm>
          <a:prstGeom prst="rect">
            <a:avLst/>
          </a:prstGeom>
          <a:noFill/>
        </p:spPr>
        <p:txBody>
          <a:bodyPr wrap="square" lIns="45720" rIns="45720" tIns="27432" bIns="27432" anchor="ctr">
            <a:spAutoFit/>
          </a:bodyPr>
          <a:lstStyle/>
          <a:p>
            <a:pPr>
              <a:spcAft>
                <a:spcPts val="400"/>
              </a:spcAft>
            </a:pPr>
            <a:r>
              <a:rPr sz="1200" b="1">
                <a:solidFill>
                  <a:srgbClr val="0B5C7A"/>
                </a:solidFill>
                <a:latin typeface="Calibri"/>
              </a:rPr>
              <a:t>Sustituir el desplegable por objetivos con selección múltiple</a:t>
            </a:r>
          </a:p>
        </p:txBody>
      </p:sp>
      <p:sp>
        <p:nvSpPr>
          <p:cNvPr id="9" name="TextBox 8"/>
          <p:cNvSpPr txBox="1"/>
          <p:nvPr/>
        </p:nvSpPr>
        <p:spPr>
          <a:xfrm>
            <a:off x="4297680" y="1527048"/>
            <a:ext cx="7223760" cy="585216"/>
          </a:xfrm>
          <a:prstGeom prst="rect">
            <a:avLst/>
          </a:prstGeom>
          <a:noFill/>
        </p:spPr>
        <p:txBody>
          <a:bodyPr wrap="square" lIns="45720" rIns="45720" tIns="27432" bIns="27432" anchor="ctr">
            <a:spAutoFit/>
          </a:bodyPr>
          <a:lstStyle/>
          <a:p>
            <a:pPr>
              <a:spcAft>
                <a:spcPts val="400"/>
              </a:spcAft>
            </a:pPr>
            <a:r>
              <a:rPr sz="1050" b="0">
                <a:solidFill>
                  <a:srgbClr val="14202E"/>
                </a:solidFill>
                <a:latin typeface="Calibri"/>
              </a:rPr>
              <a:t>Nueve tarjetas (ver Formulario), con etiquetas ocultas de área, hoja y subtema. Resuelve el 36 % de solicitudes mixtas y el «Otro(s)».</a:t>
            </a:r>
          </a:p>
        </p:txBody>
      </p:sp>
      <p:sp>
        <p:nvSpPr>
          <p:cNvPr id="10" name="Rounded Rectangle 9"/>
          <p:cNvSpPr/>
          <p:nvPr/>
        </p:nvSpPr>
        <p:spPr>
          <a:xfrm>
            <a:off x="548640" y="2203704"/>
            <a:ext cx="11064240" cy="621792"/>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221992"/>
            <a:ext cx="3566160" cy="585216"/>
          </a:xfrm>
          <a:prstGeom prst="rect">
            <a:avLst/>
          </a:prstGeom>
          <a:noFill/>
        </p:spPr>
        <p:txBody>
          <a:bodyPr wrap="square" lIns="45720" rIns="45720" tIns="27432" bIns="27432" anchor="ctr">
            <a:spAutoFit/>
          </a:bodyPr>
          <a:lstStyle/>
          <a:p>
            <a:pPr>
              <a:spcAft>
                <a:spcPts val="400"/>
              </a:spcAft>
            </a:pPr>
            <a:r>
              <a:rPr sz="1200" b="1">
                <a:solidFill>
                  <a:srgbClr val="0B5C7A"/>
                </a:solidFill>
                <a:latin typeface="Calibri"/>
              </a:rPr>
              <a:t>Crear las hojas que faltan y dividir Extranjería</a:t>
            </a:r>
          </a:p>
        </p:txBody>
      </p:sp>
      <p:sp>
        <p:nvSpPr>
          <p:cNvPr id="12" name="TextBox 11"/>
          <p:cNvSpPr txBox="1"/>
          <p:nvPr/>
        </p:nvSpPr>
        <p:spPr>
          <a:xfrm>
            <a:off x="4297680" y="2221992"/>
            <a:ext cx="7223760" cy="585216"/>
          </a:xfrm>
          <a:prstGeom prst="rect">
            <a:avLst/>
          </a:prstGeom>
          <a:noFill/>
        </p:spPr>
        <p:txBody>
          <a:bodyPr wrap="square" lIns="45720" rIns="45720" tIns="27432" bIns="27432" anchor="ctr">
            <a:spAutoFit/>
          </a:bodyPr>
          <a:lstStyle/>
          <a:p>
            <a:pPr>
              <a:spcAft>
                <a:spcPts val="400"/>
              </a:spcAft>
            </a:pPr>
            <a:r>
              <a:rPr sz="1050" b="0">
                <a:solidFill>
                  <a:srgbClr val="14202E"/>
                </a:solidFill>
                <a:latin typeface="Calibri"/>
              </a:rPr>
              <a:t>Herencias y testamentos, y Familia (propuesta). Dividir EXT-4 en cinco rutas. Subir «Alta de autónomo» a ruta propia dentro de Empresa.</a:t>
            </a:r>
          </a:p>
        </p:txBody>
      </p:sp>
      <p:sp>
        <p:nvSpPr>
          <p:cNvPr id="13" name="Rounded Rectangle 12"/>
          <p:cNvSpPr/>
          <p:nvPr/>
        </p:nvSpPr>
        <p:spPr>
          <a:xfrm>
            <a:off x="548640" y="2898648"/>
            <a:ext cx="11064240" cy="621792"/>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916936"/>
            <a:ext cx="3566160" cy="585216"/>
          </a:xfrm>
          <a:prstGeom prst="rect">
            <a:avLst/>
          </a:prstGeom>
          <a:noFill/>
        </p:spPr>
        <p:txBody>
          <a:bodyPr wrap="square" lIns="45720" rIns="45720" tIns="27432" bIns="27432" anchor="ctr">
            <a:spAutoFit/>
          </a:bodyPr>
          <a:lstStyle/>
          <a:p>
            <a:pPr>
              <a:spcAft>
                <a:spcPts val="400"/>
              </a:spcAft>
            </a:pPr>
            <a:r>
              <a:rPr sz="1200" b="1">
                <a:solidFill>
                  <a:srgbClr val="0B5C7A"/>
                </a:solidFill>
                <a:latin typeface="Calibri"/>
              </a:rPr>
              <a:t>Recoger país de residencia y nacionalidad en campos propios</a:t>
            </a:r>
          </a:p>
        </p:txBody>
      </p:sp>
      <p:sp>
        <p:nvSpPr>
          <p:cNvPr id="15" name="TextBox 14"/>
          <p:cNvSpPr txBox="1"/>
          <p:nvPr/>
        </p:nvSpPr>
        <p:spPr>
          <a:xfrm>
            <a:off x="4297680" y="2916936"/>
            <a:ext cx="7223760" cy="585216"/>
          </a:xfrm>
          <a:prstGeom prst="rect">
            <a:avLst/>
          </a:prstGeom>
          <a:noFill/>
        </p:spPr>
        <p:txBody>
          <a:bodyPr wrap="square" lIns="45720" rIns="45720" tIns="27432" bIns="27432" anchor="ctr">
            <a:spAutoFit/>
          </a:bodyPr>
          <a:lstStyle/>
          <a:p>
            <a:pPr>
              <a:spcAft>
                <a:spcPts val="400"/>
              </a:spcAft>
            </a:pPr>
            <a:r>
              <a:rPr sz="1050" b="0">
                <a:solidFill>
                  <a:srgbClr val="14202E"/>
                </a:solidFill>
                <a:latin typeface="Calibri"/>
              </a:rPr>
              <a:t>Hoy hay que deducirlos; solo el 25 % de los mensajes analizados declara la nacionalidad.</a:t>
            </a:r>
          </a:p>
        </p:txBody>
      </p:sp>
      <p:sp>
        <p:nvSpPr>
          <p:cNvPr id="16" name="Rounded Rectangle 15"/>
          <p:cNvSpPr/>
          <p:nvPr/>
        </p:nvSpPr>
        <p:spPr>
          <a:xfrm>
            <a:off x="548640" y="3593592"/>
            <a:ext cx="11064240" cy="621792"/>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611880"/>
            <a:ext cx="3566160" cy="585216"/>
          </a:xfrm>
          <a:prstGeom prst="rect">
            <a:avLst/>
          </a:prstGeom>
          <a:noFill/>
        </p:spPr>
        <p:txBody>
          <a:bodyPr wrap="square" lIns="45720" rIns="45720" tIns="27432" bIns="27432" anchor="ctr">
            <a:spAutoFit/>
          </a:bodyPr>
          <a:lstStyle/>
          <a:p>
            <a:pPr>
              <a:spcAft>
                <a:spcPts val="400"/>
              </a:spcAft>
            </a:pPr>
            <a:r>
              <a:rPr sz="1200" b="1">
                <a:solidFill>
                  <a:srgbClr val="0B5C7A"/>
                </a:solidFill>
                <a:latin typeface="Calibri"/>
              </a:rPr>
              <a:t>Precargar las preguntas de cada ruta y la fecha límite</a:t>
            </a:r>
          </a:p>
        </p:txBody>
      </p:sp>
      <p:sp>
        <p:nvSpPr>
          <p:cNvPr id="18" name="TextBox 17"/>
          <p:cNvSpPr txBox="1"/>
          <p:nvPr/>
        </p:nvSpPr>
        <p:spPr>
          <a:xfrm>
            <a:off x="4297680" y="3611880"/>
            <a:ext cx="7223760" cy="585216"/>
          </a:xfrm>
          <a:prstGeom prst="rect">
            <a:avLst/>
          </a:prstGeom>
          <a:noFill/>
        </p:spPr>
        <p:txBody>
          <a:bodyPr wrap="square" lIns="45720" rIns="45720" tIns="27432" bIns="27432" anchor="ctr">
            <a:spAutoFit/>
          </a:bodyPr>
          <a:lstStyle/>
          <a:p>
            <a:pPr>
              <a:spcAft>
                <a:spcPts val="400"/>
              </a:spcAft>
            </a:pPr>
            <a:r>
              <a:rPr sz="1050" b="0">
                <a:solidFill>
                  <a:srgbClr val="14202E"/>
                </a:solidFill>
                <a:latin typeface="Calibri"/>
              </a:rPr>
              <a:t>Un solo formulario multilingüe en lugar de nueve, con las preguntas de la sección anterior, validadas por Félix y Sonia.</a:t>
            </a:r>
          </a:p>
        </p:txBody>
      </p:sp>
      <p:sp>
        <p:nvSpPr>
          <p:cNvPr id="19" name="Rounded Rectangle 18"/>
          <p:cNvSpPr/>
          <p:nvPr/>
        </p:nvSpPr>
        <p:spPr>
          <a:xfrm>
            <a:off x="548640" y="4288536"/>
            <a:ext cx="11064240" cy="621792"/>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306823"/>
            <a:ext cx="3566160" cy="585216"/>
          </a:xfrm>
          <a:prstGeom prst="rect">
            <a:avLst/>
          </a:prstGeom>
          <a:noFill/>
        </p:spPr>
        <p:txBody>
          <a:bodyPr wrap="square" lIns="45720" rIns="45720" tIns="27432" bIns="27432" anchor="ctr">
            <a:spAutoFit/>
          </a:bodyPr>
          <a:lstStyle/>
          <a:p>
            <a:pPr>
              <a:spcAft>
                <a:spcPts val="400"/>
              </a:spcAft>
            </a:pPr>
            <a:r>
              <a:rPr sz="1200" b="1">
                <a:solidFill>
                  <a:srgbClr val="0B5C7A"/>
                </a:solidFill>
                <a:latin typeface="Calibri"/>
              </a:rPr>
              <a:t>Añadir el desvío a información</a:t>
            </a:r>
          </a:p>
        </p:txBody>
      </p:sp>
      <p:sp>
        <p:nvSpPr>
          <p:cNvPr id="21" name="TextBox 20"/>
          <p:cNvSpPr txBox="1"/>
          <p:nvPr/>
        </p:nvSpPr>
        <p:spPr>
          <a:xfrm>
            <a:off x="4297680" y="4306823"/>
            <a:ext cx="7223760" cy="585216"/>
          </a:xfrm>
          <a:prstGeom prst="rect">
            <a:avLst/>
          </a:prstGeom>
          <a:noFill/>
        </p:spPr>
        <p:txBody>
          <a:bodyPr wrap="square" lIns="45720" rIns="45720" tIns="27432" bIns="27432" anchor="ctr">
            <a:spAutoFit/>
          </a:bodyPr>
          <a:lstStyle/>
          <a:p>
            <a:pPr>
              <a:spcAft>
                <a:spcPts val="400"/>
              </a:spcAft>
            </a:pPr>
            <a:r>
              <a:rPr sz="1050" b="0">
                <a:solidFill>
                  <a:srgbClr val="14202E"/>
                </a:solidFill>
                <a:latin typeface="Calibri"/>
              </a:rPr>
              <a:t>Si la persona marca «solo información», mostrar guías antes de pedir contacto. Medir clics y envíos.</a:t>
            </a:r>
          </a:p>
        </p:txBody>
      </p:sp>
      <p:sp>
        <p:nvSpPr>
          <p:cNvPr id="22" name="Rounded Rectangle 21"/>
          <p:cNvSpPr/>
          <p:nvPr/>
        </p:nvSpPr>
        <p:spPr>
          <a:xfrm>
            <a:off x="548640" y="4983479"/>
            <a:ext cx="11064240" cy="621792"/>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001767"/>
            <a:ext cx="3566160" cy="585216"/>
          </a:xfrm>
          <a:prstGeom prst="rect">
            <a:avLst/>
          </a:prstGeom>
          <a:noFill/>
        </p:spPr>
        <p:txBody>
          <a:bodyPr wrap="square" lIns="45720" rIns="45720" tIns="27432" bIns="27432" anchor="ctr">
            <a:spAutoFit/>
          </a:bodyPr>
          <a:lstStyle/>
          <a:p>
            <a:pPr>
              <a:spcAft>
                <a:spcPts val="400"/>
              </a:spcAft>
            </a:pPr>
            <a:r>
              <a:rPr sz="1200" b="1">
                <a:solidFill>
                  <a:srgbClr val="0B5C7A"/>
                </a:solidFill>
                <a:latin typeface="Calibri"/>
              </a:rPr>
              <a:t>Cubrir las lagunas del blog en el idioma que más lo pide</a:t>
            </a:r>
          </a:p>
        </p:txBody>
      </p:sp>
      <p:sp>
        <p:nvSpPr>
          <p:cNvPr id="24" name="TextBox 23"/>
          <p:cNvSpPr txBox="1"/>
          <p:nvPr/>
        </p:nvSpPr>
        <p:spPr>
          <a:xfrm>
            <a:off x="4297680" y="5001767"/>
            <a:ext cx="7223760" cy="585216"/>
          </a:xfrm>
          <a:prstGeom prst="rect">
            <a:avLst/>
          </a:prstGeom>
          <a:noFill/>
        </p:spPr>
        <p:txBody>
          <a:bodyPr wrap="square" lIns="45720" rIns="45720" tIns="27432" bIns="27432" anchor="ctr">
            <a:spAutoFit/>
          </a:bodyPr>
          <a:lstStyle/>
          <a:p>
            <a:pPr>
              <a:spcAft>
                <a:spcPts val="400"/>
              </a:spcAft>
            </a:pPr>
            <a:r>
              <a:rPr sz="1050" b="0">
                <a:solidFill>
                  <a:srgbClr val="14202E"/>
                </a:solidFill>
                <a:latin typeface="Calibri"/>
              </a:rPr>
              <a:t>Empezar por las filas marcadas en la tabla de Blog (por ejemplo compra de inmueble en español, nacionalidad y estancia irregular en francés).</a:t>
            </a:r>
          </a:p>
        </p:txBody>
      </p:sp>
      <p:sp>
        <p:nvSpPr>
          <p:cNvPr id="25" name="Rounded Rectangle 24"/>
          <p:cNvSpPr/>
          <p:nvPr/>
        </p:nvSpPr>
        <p:spPr>
          <a:xfrm>
            <a:off x="548640" y="5678424"/>
            <a:ext cx="11064240" cy="621792"/>
          </a:xfrm>
          <a:prstGeom prst="roundRect">
            <a:avLst>
              <a:gd name="adj" fmla="val 4000"/>
            </a:avLst>
          </a:prstGeom>
          <a:solidFill>
            <a:srgbClr val="FFFFFF"/>
          </a:solidFill>
          <a:ln w="9525">
            <a:solidFill>
              <a:srgbClr val="D7DE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696712"/>
            <a:ext cx="3566160" cy="585216"/>
          </a:xfrm>
          <a:prstGeom prst="rect">
            <a:avLst/>
          </a:prstGeom>
          <a:noFill/>
        </p:spPr>
        <p:txBody>
          <a:bodyPr wrap="square" lIns="45720" rIns="45720" tIns="27432" bIns="27432" anchor="ctr">
            <a:spAutoFit/>
          </a:bodyPr>
          <a:lstStyle/>
          <a:p>
            <a:pPr>
              <a:spcAft>
                <a:spcPts val="400"/>
              </a:spcAft>
            </a:pPr>
            <a:r>
              <a:rPr sz="1200" b="1">
                <a:solidFill>
                  <a:srgbClr val="0B5C7A"/>
                </a:solidFill>
                <a:latin typeface="Calibri"/>
              </a:rPr>
              <a:t>Completar el análisis de texto</a:t>
            </a:r>
          </a:p>
        </p:txBody>
      </p:sp>
      <p:sp>
        <p:nvSpPr>
          <p:cNvPr id="27" name="TextBox 26"/>
          <p:cNvSpPr txBox="1"/>
          <p:nvPr/>
        </p:nvSpPr>
        <p:spPr>
          <a:xfrm>
            <a:off x="4297680" y="5696712"/>
            <a:ext cx="7223760" cy="585216"/>
          </a:xfrm>
          <a:prstGeom prst="rect">
            <a:avLst/>
          </a:prstGeom>
          <a:noFill/>
        </p:spPr>
        <p:txBody>
          <a:bodyPr wrap="square" lIns="45720" rIns="45720" tIns="27432" bIns="27432" anchor="ctr">
            <a:spAutoFit/>
          </a:bodyPr>
          <a:lstStyle/>
          <a:p>
            <a:pPr>
              <a:spcAft>
                <a:spcPts val="400"/>
              </a:spcAft>
            </a:pPr>
            <a:r>
              <a:rPr sz="1050" b="0">
                <a:solidFill>
                  <a:srgbClr val="14202E"/>
                </a:solidFill>
                <a:latin typeface="Calibri"/>
              </a:rPr>
              <a:t>Faltan los mensajes del formulario EN general, RU e inmigración FR. El entorno bloqueó su lectura por contener datos personales; hace falta una autorización explícita de Mike para leerlos con las mismas reglas de anonimización.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lIns="45720" rIns="45720" tIns="27432" bIns="27432">
            <a:spAutoFit/>
          </a:bodyPr>
          <a:lstStyle/>
          <a:p>
            <a:pPr>
              <a:spcAft>
                <a:spcPts val="400"/>
              </a:spcAft>
            </a:pPr>
            <a:r>
              <a:rPr sz="1000" b="1">
                <a:solidFill>
                  <a:srgbClr val="556575"/>
                </a:solidFill>
                <a:latin typeface="Calibri"/>
              </a:rPr>
              <a:t>DELAGUÍA Y LUZÓN · ANÁLISIS DE FORMULARIOS WEB</a:t>
            </a:r>
          </a:p>
        </p:txBody>
      </p:sp>
      <p:sp>
        <p:nvSpPr>
          <p:cNvPr id="3" name="TextBox 2"/>
          <p:cNvSpPr txBox="1"/>
          <p:nvPr/>
        </p:nvSpPr>
        <p:spPr>
          <a:xfrm>
            <a:off x="502920" y="502920"/>
            <a:ext cx="11155680" cy="822960"/>
          </a:xfrm>
          <a:prstGeom prst="rect">
            <a:avLst/>
          </a:prstGeom>
          <a:noFill/>
        </p:spPr>
        <p:txBody>
          <a:bodyPr wrap="square" lIns="45720" rIns="45720" tIns="27432" bIns="27432">
            <a:spAutoFit/>
          </a:bodyPr>
          <a:lstStyle/>
          <a:p>
            <a:pPr>
              <a:spcAft>
                <a:spcPts val="400"/>
              </a:spcAft>
            </a:pPr>
            <a:r>
              <a:rPr sz="2600" b="1">
                <a:solidFill>
                  <a:srgbClr val="14202E"/>
                </a:solidFill>
                <a:latin typeface="Georgia"/>
              </a:rPr>
              <a:t>Método y límites</a:t>
            </a:r>
          </a:p>
        </p:txBody>
      </p:sp>
      <p:sp>
        <p:nvSpPr>
          <p:cNvPr id="4" name="Rectangle 3"/>
          <p:cNvSpPr/>
          <p:nvPr/>
        </p:nvSpPr>
        <p:spPr>
          <a:xfrm>
            <a:off x="548640" y="1298448"/>
            <a:ext cx="822960" cy="45720"/>
          </a:xfrm>
          <a:prstGeom prst="rect">
            <a:avLst/>
          </a:prstGeom>
          <a:solidFill>
            <a:srgbClr val="0B5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7315200" cy="274320"/>
          </a:xfrm>
          <a:prstGeom prst="rect">
            <a:avLst/>
          </a:prstGeom>
          <a:noFill/>
        </p:spPr>
        <p:txBody>
          <a:bodyPr wrap="square" lIns="45720" rIns="45720" tIns="27432" bIns="27432">
            <a:spAutoFit/>
          </a:bodyPr>
          <a:lstStyle/>
          <a:p>
            <a:pPr>
              <a:spcAft>
                <a:spcPts val="400"/>
              </a:spcAft>
            </a:pPr>
            <a:r>
              <a:rPr sz="900" b="0">
                <a:solidFill>
                  <a:srgbClr val="556575"/>
                </a:solidFill>
                <a:latin typeface="Calibri"/>
              </a:rPr>
              <a:t>Delaguía y Luzón · Mapa de solicitudes</a:t>
            </a:r>
          </a:p>
        </p:txBody>
      </p:sp>
      <p:sp>
        <p:nvSpPr>
          <p:cNvPr id="6" name="TextBox 5"/>
          <p:cNvSpPr txBox="1"/>
          <p:nvPr/>
        </p:nvSpPr>
        <p:spPr>
          <a:xfrm>
            <a:off x="10972800" y="6473952"/>
            <a:ext cx="731520" cy="274320"/>
          </a:xfrm>
          <a:prstGeom prst="rect">
            <a:avLst/>
          </a:prstGeom>
          <a:noFill/>
        </p:spPr>
        <p:txBody>
          <a:bodyPr wrap="square" lIns="45720" rIns="45720" tIns="27432" bIns="27432">
            <a:spAutoFit/>
          </a:bodyPr>
          <a:lstStyle/>
          <a:p>
            <a:pPr algn="r">
              <a:spcAft>
                <a:spcPts val="400"/>
              </a:spcAft>
            </a:pPr>
            <a:r>
              <a:rPr sz="900" b="0">
                <a:solidFill>
                  <a:srgbClr val="556575"/>
                </a:solidFill>
                <a:latin typeface="Calibri"/>
              </a:rPr>
              <a:t>22</a:t>
            </a:r>
          </a:p>
        </p:txBody>
      </p:sp>
      <p:sp>
        <p:nvSpPr>
          <p:cNvPr id="7" name="TextBox 6"/>
          <p:cNvSpPr txBox="1"/>
          <p:nvPr/>
        </p:nvSpPr>
        <p:spPr>
          <a:xfrm>
            <a:off x="548640" y="1508760"/>
            <a:ext cx="11064240" cy="3931920"/>
          </a:xfrm>
          <a:prstGeom prst="rect">
            <a:avLst/>
          </a:prstGeom>
          <a:noFill/>
        </p:spPr>
        <p:txBody>
          <a:bodyPr wrap="square" lIns="45720" rIns="45720" tIns="27432" bIns="27432">
            <a:spAutoFit/>
          </a:bodyPr>
          <a:lstStyle/>
          <a:p>
            <a:pPr>
              <a:spcAft>
                <a:spcPts val="800"/>
              </a:spcAft>
            </a:pPr>
            <a:r>
              <a:rPr sz="1300" b="0">
                <a:solidFill>
                  <a:srgbClr val="14202E"/>
                </a:solidFill>
                <a:latin typeface="Calibri"/>
              </a:rPr>
              <a:t>• Fuente: 9 formularios de Formidable Forms, 1169 entradas, lectura de solo lectura a través de AISA.</a:t>
            </a:r>
          </a:p>
          <a:p>
            <a:pPr>
              <a:spcAft>
                <a:spcPts val="800"/>
              </a:spcAft>
            </a:pPr>
            <a:r>
              <a:rPr sz="1300" b="0">
                <a:solidFill>
                  <a:srgbClr val="14202E"/>
                </a:solidFill>
                <a:latin typeface="Calibri"/>
              </a:rPr>
              <a:t>• Texto del mensaje analizado en 741 entradas (ES general 190, extranjería ES 54, FR general 464, inmigración EN 33, codificadas a mano). Las 428 restantes se analizaron solo con campos estructurados (desplegables, prefijo, página, recorrido): EN general 343, RU 65, inmigración FR 20.</a:t>
            </a:r>
          </a:p>
          <a:p>
            <a:pPr>
              <a:spcAft>
                <a:spcPts val="800"/>
              </a:spcAft>
            </a:pPr>
            <a:r>
              <a:rPr sz="1300" b="0">
                <a:solidFill>
                  <a:srgbClr val="14202E"/>
                </a:solidFill>
                <a:latin typeface="Calibri"/>
              </a:rPr>
              <a:t>• Clasificación: reglas multilingües (ES, FR, EN) sobre asunto y mensaje, con 72 subtemas asignados a las 17 hojas de dlvibe y 3 propuestas. Se revisó a mano una muestra de 24 casos: el tema principal es razonable en la mayoría y las etiquetas secundarias tienen más ruido.</a:t>
            </a:r>
          </a:p>
          <a:p>
            <a:pPr>
              <a:spcAft>
                <a:spcPts val="800"/>
              </a:spcAft>
            </a:pPr>
            <a:r>
              <a:rPr sz="1300" b="0">
                <a:solidFill>
                  <a:srgbClr val="14202E"/>
                </a:solidFill>
                <a:latin typeface="Calibri"/>
              </a:rPr>
              <a:t>• País: prefijo telefónico, desplegable de ubicación o país de residencia dicho en el texto. Nacionalidad: solo si se declara. Ambos son estimaciones.</a:t>
            </a:r>
          </a:p>
          <a:p>
            <a:pPr>
              <a:spcAft>
                <a:spcPts val="800"/>
              </a:spcAft>
            </a:pPr>
            <a:r>
              <a:rPr sz="1300" b="0">
                <a:solidFill>
                  <a:srgbClr val="14202E"/>
                </a:solidFill>
                <a:latin typeface="Calibri"/>
              </a:rPr>
              <a:t>• Privacidad: los CSV no contienen nombres, correos, teléfonos ni texto de los mensajes, solo campos derivados y el identificador de la entrada para localizarla en Formidable.</a:t>
            </a:r>
          </a:p>
          <a:p>
            <a:pPr>
              <a:spcAft>
                <a:spcPts val="800"/>
              </a:spcAft>
            </a:pPr>
            <a:r>
              <a:rPr sz="1300" b="0">
                <a:solidFill>
                  <a:srgbClr val="14202E"/>
                </a:solidFill>
                <a:latin typeface="Calibri"/>
              </a:rPr>
              <a:t>• Periodo: del 21 de octubre de 2024 al 7 de octubre de 2026. El último trimestre de 2026 está incompleto.</a:t>
            </a:r>
          </a:p>
        </p:txBody>
      </p:sp>
      <p:sp>
        <p:nvSpPr>
          <p:cNvPr id="8" name="TextBox 7"/>
          <p:cNvSpPr txBox="1"/>
          <p:nvPr/>
        </p:nvSpPr>
        <p:spPr>
          <a:xfrm>
            <a:off x="548640" y="5486400"/>
            <a:ext cx="11064240" cy="822960"/>
          </a:xfrm>
          <a:prstGeom prst="rect">
            <a:avLst/>
          </a:prstGeom>
          <a:noFill/>
        </p:spPr>
        <p:txBody>
          <a:bodyPr wrap="square" lIns="45720" rIns="45720" tIns="27432" bIns="27432">
            <a:spAutoFit/>
          </a:bodyPr>
          <a:lstStyle/>
          <a:p>
            <a:pPr>
              <a:spcAft>
                <a:spcPts val="400"/>
              </a:spcAft>
            </a:pPr>
            <a:r>
              <a:rPr sz="1100" b="0">
                <a:solidFill>
                  <a:srgbClr val="556575"/>
                </a:solidFill>
                <a:latin typeface="Calibri"/>
              </a:rPr>
              <a:t>Archivos: data/leads/leads_es.csv, leads_en.csv, leads_fr.csv, leads_ru.csv, topic_article_map.csv, leads_stats.json</a:t>
            </a:r>
          </a:p>
          <a:p>
            <a:pPr>
              <a:spcAft>
                <a:spcPts val="400"/>
              </a:spcAft>
            </a:pPr>
            <a:r>
              <a:rPr sz="1000" b="0">
                <a:solidFill>
                  <a:srgbClr val="556575"/>
                </a:solidFill>
                <a:latin typeface="Calibri"/>
              </a:rPr>
              <a:t>Informe generado el 8 de octubre de 2026 con datos de los formularios del sitio.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